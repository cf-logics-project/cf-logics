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modernComment_1C2_DD55AC54.xml" ContentType="application/vnd.ms-powerpoint.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4"/>
  </p:notesMasterIdLst>
  <p:sldIdLst>
    <p:sldId id="298" r:id="rId5"/>
    <p:sldId id="388" r:id="rId6"/>
    <p:sldId id="389" r:id="rId7"/>
    <p:sldId id="378" r:id="rId8"/>
    <p:sldId id="430" r:id="rId9"/>
    <p:sldId id="432" r:id="rId10"/>
    <p:sldId id="431" r:id="rId11"/>
    <p:sldId id="433" r:id="rId12"/>
    <p:sldId id="434" r:id="rId13"/>
    <p:sldId id="435" r:id="rId14"/>
    <p:sldId id="436" r:id="rId15"/>
    <p:sldId id="323" r:id="rId16"/>
    <p:sldId id="352" r:id="rId17"/>
    <p:sldId id="429" r:id="rId18"/>
    <p:sldId id="399" r:id="rId19"/>
    <p:sldId id="452" r:id="rId20"/>
    <p:sldId id="438" r:id="rId21"/>
    <p:sldId id="439" r:id="rId22"/>
    <p:sldId id="440" r:id="rId23"/>
    <p:sldId id="441" r:id="rId24"/>
    <p:sldId id="442" r:id="rId25"/>
    <p:sldId id="443" r:id="rId26"/>
    <p:sldId id="393" r:id="rId27"/>
    <p:sldId id="395" r:id="rId28"/>
    <p:sldId id="437" r:id="rId29"/>
    <p:sldId id="444" r:id="rId30"/>
    <p:sldId id="445" r:id="rId31"/>
    <p:sldId id="400" r:id="rId32"/>
    <p:sldId id="447" r:id="rId33"/>
    <p:sldId id="406" r:id="rId34"/>
    <p:sldId id="454" r:id="rId35"/>
    <p:sldId id="448" r:id="rId36"/>
    <p:sldId id="450" r:id="rId37"/>
    <p:sldId id="449" r:id="rId38"/>
    <p:sldId id="419" r:id="rId39"/>
    <p:sldId id="422" r:id="rId40"/>
    <p:sldId id="423" r:id="rId41"/>
    <p:sldId id="425" r:id="rId42"/>
    <p:sldId id="424" r:id="rId43"/>
    <p:sldId id="426" r:id="rId44"/>
    <p:sldId id="427" r:id="rId45"/>
    <p:sldId id="369" r:id="rId46"/>
    <p:sldId id="343" r:id="rId47"/>
    <p:sldId id="358" r:id="rId48"/>
    <p:sldId id="319" r:id="rId49"/>
    <p:sldId id="428" r:id="rId50"/>
    <p:sldId id="353" r:id="rId51"/>
    <p:sldId id="354" r:id="rId52"/>
    <p:sldId id="360" r:id="rId53"/>
    <p:sldId id="339" r:id="rId54"/>
    <p:sldId id="325" r:id="rId55"/>
    <p:sldId id="351" r:id="rId56"/>
    <p:sldId id="455" r:id="rId57"/>
    <p:sldId id="334" r:id="rId58"/>
    <p:sldId id="392" r:id="rId59"/>
    <p:sldId id="331" r:id="rId60"/>
    <p:sldId id="338" r:id="rId61"/>
    <p:sldId id="416" r:id="rId62"/>
    <p:sldId id="380" r:id="rId63"/>
    <p:sldId id="421" r:id="rId64"/>
    <p:sldId id="383" r:id="rId65"/>
    <p:sldId id="451" r:id="rId66"/>
    <p:sldId id="385" r:id="rId67"/>
    <p:sldId id="410" r:id="rId68"/>
    <p:sldId id="411" r:id="rId69"/>
    <p:sldId id="412" r:id="rId70"/>
    <p:sldId id="413" r:id="rId71"/>
    <p:sldId id="456" r:id="rId72"/>
    <p:sldId id="458"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CBD7D772-17AE-AC4B-BBFE-463C72D05109}">
          <p14:sldIdLst>
            <p14:sldId id="298"/>
            <p14:sldId id="388"/>
            <p14:sldId id="389"/>
            <p14:sldId id="378"/>
            <p14:sldId id="430"/>
            <p14:sldId id="432"/>
            <p14:sldId id="431"/>
            <p14:sldId id="433"/>
            <p14:sldId id="434"/>
            <p14:sldId id="435"/>
            <p14:sldId id="436"/>
            <p14:sldId id="323"/>
            <p14:sldId id="352"/>
            <p14:sldId id="429"/>
            <p14:sldId id="399"/>
            <p14:sldId id="452"/>
            <p14:sldId id="438"/>
            <p14:sldId id="439"/>
            <p14:sldId id="440"/>
            <p14:sldId id="441"/>
            <p14:sldId id="442"/>
            <p14:sldId id="443"/>
            <p14:sldId id="393"/>
            <p14:sldId id="395"/>
            <p14:sldId id="437"/>
            <p14:sldId id="444"/>
            <p14:sldId id="445"/>
            <p14:sldId id="400"/>
            <p14:sldId id="447"/>
            <p14:sldId id="406"/>
            <p14:sldId id="454"/>
            <p14:sldId id="448"/>
            <p14:sldId id="450"/>
            <p14:sldId id="449"/>
            <p14:sldId id="419"/>
            <p14:sldId id="422"/>
            <p14:sldId id="423"/>
            <p14:sldId id="425"/>
            <p14:sldId id="424"/>
            <p14:sldId id="426"/>
            <p14:sldId id="427"/>
            <p14:sldId id="369"/>
            <p14:sldId id="343"/>
            <p14:sldId id="358"/>
          </p14:sldIdLst>
        </p14:section>
        <p14:section name="Case Details: CFs" id="{DE5B577A-6ACB-4D80-90E9-332DA0398305}">
          <p14:sldIdLst>
            <p14:sldId id="319"/>
            <p14:sldId id="428"/>
            <p14:sldId id="353"/>
            <p14:sldId id="354"/>
            <p14:sldId id="360"/>
            <p14:sldId id="339"/>
          </p14:sldIdLst>
        </p14:section>
        <p14:section name="Data" id="{2E56FB6C-B903-4B18-8C58-DFED7A56AAEF}">
          <p14:sldIdLst>
            <p14:sldId id="325"/>
          </p14:sldIdLst>
        </p14:section>
        <p14:section name="Tools" id="{6A2C5150-8BCA-493A-9ECC-F0CF624B36E2}">
          <p14:sldIdLst>
            <p14:sldId id="351"/>
            <p14:sldId id="455"/>
          </p14:sldIdLst>
        </p14:section>
        <p14:section name="Qualitative Approach" id="{2865ECB1-E148-4477-B023-910F9B0EEBD0}">
          <p14:sldIdLst>
            <p14:sldId id="334"/>
            <p14:sldId id="392"/>
            <p14:sldId id="331"/>
            <p14:sldId id="338"/>
          </p14:sldIdLst>
        </p14:section>
        <p14:section name="AI Details" id="{6C11BDA2-BB53-4341-84A1-72CDAC95A21F}">
          <p14:sldIdLst>
            <p14:sldId id="416"/>
            <p14:sldId id="380"/>
            <p14:sldId id="421"/>
            <p14:sldId id="383"/>
            <p14:sldId id="451"/>
            <p14:sldId id="385"/>
          </p14:sldIdLst>
        </p14:section>
        <p14:section name="Main Prompt" id="{4AFCE157-7B9F-44B2-B84B-FD87CCBD614C}">
          <p14:sldIdLst>
            <p14:sldId id="410"/>
            <p14:sldId id="411"/>
            <p14:sldId id="412"/>
            <p14:sldId id="413"/>
            <p14:sldId id="456"/>
            <p14:sldId id="45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DF2363-16A7-0F2F-5286-56E16B449E22}" name="Dressel, Christina" initials="DC" userId="S::dressel.39_buckeyemail.osu.edu#ext#@unigech.onmicrosoft.com::5ef1f212-21d8-4c48-8ae1-b1d4e3bf123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C5DE"/>
    <a:srgbClr val="F4A582"/>
    <a:srgbClr val="0571B0"/>
    <a:srgbClr val="CA0020"/>
    <a:srgbClr val="BA0C2F"/>
    <a:srgbClr val="3F4443"/>
    <a:srgbClr val="FFFFFF"/>
    <a:srgbClr val="202324"/>
    <a:srgbClr val="212325"/>
    <a:srgbClr val="6B6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B67D31-2334-0FB6-1FE3-C9F1F81D6BBB}" v="1" dt="2025-12-17T14:25:06.3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essel, Christina" userId="S::dressel.39_buckeyemail.osu.edu#ext#@unigech.onmicrosoft.com::5ef1f212-21d8-4c48-8ae1-b1d4e3bf1231" providerId="AD" clId="Web-{6EB67D31-2334-0FB6-1FE3-C9F1F81D6BBB}"/>
    <pc:docChg chg="modSld">
      <pc:chgData name="Dressel, Christina" userId="S::dressel.39_buckeyemail.osu.edu#ext#@unigech.onmicrosoft.com::5ef1f212-21d8-4c48-8ae1-b1d4e3bf1231" providerId="AD" clId="Web-{6EB67D31-2334-0FB6-1FE3-C9F1F81D6BBB}" dt="2025-12-17T14:25:06.311" v="0" actId="1076"/>
      <pc:docMkLst>
        <pc:docMk/>
      </pc:docMkLst>
      <pc:sldChg chg="modSp">
        <pc:chgData name="Dressel, Christina" userId="S::dressel.39_buckeyemail.osu.edu#ext#@unigech.onmicrosoft.com::5ef1f212-21d8-4c48-8ae1-b1d4e3bf1231" providerId="AD" clId="Web-{6EB67D31-2334-0FB6-1FE3-C9F1F81D6BBB}" dt="2025-12-17T14:25:06.311" v="0" actId="1076"/>
        <pc:sldMkLst>
          <pc:docMk/>
          <pc:sldMk cId="1312638759" sldId="437"/>
        </pc:sldMkLst>
        <pc:spChg chg="mod">
          <ac:chgData name="Dressel, Christina" userId="S::dressel.39_buckeyemail.osu.edu#ext#@unigech.onmicrosoft.com::5ef1f212-21d8-4c48-8ae1-b1d4e3bf1231" providerId="AD" clId="Web-{6EB67D31-2334-0FB6-1FE3-C9F1F81D6BBB}" dt="2025-12-17T14:25:06.311" v="0" actId="1076"/>
          <ac:spMkLst>
            <pc:docMk/>
            <pc:sldMk cId="1312638759" sldId="437"/>
            <ac:spMk id="16" creationId="{4A23AEBC-ACEE-9F43-EC96-4AD2FEDC60E0}"/>
          </ac:spMkLst>
        </pc:spChg>
      </pc:sldChg>
    </pc:docChg>
  </pc:docChgLst>
  <pc:docChgLst>
    <pc:chgData name="Dressel, Christina" userId="S::dressel.39_buckeyemail.osu.edu#ext#@unigech.onmicrosoft.com::5ef1f212-21d8-4c48-8ae1-b1d4e3bf1231" providerId="AD" clId="Web-{9245C5AD-C0FB-E603-B991-064EE5E72973}"/>
    <pc:docChg chg="mod">
      <pc:chgData name="Dressel, Christina" userId="S::dressel.39_buckeyemail.osu.edu#ext#@unigech.onmicrosoft.com::5ef1f212-21d8-4c48-8ae1-b1d4e3bf1231" providerId="AD" clId="Web-{9245C5AD-C0FB-E603-B991-064EE5E72973}" dt="2025-12-03T14:54:07.156" v="0"/>
      <pc:docMkLst>
        <pc:docMk/>
      </pc:docMkLst>
    </pc:docChg>
  </pc:docChgLst>
</pc:chgInfo>
</file>

<file path=ppt/comments/modernComment_1C2_DD55AC54.xml><?xml version="1.0" encoding="utf-8"?>
<p188:cmLst xmlns:a="http://schemas.openxmlformats.org/drawingml/2006/main" xmlns:r="http://schemas.openxmlformats.org/officeDocument/2006/relationships" xmlns:p188="http://schemas.microsoft.com/office/powerpoint/2018/8/main">
  <p188:cm id="{780AAAF7-A80D-4271-ACCB-5AA7EC15F2FB}" authorId="{8DDF2363-16A7-0F2F-5286-56E16B449E22}" created="2025-12-03T14:54:07.156">
    <pc:sldMkLst xmlns:pc="http://schemas.microsoft.com/office/powerpoint/2013/main/command">
      <pc:docMk/>
      <pc:sldMk cId="3713379412" sldId="450"/>
    </pc:sldMkLst>
    <p188:txBody>
      <a:bodyPr/>
      <a:lstStyle/>
      <a:p>
        <a:r>
          <a:rPr lang="en-US"/>
          <a:t>https://journals.sagepub.com/doi/full/10.1177/0899764020968153?casa_token=bU6QOIPxmHAAAAAA%3A-cRxKxwJ17SOdcmGAN0CxMx9a8LE_H-bIq2DGyppQjgKeNxKmK4ie14lg0TLlFfoUCnHLFs9vnEqVA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548DD-AF31-45BA-A26D-7AC4939564ED}"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B58C05-38F5-46EB-BECD-5394A7777BCD}" type="slidenum">
              <a:rPr lang="en-US" smtClean="0"/>
              <a:t>‹#›</a:t>
            </a:fld>
            <a:endParaRPr lang="en-US"/>
          </a:p>
        </p:txBody>
      </p:sp>
    </p:spTree>
    <p:extLst>
      <p:ext uri="{BB962C8B-B14F-4D97-AF65-F5344CB8AC3E}">
        <p14:creationId xmlns:p14="http://schemas.microsoft.com/office/powerpoint/2010/main" val="38308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https://scikit-learn.org/stable/modules/generated/sklearn.metrics.multilabel_confusion_matrix.html</a:t>
            </a:r>
          </a:p>
          <a:p>
            <a:r>
              <a:rPr lang="en-US"/>
              <a:t>https://medium.com/data-science/how-to-implement-graph-rag-using-knowledge-graphs-and-vector-databases-60bb69a22759</a:t>
            </a:r>
          </a:p>
        </p:txBody>
      </p:sp>
      <p:sp>
        <p:nvSpPr>
          <p:cNvPr id="4" name="Slide Number Placeholder 3"/>
          <p:cNvSpPr>
            <a:spLocks noGrp="1"/>
          </p:cNvSpPr>
          <p:nvPr>
            <p:ph type="sldNum" sz="quarter" idx="5"/>
          </p:nvPr>
        </p:nvSpPr>
        <p:spPr/>
        <p:txBody>
          <a:bodyPr/>
          <a:lstStyle/>
          <a:p>
            <a:fld id="{22B58C05-38F5-46EB-BECD-5394A7777BCD}" type="slidenum">
              <a:rPr lang="en-US" smtClean="0"/>
              <a:t>1</a:t>
            </a:fld>
            <a:endParaRPr lang="en-US"/>
          </a:p>
        </p:txBody>
      </p:sp>
    </p:spTree>
    <p:extLst>
      <p:ext uri="{BB962C8B-B14F-4D97-AF65-F5344CB8AC3E}">
        <p14:creationId xmlns:p14="http://schemas.microsoft.com/office/powerpoint/2010/main" val="3521435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9F27-EEAA-820B-288E-AD502E44A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752CC-C584-AB40-7719-1B17EC001F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AA525-D26D-32E1-0A83-72A4C17C3C40}"/>
              </a:ext>
            </a:extLst>
          </p:cNvPr>
          <p:cNvSpPr>
            <a:spLocks noGrp="1"/>
          </p:cNvSpPr>
          <p:nvPr>
            <p:ph type="body" idx="1"/>
          </p:nvPr>
        </p:nvSpPr>
        <p:spPr/>
        <p:txBody>
          <a:bodyPr/>
          <a:lstStyle/>
          <a:p>
            <a:r>
              <a:rPr lang="en-US"/>
              <a:t>To give you the experience of what it is like to focus on a chunk of text and engage in interpretation, I want to start with a question….what kind of animal does this eye belong to?</a:t>
            </a:r>
          </a:p>
        </p:txBody>
      </p:sp>
      <p:sp>
        <p:nvSpPr>
          <p:cNvPr id="4" name="Slide Number Placeholder 3">
            <a:extLst>
              <a:ext uri="{FF2B5EF4-FFF2-40B4-BE49-F238E27FC236}">
                <a16:creationId xmlns:a16="http://schemas.microsoft.com/office/drawing/2014/main" id="{F781C1D0-0517-EBA9-B64C-D8434864DD84}"/>
              </a:ext>
            </a:extLst>
          </p:cNvPr>
          <p:cNvSpPr>
            <a:spLocks noGrp="1"/>
          </p:cNvSpPr>
          <p:nvPr>
            <p:ph type="sldNum" sz="quarter" idx="5"/>
          </p:nvPr>
        </p:nvSpPr>
        <p:spPr/>
        <p:txBody>
          <a:bodyPr/>
          <a:lstStyle/>
          <a:p>
            <a:fld id="{22B58C05-38F5-46EB-BECD-5394A7777BCD}" type="slidenum">
              <a:rPr lang="en-US" smtClean="0"/>
              <a:t>2</a:t>
            </a:fld>
            <a:endParaRPr lang="en-US"/>
          </a:p>
        </p:txBody>
      </p:sp>
    </p:spTree>
    <p:extLst>
      <p:ext uri="{BB962C8B-B14F-4D97-AF65-F5344CB8AC3E}">
        <p14:creationId xmlns:p14="http://schemas.microsoft.com/office/powerpoint/2010/main" val="1109244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FD41-A648-444B-A368-D246C51AC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D7D41-5F51-25D8-B90C-FD7D1316F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394D0-F108-D709-37BC-FF25D353D0FB}"/>
              </a:ext>
            </a:extLst>
          </p:cNvPr>
          <p:cNvSpPr>
            <a:spLocks noGrp="1"/>
          </p:cNvSpPr>
          <p:nvPr>
            <p:ph type="body" idx="1"/>
          </p:nvPr>
        </p:nvSpPr>
        <p:spPr/>
        <p:txBody>
          <a:bodyPr/>
          <a:lstStyle/>
          <a:p>
            <a:r>
              <a:rPr lang="en-US"/>
              <a:t>It can be difficult to reach consensus in qualitative coding. Oftentimes, the language we are coding requires more context and interpretation.</a:t>
            </a:r>
          </a:p>
        </p:txBody>
      </p:sp>
      <p:sp>
        <p:nvSpPr>
          <p:cNvPr id="4" name="Slide Number Placeholder 3">
            <a:extLst>
              <a:ext uri="{FF2B5EF4-FFF2-40B4-BE49-F238E27FC236}">
                <a16:creationId xmlns:a16="http://schemas.microsoft.com/office/drawing/2014/main" id="{52A77479-5039-24F2-5B17-702F36EF5A94}"/>
              </a:ext>
            </a:extLst>
          </p:cNvPr>
          <p:cNvSpPr>
            <a:spLocks noGrp="1"/>
          </p:cNvSpPr>
          <p:nvPr>
            <p:ph type="sldNum" sz="quarter" idx="5"/>
          </p:nvPr>
        </p:nvSpPr>
        <p:spPr/>
        <p:txBody>
          <a:bodyPr/>
          <a:lstStyle/>
          <a:p>
            <a:fld id="{22B58C05-38F5-46EB-BECD-5394A7777BCD}" type="slidenum">
              <a:rPr lang="en-US" smtClean="0"/>
              <a:t>3</a:t>
            </a:fld>
            <a:endParaRPr lang="en-US"/>
          </a:p>
        </p:txBody>
      </p:sp>
    </p:spTree>
    <p:extLst>
      <p:ext uri="{BB962C8B-B14F-4D97-AF65-F5344CB8AC3E}">
        <p14:creationId xmlns:p14="http://schemas.microsoft.com/office/powerpoint/2010/main" val="4153712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5535D-2E9F-FC05-FAAF-D80BE102F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EF5BE-86EE-DDB9-B66E-22A7C62EF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B6A62-170C-4EEA-000E-895A0E9134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p:txBody>
      </p:sp>
      <p:sp>
        <p:nvSpPr>
          <p:cNvPr id="4" name="Slide Number Placeholder 3">
            <a:extLst>
              <a:ext uri="{FF2B5EF4-FFF2-40B4-BE49-F238E27FC236}">
                <a16:creationId xmlns:a16="http://schemas.microsoft.com/office/drawing/2014/main" id="{F4FA2AD1-BA8F-6138-E55E-CF5BDC772A4D}"/>
              </a:ext>
            </a:extLst>
          </p:cNvPr>
          <p:cNvSpPr>
            <a:spLocks noGrp="1"/>
          </p:cNvSpPr>
          <p:nvPr>
            <p:ph type="sldNum" sz="quarter" idx="5"/>
          </p:nvPr>
        </p:nvSpPr>
        <p:spPr/>
        <p:txBody>
          <a:bodyPr/>
          <a:lstStyle/>
          <a:p>
            <a:fld id="{22B58C05-38F5-46EB-BECD-5394A7777BCD}" type="slidenum">
              <a:rPr lang="en-US" smtClean="0"/>
              <a:t>4</a:t>
            </a:fld>
            <a:endParaRPr lang="en-US"/>
          </a:p>
        </p:txBody>
      </p:sp>
    </p:spTree>
    <p:extLst>
      <p:ext uri="{BB962C8B-B14F-4D97-AF65-F5344CB8AC3E}">
        <p14:creationId xmlns:p14="http://schemas.microsoft.com/office/powerpoint/2010/main" val="3992014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0526-69EB-A876-2D9A-B4763E56C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9DA3F-41FB-8BB5-3682-0B46D189E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071CA2-637C-9D57-71F9-39D6CCC76D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p:txBody>
      </p:sp>
      <p:sp>
        <p:nvSpPr>
          <p:cNvPr id="4" name="Slide Number Placeholder 3">
            <a:extLst>
              <a:ext uri="{FF2B5EF4-FFF2-40B4-BE49-F238E27FC236}">
                <a16:creationId xmlns:a16="http://schemas.microsoft.com/office/drawing/2014/main" id="{7DF9B41F-7137-A0C2-85A6-2C3374B5E969}"/>
              </a:ext>
            </a:extLst>
          </p:cNvPr>
          <p:cNvSpPr>
            <a:spLocks noGrp="1"/>
          </p:cNvSpPr>
          <p:nvPr>
            <p:ph type="sldNum" sz="quarter" idx="5"/>
          </p:nvPr>
        </p:nvSpPr>
        <p:spPr/>
        <p:txBody>
          <a:bodyPr/>
          <a:lstStyle/>
          <a:p>
            <a:fld id="{22B58C05-38F5-46EB-BECD-5394A7777BCD}" type="slidenum">
              <a:rPr lang="en-US" smtClean="0"/>
              <a:t>5</a:t>
            </a:fld>
            <a:endParaRPr lang="en-US"/>
          </a:p>
        </p:txBody>
      </p:sp>
    </p:spTree>
    <p:extLst>
      <p:ext uri="{BB962C8B-B14F-4D97-AF65-F5344CB8AC3E}">
        <p14:creationId xmlns:p14="http://schemas.microsoft.com/office/powerpoint/2010/main" val="4084759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C199E-EAFA-6C2C-90A2-C0ADBF8C7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50AE3-3C1F-5C0E-AF63-C080CCFF6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609FD-693A-A4F8-3D70-0D81640709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p:txBody>
      </p:sp>
      <p:sp>
        <p:nvSpPr>
          <p:cNvPr id="4" name="Slide Number Placeholder 3">
            <a:extLst>
              <a:ext uri="{FF2B5EF4-FFF2-40B4-BE49-F238E27FC236}">
                <a16:creationId xmlns:a16="http://schemas.microsoft.com/office/drawing/2014/main" id="{AC27D2C3-7119-8CFD-102E-84AFC088753C}"/>
              </a:ext>
            </a:extLst>
          </p:cNvPr>
          <p:cNvSpPr>
            <a:spLocks noGrp="1"/>
          </p:cNvSpPr>
          <p:nvPr>
            <p:ph type="sldNum" sz="quarter" idx="5"/>
          </p:nvPr>
        </p:nvSpPr>
        <p:spPr/>
        <p:txBody>
          <a:bodyPr/>
          <a:lstStyle/>
          <a:p>
            <a:fld id="{22B58C05-38F5-46EB-BECD-5394A7777BCD}" type="slidenum">
              <a:rPr lang="en-US" smtClean="0"/>
              <a:t>6</a:t>
            </a:fld>
            <a:endParaRPr lang="en-US"/>
          </a:p>
        </p:txBody>
      </p:sp>
    </p:spTree>
    <p:extLst>
      <p:ext uri="{BB962C8B-B14F-4D97-AF65-F5344CB8AC3E}">
        <p14:creationId xmlns:p14="http://schemas.microsoft.com/office/powerpoint/2010/main" val="1243809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DD072-5DD9-4102-856C-02E26CE40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5750C-F19B-7A31-C780-0422111F3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0DA85-FE31-5635-EF83-DD809BE190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p:txBody>
      </p:sp>
      <p:sp>
        <p:nvSpPr>
          <p:cNvPr id="4" name="Slide Number Placeholder 3">
            <a:extLst>
              <a:ext uri="{FF2B5EF4-FFF2-40B4-BE49-F238E27FC236}">
                <a16:creationId xmlns:a16="http://schemas.microsoft.com/office/drawing/2014/main" id="{ACCC6A38-D029-B436-02AF-4B0DFFC624FB}"/>
              </a:ext>
            </a:extLst>
          </p:cNvPr>
          <p:cNvSpPr>
            <a:spLocks noGrp="1"/>
          </p:cNvSpPr>
          <p:nvPr>
            <p:ph type="sldNum" sz="quarter" idx="5"/>
          </p:nvPr>
        </p:nvSpPr>
        <p:spPr/>
        <p:txBody>
          <a:bodyPr/>
          <a:lstStyle/>
          <a:p>
            <a:fld id="{22B58C05-38F5-46EB-BECD-5394A7777BCD}" type="slidenum">
              <a:rPr lang="en-US" smtClean="0"/>
              <a:t>7</a:t>
            </a:fld>
            <a:endParaRPr lang="en-US"/>
          </a:p>
        </p:txBody>
      </p:sp>
    </p:spTree>
    <p:extLst>
      <p:ext uri="{BB962C8B-B14F-4D97-AF65-F5344CB8AC3E}">
        <p14:creationId xmlns:p14="http://schemas.microsoft.com/office/powerpoint/2010/main" val="1124170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CDF0-95B0-9C26-8182-AF802DC13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8D6B2-AC0E-7977-A3E7-3DF4DCCF2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06B9B-EEA3-3E71-5EF0-3BB9BDBEB2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p:txBody>
      </p:sp>
      <p:sp>
        <p:nvSpPr>
          <p:cNvPr id="4" name="Slide Number Placeholder 3">
            <a:extLst>
              <a:ext uri="{FF2B5EF4-FFF2-40B4-BE49-F238E27FC236}">
                <a16:creationId xmlns:a16="http://schemas.microsoft.com/office/drawing/2014/main" id="{2570F683-4E4F-F4BB-FC14-47CBD5A65345}"/>
              </a:ext>
            </a:extLst>
          </p:cNvPr>
          <p:cNvSpPr>
            <a:spLocks noGrp="1"/>
          </p:cNvSpPr>
          <p:nvPr>
            <p:ph type="sldNum" sz="quarter" idx="5"/>
          </p:nvPr>
        </p:nvSpPr>
        <p:spPr/>
        <p:txBody>
          <a:bodyPr/>
          <a:lstStyle/>
          <a:p>
            <a:fld id="{22B58C05-38F5-46EB-BECD-5394A7777BCD}" type="slidenum">
              <a:rPr lang="en-US" smtClean="0"/>
              <a:t>8</a:t>
            </a:fld>
            <a:endParaRPr lang="en-US"/>
          </a:p>
        </p:txBody>
      </p:sp>
    </p:spTree>
    <p:extLst>
      <p:ext uri="{BB962C8B-B14F-4D97-AF65-F5344CB8AC3E}">
        <p14:creationId xmlns:p14="http://schemas.microsoft.com/office/powerpoint/2010/main" val="4279501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D2FC-3D6D-A280-869F-621165C66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2C158-87C3-36B5-E9F4-5DBF9E660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B830D-67BE-39D0-80EB-7E26D095F6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p:txBody>
      </p:sp>
      <p:sp>
        <p:nvSpPr>
          <p:cNvPr id="4" name="Slide Number Placeholder 3">
            <a:extLst>
              <a:ext uri="{FF2B5EF4-FFF2-40B4-BE49-F238E27FC236}">
                <a16:creationId xmlns:a16="http://schemas.microsoft.com/office/drawing/2014/main" id="{F74682DB-F9A5-331D-1798-24EC054F3921}"/>
              </a:ext>
            </a:extLst>
          </p:cNvPr>
          <p:cNvSpPr>
            <a:spLocks noGrp="1"/>
          </p:cNvSpPr>
          <p:nvPr>
            <p:ph type="sldNum" sz="quarter" idx="5"/>
          </p:nvPr>
        </p:nvSpPr>
        <p:spPr/>
        <p:txBody>
          <a:bodyPr/>
          <a:lstStyle/>
          <a:p>
            <a:fld id="{22B58C05-38F5-46EB-BECD-5394A7777BCD}" type="slidenum">
              <a:rPr lang="en-US" smtClean="0"/>
              <a:t>9</a:t>
            </a:fld>
            <a:endParaRPr lang="en-US"/>
          </a:p>
        </p:txBody>
      </p:sp>
    </p:spTree>
    <p:extLst>
      <p:ext uri="{BB962C8B-B14F-4D97-AF65-F5344CB8AC3E}">
        <p14:creationId xmlns:p14="http://schemas.microsoft.com/office/powerpoint/2010/main" val="1871592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84F55-DB2D-5916-DD24-5D32FB1D4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30FAF-EDCB-A052-7E50-101273E60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14D50-8961-9F16-37F6-EB1FF57487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p:txBody>
      </p:sp>
      <p:sp>
        <p:nvSpPr>
          <p:cNvPr id="4" name="Slide Number Placeholder 3">
            <a:extLst>
              <a:ext uri="{FF2B5EF4-FFF2-40B4-BE49-F238E27FC236}">
                <a16:creationId xmlns:a16="http://schemas.microsoft.com/office/drawing/2014/main" id="{0264BF1E-8E05-3067-6146-AD506D4C43C4}"/>
              </a:ext>
            </a:extLst>
          </p:cNvPr>
          <p:cNvSpPr>
            <a:spLocks noGrp="1"/>
          </p:cNvSpPr>
          <p:nvPr>
            <p:ph type="sldNum" sz="quarter" idx="5"/>
          </p:nvPr>
        </p:nvSpPr>
        <p:spPr/>
        <p:txBody>
          <a:bodyPr/>
          <a:lstStyle/>
          <a:p>
            <a:fld id="{22B58C05-38F5-46EB-BECD-5394A7777BCD}" type="slidenum">
              <a:rPr lang="en-US" smtClean="0"/>
              <a:t>10</a:t>
            </a:fld>
            <a:endParaRPr lang="en-US"/>
          </a:p>
        </p:txBody>
      </p:sp>
    </p:spTree>
    <p:extLst>
      <p:ext uri="{BB962C8B-B14F-4D97-AF65-F5344CB8AC3E}">
        <p14:creationId xmlns:p14="http://schemas.microsoft.com/office/powerpoint/2010/main" val="536002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A9384-9242-7C58-AB9C-4C8FF89BC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8360A-75BA-0F04-EED0-A72062BA4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13BF2-3F05-909F-EE89-AF8FDDA021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goal today is to focus on methods. We look at institutional logics of community foundations as a case; I am happy to discuss this theory and context in the Q&amp;A but for our purposes today the focus is on classifying organizational language. First, GenAI is increasingly employed for a variety of tasks, and it is important to understand how we, as scholars, can appropriately use it in our research, so we look at the role of GenAI as a partner during the qualitative coding process. This is an increasingly prominent methodological interest in computer science. Second, our approach takes theory and qualitative traditions seriously. While methods such as topic modeling and text embeddings look for patterns in data retroactively to make meaning, we are leading with theory first. Third, methods addressing language can help us understand a variety of phenomena including organizational goals, how organizations demonstrate accountability, and where power resides in the organization. Fourth, methodologically, we grapple with a complex coding task – it is continuous, and it is possible for an excerpt of language to fall under more than one class. For example, when studying organizational goals, we don’t expect each goal to be perfectly distinct. Fifth, we find that not only does a GenAI approach allow us to scale our coding beyond small n, but it also helps us refine our codebook.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a:extLst>
              <a:ext uri="{FF2B5EF4-FFF2-40B4-BE49-F238E27FC236}">
                <a16:creationId xmlns:a16="http://schemas.microsoft.com/office/drawing/2014/main" id="{01B77DF7-E1CC-2B32-4285-6A4AEFC21B31}"/>
              </a:ext>
            </a:extLst>
          </p:cNvPr>
          <p:cNvSpPr>
            <a:spLocks noGrp="1"/>
          </p:cNvSpPr>
          <p:nvPr>
            <p:ph type="sldNum" sz="quarter" idx="5"/>
          </p:nvPr>
        </p:nvSpPr>
        <p:spPr/>
        <p:txBody>
          <a:bodyPr/>
          <a:lstStyle/>
          <a:p>
            <a:fld id="{22B58C05-38F5-46EB-BECD-5394A7777BCD}" type="slidenum">
              <a:rPr lang="en-US" smtClean="0"/>
              <a:t>11</a:t>
            </a:fld>
            <a:endParaRPr lang="en-US"/>
          </a:p>
        </p:txBody>
      </p:sp>
    </p:spTree>
    <p:extLst>
      <p:ext uri="{BB962C8B-B14F-4D97-AF65-F5344CB8AC3E}">
        <p14:creationId xmlns:p14="http://schemas.microsoft.com/office/powerpoint/2010/main" val="3534915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conducted historical and qualitative analyses that assisted in the construction and refinement of a codebook capturing the four logics of community foundations. I am not going to spend time talking about this context because it is in service of our broader methodological question. We are assuming there are these four logics. While they overlap, they are distinct enough that it is possible to discern between them. *slow down* to highlight the four logics. I want you to be familiar with the different names because I will use them throughout the presentation. </a:t>
            </a:r>
          </a:p>
        </p:txBody>
      </p:sp>
      <p:sp>
        <p:nvSpPr>
          <p:cNvPr id="4" name="Slide Number Placeholder 3"/>
          <p:cNvSpPr>
            <a:spLocks noGrp="1"/>
          </p:cNvSpPr>
          <p:nvPr>
            <p:ph type="sldNum" sz="quarter" idx="5"/>
          </p:nvPr>
        </p:nvSpPr>
        <p:spPr/>
        <p:txBody>
          <a:bodyPr/>
          <a:lstStyle/>
          <a:p>
            <a:fld id="{22B58C05-38F5-46EB-BECD-5394A7777BCD}" type="slidenum">
              <a:rPr lang="en-US" smtClean="0"/>
              <a:t>12</a:t>
            </a:fld>
            <a:endParaRPr lang="en-US"/>
          </a:p>
        </p:txBody>
      </p:sp>
    </p:spTree>
    <p:extLst>
      <p:ext uri="{BB962C8B-B14F-4D97-AF65-F5344CB8AC3E}">
        <p14:creationId xmlns:p14="http://schemas.microsoft.com/office/powerpoint/2010/main" val="2535982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conducted historical and qualitative analyses to create a theory-driven codebook.</a:t>
            </a:r>
          </a:p>
        </p:txBody>
      </p:sp>
      <p:sp>
        <p:nvSpPr>
          <p:cNvPr id="4" name="Slide Number Placeholder 3"/>
          <p:cNvSpPr>
            <a:spLocks noGrp="1"/>
          </p:cNvSpPr>
          <p:nvPr>
            <p:ph type="sldNum" sz="quarter" idx="5"/>
          </p:nvPr>
        </p:nvSpPr>
        <p:spPr/>
        <p:txBody>
          <a:bodyPr/>
          <a:lstStyle/>
          <a:p>
            <a:fld id="{22B58C05-38F5-46EB-BECD-5394A7777BCD}" type="slidenum">
              <a:rPr lang="en-US" smtClean="0"/>
              <a:t>13</a:t>
            </a:fld>
            <a:endParaRPr lang="en-US"/>
          </a:p>
        </p:txBody>
      </p:sp>
    </p:spTree>
    <p:extLst>
      <p:ext uri="{BB962C8B-B14F-4D97-AF65-F5344CB8AC3E}">
        <p14:creationId xmlns:p14="http://schemas.microsoft.com/office/powerpoint/2010/main" val="3518814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8527F-1353-3C48-5103-CBAD052D9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66A5F-1E5B-96ED-47BC-C59A0D5BB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F51B1-0DDB-A3DB-0473-CB440FF8AB7A}"/>
              </a:ext>
            </a:extLst>
          </p:cNvPr>
          <p:cNvSpPr>
            <a:spLocks noGrp="1"/>
          </p:cNvSpPr>
          <p:nvPr>
            <p:ph type="body" idx="1"/>
          </p:nvPr>
        </p:nvSpPr>
        <p:spPr/>
        <p:txBody>
          <a:bodyPr/>
          <a:lstStyle/>
          <a:p>
            <a:r>
              <a:rPr lang="en-US"/>
              <a:t>Here are the four CF logics. Again, they are distinct in many respects but have points of overlap. In addition, a single excerpt may reflect more than one logic.</a:t>
            </a:r>
          </a:p>
        </p:txBody>
      </p:sp>
      <p:sp>
        <p:nvSpPr>
          <p:cNvPr id="4" name="Slide Number Placeholder 3">
            <a:extLst>
              <a:ext uri="{FF2B5EF4-FFF2-40B4-BE49-F238E27FC236}">
                <a16:creationId xmlns:a16="http://schemas.microsoft.com/office/drawing/2014/main" id="{9F1685A5-7892-8188-F835-98EFAB62DFDC}"/>
              </a:ext>
            </a:extLst>
          </p:cNvPr>
          <p:cNvSpPr>
            <a:spLocks noGrp="1"/>
          </p:cNvSpPr>
          <p:nvPr>
            <p:ph type="sldNum" sz="quarter" idx="5"/>
          </p:nvPr>
        </p:nvSpPr>
        <p:spPr/>
        <p:txBody>
          <a:bodyPr/>
          <a:lstStyle/>
          <a:p>
            <a:fld id="{22B58C05-38F5-46EB-BECD-5394A7777BCD}" type="slidenum">
              <a:rPr lang="en-US" smtClean="0"/>
              <a:t>14</a:t>
            </a:fld>
            <a:endParaRPr lang="en-US"/>
          </a:p>
        </p:txBody>
      </p:sp>
    </p:spTree>
    <p:extLst>
      <p:ext uri="{BB962C8B-B14F-4D97-AF65-F5344CB8AC3E}">
        <p14:creationId xmlns:p14="http://schemas.microsoft.com/office/powerpoint/2010/main" val="3584038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would like your feedback! Please let us know what you find most interesting or helpful about our journey of using computational/AI approaches as a qualitative coding partner. We intend to frame our paper as a guide for other scholars interested in taking their qualitative coding to scale to analyze organizational language.</a:t>
            </a:r>
          </a:p>
        </p:txBody>
      </p:sp>
      <p:sp>
        <p:nvSpPr>
          <p:cNvPr id="4" name="Slide Number Placeholder 3"/>
          <p:cNvSpPr>
            <a:spLocks noGrp="1"/>
          </p:cNvSpPr>
          <p:nvPr>
            <p:ph type="sldNum" sz="quarter" idx="5"/>
          </p:nvPr>
        </p:nvSpPr>
        <p:spPr/>
        <p:txBody>
          <a:bodyPr/>
          <a:lstStyle/>
          <a:p>
            <a:fld id="{22B58C05-38F5-46EB-BECD-5394A7777BCD}" type="slidenum">
              <a:rPr lang="en-US" smtClean="0"/>
              <a:t>15</a:t>
            </a:fld>
            <a:endParaRPr lang="en-US"/>
          </a:p>
        </p:txBody>
      </p:sp>
    </p:spTree>
    <p:extLst>
      <p:ext uri="{BB962C8B-B14F-4D97-AF65-F5344CB8AC3E}">
        <p14:creationId xmlns:p14="http://schemas.microsoft.com/office/powerpoint/2010/main" val="2050401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B2DA4-5F88-1C0D-AE82-CFD2FD27B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DDDD4-57DA-2548-916B-3D1C85D45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F1DB5-F737-8F06-F0A2-CEE247277C1A}"/>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a:t>
            </a:r>
          </a:p>
        </p:txBody>
      </p:sp>
      <p:sp>
        <p:nvSpPr>
          <p:cNvPr id="4" name="Slide Number Placeholder 3">
            <a:extLst>
              <a:ext uri="{FF2B5EF4-FFF2-40B4-BE49-F238E27FC236}">
                <a16:creationId xmlns:a16="http://schemas.microsoft.com/office/drawing/2014/main" id="{0D249DF0-C1E3-B4FA-89C9-210D290A9243}"/>
              </a:ext>
            </a:extLst>
          </p:cNvPr>
          <p:cNvSpPr>
            <a:spLocks noGrp="1"/>
          </p:cNvSpPr>
          <p:nvPr>
            <p:ph type="sldNum" sz="quarter" idx="5"/>
          </p:nvPr>
        </p:nvSpPr>
        <p:spPr/>
        <p:txBody>
          <a:bodyPr/>
          <a:lstStyle/>
          <a:p>
            <a:fld id="{22B58C05-38F5-46EB-BECD-5394A7777BCD}" type="slidenum">
              <a:rPr lang="en-US" smtClean="0"/>
              <a:t>16</a:t>
            </a:fld>
            <a:endParaRPr lang="en-US"/>
          </a:p>
        </p:txBody>
      </p:sp>
    </p:spTree>
    <p:extLst>
      <p:ext uri="{BB962C8B-B14F-4D97-AF65-F5344CB8AC3E}">
        <p14:creationId xmlns:p14="http://schemas.microsoft.com/office/powerpoint/2010/main" val="3848042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24D3E-0BD1-F283-D40A-63B007FA3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F8BAD-F82E-AF25-EBC5-30AB22857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25701-0634-43AA-3F68-05E77FAFD6E5}"/>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a:t>
            </a:r>
          </a:p>
        </p:txBody>
      </p:sp>
      <p:sp>
        <p:nvSpPr>
          <p:cNvPr id="4" name="Slide Number Placeholder 3">
            <a:extLst>
              <a:ext uri="{FF2B5EF4-FFF2-40B4-BE49-F238E27FC236}">
                <a16:creationId xmlns:a16="http://schemas.microsoft.com/office/drawing/2014/main" id="{4880D7F9-A322-F76D-4E10-8805A2BF0C9D}"/>
              </a:ext>
            </a:extLst>
          </p:cNvPr>
          <p:cNvSpPr>
            <a:spLocks noGrp="1"/>
          </p:cNvSpPr>
          <p:nvPr>
            <p:ph type="sldNum" sz="quarter" idx="5"/>
          </p:nvPr>
        </p:nvSpPr>
        <p:spPr/>
        <p:txBody>
          <a:bodyPr/>
          <a:lstStyle/>
          <a:p>
            <a:fld id="{22B58C05-38F5-46EB-BECD-5394A7777BCD}" type="slidenum">
              <a:rPr lang="en-US" smtClean="0"/>
              <a:t>17</a:t>
            </a:fld>
            <a:endParaRPr lang="en-US"/>
          </a:p>
        </p:txBody>
      </p:sp>
    </p:spTree>
    <p:extLst>
      <p:ext uri="{BB962C8B-B14F-4D97-AF65-F5344CB8AC3E}">
        <p14:creationId xmlns:p14="http://schemas.microsoft.com/office/powerpoint/2010/main" val="2876345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99DC-6570-83F1-2B99-BFF091A35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FC732-97DD-0FB6-1CBD-237DB51456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1BB57-4F31-313F-14D2-ADDAF53EAE49}"/>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a:t>
            </a:r>
          </a:p>
        </p:txBody>
      </p:sp>
      <p:sp>
        <p:nvSpPr>
          <p:cNvPr id="4" name="Slide Number Placeholder 3">
            <a:extLst>
              <a:ext uri="{FF2B5EF4-FFF2-40B4-BE49-F238E27FC236}">
                <a16:creationId xmlns:a16="http://schemas.microsoft.com/office/drawing/2014/main" id="{DC1E0EFC-3DDC-492F-2832-6D6DA8755E0F}"/>
              </a:ext>
            </a:extLst>
          </p:cNvPr>
          <p:cNvSpPr>
            <a:spLocks noGrp="1"/>
          </p:cNvSpPr>
          <p:nvPr>
            <p:ph type="sldNum" sz="quarter" idx="5"/>
          </p:nvPr>
        </p:nvSpPr>
        <p:spPr/>
        <p:txBody>
          <a:bodyPr/>
          <a:lstStyle/>
          <a:p>
            <a:fld id="{22B58C05-38F5-46EB-BECD-5394A7777BCD}" type="slidenum">
              <a:rPr lang="en-US" smtClean="0"/>
              <a:t>18</a:t>
            </a:fld>
            <a:endParaRPr lang="en-US"/>
          </a:p>
        </p:txBody>
      </p:sp>
    </p:spTree>
    <p:extLst>
      <p:ext uri="{BB962C8B-B14F-4D97-AF65-F5344CB8AC3E}">
        <p14:creationId xmlns:p14="http://schemas.microsoft.com/office/powerpoint/2010/main" val="714053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3466E-7086-5B88-32EC-99D332B35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04A1B-A50B-9A30-2827-C1822B3CC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30D21-FF18-B91A-3958-1091728D5F3F}"/>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a:t>
            </a:r>
          </a:p>
        </p:txBody>
      </p:sp>
      <p:sp>
        <p:nvSpPr>
          <p:cNvPr id="4" name="Slide Number Placeholder 3">
            <a:extLst>
              <a:ext uri="{FF2B5EF4-FFF2-40B4-BE49-F238E27FC236}">
                <a16:creationId xmlns:a16="http://schemas.microsoft.com/office/drawing/2014/main" id="{B928CAFB-1972-C977-CBA6-1A2BB5FF6738}"/>
              </a:ext>
            </a:extLst>
          </p:cNvPr>
          <p:cNvSpPr>
            <a:spLocks noGrp="1"/>
          </p:cNvSpPr>
          <p:nvPr>
            <p:ph type="sldNum" sz="quarter" idx="5"/>
          </p:nvPr>
        </p:nvSpPr>
        <p:spPr/>
        <p:txBody>
          <a:bodyPr/>
          <a:lstStyle/>
          <a:p>
            <a:fld id="{22B58C05-38F5-46EB-BECD-5394A7777BCD}" type="slidenum">
              <a:rPr lang="en-US" smtClean="0"/>
              <a:t>19</a:t>
            </a:fld>
            <a:endParaRPr lang="en-US"/>
          </a:p>
        </p:txBody>
      </p:sp>
    </p:spTree>
    <p:extLst>
      <p:ext uri="{BB962C8B-B14F-4D97-AF65-F5344CB8AC3E}">
        <p14:creationId xmlns:p14="http://schemas.microsoft.com/office/powerpoint/2010/main" val="3314068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808D-9881-6D40-9DED-13E25D5C1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413D1-BA89-ACBE-1684-3470D2AEE9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244A7-D1C7-1C26-2C99-B88520F7BF53}"/>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a:t>
            </a:r>
          </a:p>
        </p:txBody>
      </p:sp>
      <p:sp>
        <p:nvSpPr>
          <p:cNvPr id="4" name="Slide Number Placeholder 3">
            <a:extLst>
              <a:ext uri="{FF2B5EF4-FFF2-40B4-BE49-F238E27FC236}">
                <a16:creationId xmlns:a16="http://schemas.microsoft.com/office/drawing/2014/main" id="{9765103F-A639-E7DA-E60B-30EB8ED8D59A}"/>
              </a:ext>
            </a:extLst>
          </p:cNvPr>
          <p:cNvSpPr>
            <a:spLocks noGrp="1"/>
          </p:cNvSpPr>
          <p:nvPr>
            <p:ph type="sldNum" sz="quarter" idx="5"/>
          </p:nvPr>
        </p:nvSpPr>
        <p:spPr/>
        <p:txBody>
          <a:bodyPr/>
          <a:lstStyle/>
          <a:p>
            <a:fld id="{22B58C05-38F5-46EB-BECD-5394A7777BCD}" type="slidenum">
              <a:rPr lang="en-US" smtClean="0"/>
              <a:t>20</a:t>
            </a:fld>
            <a:endParaRPr lang="en-US"/>
          </a:p>
        </p:txBody>
      </p:sp>
    </p:spTree>
    <p:extLst>
      <p:ext uri="{BB962C8B-B14F-4D97-AF65-F5344CB8AC3E}">
        <p14:creationId xmlns:p14="http://schemas.microsoft.com/office/powerpoint/2010/main" val="2474410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FFBBC-3F53-482E-D088-8F8C39437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27FA5-C898-971A-4695-2A6C320E09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B92F1-9339-72B4-D0BB-ADADCA9E981F}"/>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a:t>
            </a:r>
          </a:p>
        </p:txBody>
      </p:sp>
      <p:sp>
        <p:nvSpPr>
          <p:cNvPr id="4" name="Slide Number Placeholder 3">
            <a:extLst>
              <a:ext uri="{FF2B5EF4-FFF2-40B4-BE49-F238E27FC236}">
                <a16:creationId xmlns:a16="http://schemas.microsoft.com/office/drawing/2014/main" id="{BFE49E0D-6C6B-F406-A8FB-4AF6D62B2491}"/>
              </a:ext>
            </a:extLst>
          </p:cNvPr>
          <p:cNvSpPr>
            <a:spLocks noGrp="1"/>
          </p:cNvSpPr>
          <p:nvPr>
            <p:ph type="sldNum" sz="quarter" idx="5"/>
          </p:nvPr>
        </p:nvSpPr>
        <p:spPr/>
        <p:txBody>
          <a:bodyPr/>
          <a:lstStyle/>
          <a:p>
            <a:fld id="{22B58C05-38F5-46EB-BECD-5394A7777BCD}" type="slidenum">
              <a:rPr lang="en-US" smtClean="0"/>
              <a:t>21</a:t>
            </a:fld>
            <a:endParaRPr lang="en-US"/>
          </a:p>
        </p:txBody>
      </p:sp>
    </p:spTree>
    <p:extLst>
      <p:ext uri="{BB962C8B-B14F-4D97-AF65-F5344CB8AC3E}">
        <p14:creationId xmlns:p14="http://schemas.microsoft.com/office/powerpoint/2010/main" val="3715217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7A54D-2086-1F80-61EF-515AA4684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7FD00-89CB-C54D-A52B-E949D1C08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21FBF-6096-989B-11CF-459E916F6990}"/>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a:t>
            </a:r>
          </a:p>
        </p:txBody>
      </p:sp>
      <p:sp>
        <p:nvSpPr>
          <p:cNvPr id="4" name="Slide Number Placeholder 3">
            <a:extLst>
              <a:ext uri="{FF2B5EF4-FFF2-40B4-BE49-F238E27FC236}">
                <a16:creationId xmlns:a16="http://schemas.microsoft.com/office/drawing/2014/main" id="{581BC560-B2F0-27F9-4579-E9FE6609B210}"/>
              </a:ext>
            </a:extLst>
          </p:cNvPr>
          <p:cNvSpPr>
            <a:spLocks noGrp="1"/>
          </p:cNvSpPr>
          <p:nvPr>
            <p:ph type="sldNum" sz="quarter" idx="5"/>
          </p:nvPr>
        </p:nvSpPr>
        <p:spPr/>
        <p:txBody>
          <a:bodyPr/>
          <a:lstStyle/>
          <a:p>
            <a:fld id="{22B58C05-38F5-46EB-BECD-5394A7777BCD}" type="slidenum">
              <a:rPr lang="en-US" smtClean="0"/>
              <a:t>22</a:t>
            </a:fld>
            <a:endParaRPr lang="en-US"/>
          </a:p>
        </p:txBody>
      </p:sp>
    </p:spTree>
    <p:extLst>
      <p:ext uri="{BB962C8B-B14F-4D97-AF65-F5344CB8AC3E}">
        <p14:creationId xmlns:p14="http://schemas.microsoft.com/office/powerpoint/2010/main" val="4254311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C647A-B5EA-9C72-BBB3-B2F220520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FDC4A-84F6-EB60-CB2B-EE8E48270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F4EBB-ADFD-EFA8-B8D1-95F8B199A634}"/>
              </a:ext>
            </a:extLst>
          </p:cNvPr>
          <p:cNvSpPr>
            <a:spLocks noGrp="1"/>
          </p:cNvSpPr>
          <p:nvPr>
            <p:ph type="body" idx="1"/>
          </p:nvPr>
        </p:nvSpPr>
        <p:spPr/>
        <p:txBody>
          <a:bodyPr/>
          <a:lstStyle/>
          <a:p>
            <a:r>
              <a:rPr lang="en-US"/>
              <a:t>Using our codebook grounded in previous historical and qualitative analyses, we have engaged in a series of computational approaches to achieve our qualitative coding goals. We will touch on text embeddings, TF-IDF narratives, and spend most of our time discussing prompt refinement. These approaches involved iterative interactions with GenAI where we prompted AI, engaged with it, and discussed the findings with one another. </a:t>
            </a:r>
          </a:p>
        </p:txBody>
      </p:sp>
      <p:sp>
        <p:nvSpPr>
          <p:cNvPr id="4" name="Slide Number Placeholder 3">
            <a:extLst>
              <a:ext uri="{FF2B5EF4-FFF2-40B4-BE49-F238E27FC236}">
                <a16:creationId xmlns:a16="http://schemas.microsoft.com/office/drawing/2014/main" id="{3BBCC8E6-C7E8-FA60-56EF-354821A79C02}"/>
              </a:ext>
            </a:extLst>
          </p:cNvPr>
          <p:cNvSpPr>
            <a:spLocks noGrp="1"/>
          </p:cNvSpPr>
          <p:nvPr>
            <p:ph type="sldNum" sz="quarter" idx="5"/>
          </p:nvPr>
        </p:nvSpPr>
        <p:spPr/>
        <p:txBody>
          <a:bodyPr/>
          <a:lstStyle/>
          <a:p>
            <a:fld id="{22B58C05-38F5-46EB-BECD-5394A7777BCD}" type="slidenum">
              <a:rPr lang="en-US" smtClean="0"/>
              <a:t>23</a:t>
            </a:fld>
            <a:endParaRPr lang="en-US"/>
          </a:p>
        </p:txBody>
      </p:sp>
    </p:spTree>
    <p:extLst>
      <p:ext uri="{BB962C8B-B14F-4D97-AF65-F5344CB8AC3E}">
        <p14:creationId xmlns:p14="http://schemas.microsoft.com/office/powerpoint/2010/main" val="1922937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C6BF5-7CCD-37BA-BB92-83BF304A6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0FC39-6187-1216-45FC-C2305D9DB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00AE8-B4C8-6385-DCC7-6E8E6ACB016F}"/>
              </a:ext>
            </a:extLst>
          </p:cNvPr>
          <p:cNvSpPr>
            <a:spLocks noGrp="1"/>
          </p:cNvSpPr>
          <p:nvPr>
            <p:ph type="body" idx="1"/>
          </p:nvPr>
        </p:nvSpPr>
        <p:spPr/>
        <p:txBody>
          <a:bodyPr/>
          <a:lstStyle/>
          <a:p>
            <a:r>
              <a:rPr lang="en-US"/>
              <a:t>Our first approach was to take our excerpts (batches of language from annual reports ranging from a couple words to multiple sentences) and converting them to embeddings. We then visualized them with PCA (principal component analysis) to see if the excerpts formed four distinct groups, in line with our codebook. It did not. The PCA visualization is very reductionist but provides a glimpse into how our text sits. This is a helpful approach for some tasks, but our task is too complicated due to the substantial overlap between logics. However, we became interested in component 1 and wanted to understand what was happening along that axis. Both PCA and UMAP are unsupervised clustering approaches…although we will be looking at a supervised version of the UMAP.</a:t>
            </a:r>
          </a:p>
        </p:txBody>
      </p:sp>
      <p:sp>
        <p:nvSpPr>
          <p:cNvPr id="4" name="Slide Number Placeholder 3">
            <a:extLst>
              <a:ext uri="{FF2B5EF4-FFF2-40B4-BE49-F238E27FC236}">
                <a16:creationId xmlns:a16="http://schemas.microsoft.com/office/drawing/2014/main" id="{7BCA6D95-FF9D-A6A9-E01D-95BFAA7E2FC2}"/>
              </a:ext>
            </a:extLst>
          </p:cNvPr>
          <p:cNvSpPr>
            <a:spLocks noGrp="1"/>
          </p:cNvSpPr>
          <p:nvPr>
            <p:ph type="sldNum" sz="quarter" idx="5"/>
          </p:nvPr>
        </p:nvSpPr>
        <p:spPr/>
        <p:txBody>
          <a:bodyPr/>
          <a:lstStyle/>
          <a:p>
            <a:fld id="{22B58C05-38F5-46EB-BECD-5394A7777BCD}" type="slidenum">
              <a:rPr lang="en-US" smtClean="0"/>
              <a:t>24</a:t>
            </a:fld>
            <a:endParaRPr lang="en-US"/>
          </a:p>
        </p:txBody>
      </p:sp>
    </p:spTree>
    <p:extLst>
      <p:ext uri="{BB962C8B-B14F-4D97-AF65-F5344CB8AC3E}">
        <p14:creationId xmlns:p14="http://schemas.microsoft.com/office/powerpoint/2010/main" val="12672122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4AF8D-E113-3DAD-05E2-8DB03BA8F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427F1-B073-52F7-ECE2-6460CB4D3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1E9E8-7F30-478C-B34E-F77DB5ED8F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511773-1871-6B62-9CD4-E55637CCF7D2}"/>
              </a:ext>
            </a:extLst>
          </p:cNvPr>
          <p:cNvSpPr>
            <a:spLocks noGrp="1"/>
          </p:cNvSpPr>
          <p:nvPr>
            <p:ph type="sldNum" sz="quarter" idx="5"/>
          </p:nvPr>
        </p:nvSpPr>
        <p:spPr/>
        <p:txBody>
          <a:bodyPr/>
          <a:lstStyle/>
          <a:p>
            <a:fld id="{22B58C05-38F5-46EB-BECD-5394A7777BCD}" type="slidenum">
              <a:rPr lang="en-US" smtClean="0"/>
              <a:t>25</a:t>
            </a:fld>
            <a:endParaRPr lang="en-US"/>
          </a:p>
        </p:txBody>
      </p:sp>
    </p:spTree>
    <p:extLst>
      <p:ext uri="{BB962C8B-B14F-4D97-AF65-F5344CB8AC3E}">
        <p14:creationId xmlns:p14="http://schemas.microsoft.com/office/powerpoint/2010/main" val="28840566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E6130-DA8C-3F3B-2D97-4B6486E79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C206B-607E-6668-303C-11CDA9E34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CFBAE-3646-6141-3DFE-48CF59E19CB5}"/>
              </a:ext>
            </a:extLst>
          </p:cNvPr>
          <p:cNvSpPr>
            <a:spLocks noGrp="1"/>
          </p:cNvSpPr>
          <p:nvPr>
            <p:ph type="body" idx="1"/>
          </p:nvPr>
        </p:nvSpPr>
        <p:spPr/>
        <p:txBody>
          <a:bodyPr/>
          <a:lstStyle/>
          <a:p>
            <a:r>
              <a:rPr lang="en-US"/>
              <a:t>To understand Component 1, we grabbed excerpts that fell -0.2 or less as “low” and 0.2 or greater as “high”. We calculated TF-IDFs to see which words were most important that sat at either end of component 1.</a:t>
            </a:r>
          </a:p>
        </p:txBody>
      </p:sp>
      <p:sp>
        <p:nvSpPr>
          <p:cNvPr id="4" name="Slide Number Placeholder 3">
            <a:extLst>
              <a:ext uri="{FF2B5EF4-FFF2-40B4-BE49-F238E27FC236}">
                <a16:creationId xmlns:a16="http://schemas.microsoft.com/office/drawing/2014/main" id="{78419A74-3C32-9C01-C9AF-08D30E81D940}"/>
              </a:ext>
            </a:extLst>
          </p:cNvPr>
          <p:cNvSpPr>
            <a:spLocks noGrp="1"/>
          </p:cNvSpPr>
          <p:nvPr>
            <p:ph type="sldNum" sz="quarter" idx="5"/>
          </p:nvPr>
        </p:nvSpPr>
        <p:spPr/>
        <p:txBody>
          <a:bodyPr/>
          <a:lstStyle/>
          <a:p>
            <a:fld id="{22B58C05-38F5-46EB-BECD-5394A7777BCD}" type="slidenum">
              <a:rPr lang="en-US" smtClean="0"/>
              <a:t>26</a:t>
            </a:fld>
            <a:endParaRPr lang="en-US"/>
          </a:p>
        </p:txBody>
      </p:sp>
    </p:spTree>
    <p:extLst>
      <p:ext uri="{BB962C8B-B14F-4D97-AF65-F5344CB8AC3E}">
        <p14:creationId xmlns:p14="http://schemas.microsoft.com/office/powerpoint/2010/main" val="1729973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918FF-FEA2-09B5-4049-DD5340BD4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C1F29A-7907-464D-08C3-D83F48B08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1FD4E-1798-7C6B-C3A7-1DEDC44678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 used TF-IDF (Term Frequency-Inverse Document Frequency) to look at “top words” associated with low and high values of PCA component 1. Here are the top words that came out of our TF-IDF. This helped us see that at the ends of the visualization there was some agreement around PCT at one end and SC at the other. However, words like “grants” and “foundation” also sit across all the logics.</a:t>
            </a:r>
          </a:p>
          <a:p>
            <a:endParaRPr lang="en-US"/>
          </a:p>
        </p:txBody>
      </p:sp>
      <p:sp>
        <p:nvSpPr>
          <p:cNvPr id="4" name="Slide Number Placeholder 3">
            <a:extLst>
              <a:ext uri="{FF2B5EF4-FFF2-40B4-BE49-F238E27FC236}">
                <a16:creationId xmlns:a16="http://schemas.microsoft.com/office/drawing/2014/main" id="{C9B8F56A-0E95-067A-4BCF-CCF5ACCEE1DD}"/>
              </a:ext>
            </a:extLst>
          </p:cNvPr>
          <p:cNvSpPr>
            <a:spLocks noGrp="1"/>
          </p:cNvSpPr>
          <p:nvPr>
            <p:ph type="sldNum" sz="quarter" idx="5"/>
          </p:nvPr>
        </p:nvSpPr>
        <p:spPr/>
        <p:txBody>
          <a:bodyPr/>
          <a:lstStyle/>
          <a:p>
            <a:fld id="{22B58C05-38F5-46EB-BECD-5394A7777BCD}" type="slidenum">
              <a:rPr lang="en-US" smtClean="0"/>
              <a:t>27</a:t>
            </a:fld>
            <a:endParaRPr lang="en-US"/>
          </a:p>
        </p:txBody>
      </p:sp>
    </p:spTree>
    <p:extLst>
      <p:ext uri="{BB962C8B-B14F-4D97-AF65-F5344CB8AC3E}">
        <p14:creationId xmlns:p14="http://schemas.microsoft.com/office/powerpoint/2010/main" val="22518670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6E29-542E-52C7-4D36-2A02BE2F0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75C22-0F75-21C4-E382-AA9EE9098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153BFC-8D37-34B0-10BA-27B5E0F357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 then passed these words to an LM and asked it to explain the themes within each set of words. Here is our prompt. This stage represents our first real attempt at a human-in-the-loop approach. Here is a piece of sample output. This helped us understand us understand some of the distinctions between logics. </a:t>
            </a:r>
          </a:p>
        </p:txBody>
      </p:sp>
      <p:sp>
        <p:nvSpPr>
          <p:cNvPr id="4" name="Slide Number Placeholder 3">
            <a:extLst>
              <a:ext uri="{FF2B5EF4-FFF2-40B4-BE49-F238E27FC236}">
                <a16:creationId xmlns:a16="http://schemas.microsoft.com/office/drawing/2014/main" id="{2FABD0DF-5A22-37D9-E862-B9E6F4ACA9EB}"/>
              </a:ext>
            </a:extLst>
          </p:cNvPr>
          <p:cNvSpPr>
            <a:spLocks noGrp="1"/>
          </p:cNvSpPr>
          <p:nvPr>
            <p:ph type="sldNum" sz="quarter" idx="5"/>
          </p:nvPr>
        </p:nvSpPr>
        <p:spPr/>
        <p:txBody>
          <a:bodyPr/>
          <a:lstStyle/>
          <a:p>
            <a:fld id="{22B58C05-38F5-46EB-BECD-5394A7777BCD}" type="slidenum">
              <a:rPr lang="en-US" smtClean="0"/>
              <a:t>28</a:t>
            </a:fld>
            <a:endParaRPr lang="en-US"/>
          </a:p>
        </p:txBody>
      </p:sp>
    </p:spTree>
    <p:extLst>
      <p:ext uri="{BB962C8B-B14F-4D97-AF65-F5344CB8AC3E}">
        <p14:creationId xmlns:p14="http://schemas.microsoft.com/office/powerpoint/2010/main" val="1801476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52282-7397-7502-13CC-0D5430E64A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AFD07-1671-DE6C-169A-4414A0FAA7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81640-CA42-7ABD-3B36-575687F76154}"/>
              </a:ext>
            </a:extLst>
          </p:cNvPr>
          <p:cNvSpPr>
            <a:spLocks noGrp="1"/>
          </p:cNvSpPr>
          <p:nvPr>
            <p:ph type="body" idx="1"/>
          </p:nvPr>
        </p:nvSpPr>
        <p:spPr/>
        <p:txBody>
          <a:bodyPr/>
          <a:lstStyle/>
          <a:p>
            <a:r>
              <a:rPr lang="en-US"/>
              <a:t>We then used a supervised UMAP (Uniform Manifold Approximation and Projection) to force our embeddings into classes and we got more clarity but still some misclassified points. Here I am defining misclassified as any point not cleanly sitting in the four logic clusters.</a:t>
            </a:r>
          </a:p>
        </p:txBody>
      </p:sp>
      <p:sp>
        <p:nvSpPr>
          <p:cNvPr id="4" name="Slide Number Placeholder 3">
            <a:extLst>
              <a:ext uri="{FF2B5EF4-FFF2-40B4-BE49-F238E27FC236}">
                <a16:creationId xmlns:a16="http://schemas.microsoft.com/office/drawing/2014/main" id="{E9E6FE09-A134-A342-6CE6-1DCCE299DA17}"/>
              </a:ext>
            </a:extLst>
          </p:cNvPr>
          <p:cNvSpPr>
            <a:spLocks noGrp="1"/>
          </p:cNvSpPr>
          <p:nvPr>
            <p:ph type="sldNum" sz="quarter" idx="5"/>
          </p:nvPr>
        </p:nvSpPr>
        <p:spPr/>
        <p:txBody>
          <a:bodyPr/>
          <a:lstStyle/>
          <a:p>
            <a:fld id="{22B58C05-38F5-46EB-BECD-5394A7777BCD}" type="slidenum">
              <a:rPr lang="en-US" smtClean="0"/>
              <a:t>29</a:t>
            </a:fld>
            <a:endParaRPr lang="en-US"/>
          </a:p>
        </p:txBody>
      </p:sp>
    </p:spTree>
    <p:extLst>
      <p:ext uri="{BB962C8B-B14F-4D97-AF65-F5344CB8AC3E}">
        <p14:creationId xmlns:p14="http://schemas.microsoft.com/office/powerpoint/2010/main" val="29519353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E1E08-1C24-2BEC-BEE7-6EDEF6685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06BE1-4942-0530-A712-A79D46A1F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6720B-28DB-31EC-D5AC-34B7125B6C27}"/>
              </a:ext>
            </a:extLst>
          </p:cNvPr>
          <p:cNvSpPr>
            <a:spLocks noGrp="1"/>
          </p:cNvSpPr>
          <p:nvPr>
            <p:ph type="body" idx="1"/>
          </p:nvPr>
        </p:nvSpPr>
        <p:spPr/>
        <p:txBody>
          <a:bodyPr/>
          <a:lstStyle/>
          <a:p>
            <a:r>
              <a:rPr lang="en-US"/>
              <a:t>We also looked at misclassified points (classifications that did not match our manual/hand-coded labeled data) and asked the LM to explain why it thought the excerpts were misclassified. We received helpful feedback addressing what it was about those excerpts that may have resulted in a “misclassification.”</a:t>
            </a:r>
          </a:p>
        </p:txBody>
      </p:sp>
      <p:sp>
        <p:nvSpPr>
          <p:cNvPr id="4" name="Slide Number Placeholder 3">
            <a:extLst>
              <a:ext uri="{FF2B5EF4-FFF2-40B4-BE49-F238E27FC236}">
                <a16:creationId xmlns:a16="http://schemas.microsoft.com/office/drawing/2014/main" id="{D6D5CA87-DD04-07E2-35E8-EDA8D9A3F19C}"/>
              </a:ext>
            </a:extLst>
          </p:cNvPr>
          <p:cNvSpPr>
            <a:spLocks noGrp="1"/>
          </p:cNvSpPr>
          <p:nvPr>
            <p:ph type="sldNum" sz="quarter" idx="5"/>
          </p:nvPr>
        </p:nvSpPr>
        <p:spPr/>
        <p:txBody>
          <a:bodyPr/>
          <a:lstStyle/>
          <a:p>
            <a:fld id="{22B58C05-38F5-46EB-BECD-5394A7777BCD}" type="slidenum">
              <a:rPr lang="en-US" smtClean="0"/>
              <a:t>30</a:t>
            </a:fld>
            <a:endParaRPr lang="en-US"/>
          </a:p>
        </p:txBody>
      </p:sp>
    </p:spTree>
    <p:extLst>
      <p:ext uri="{BB962C8B-B14F-4D97-AF65-F5344CB8AC3E}">
        <p14:creationId xmlns:p14="http://schemas.microsoft.com/office/powerpoint/2010/main" val="2172137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81D89-9E3D-C80A-0D3C-8B884FB0D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CCC9D-2011-34CF-FE60-D4C584E4A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389933-E8F0-8B4E-9AB7-9CA88620E556}"/>
              </a:ext>
            </a:extLst>
          </p:cNvPr>
          <p:cNvSpPr>
            <a:spLocks noGrp="1"/>
          </p:cNvSpPr>
          <p:nvPr>
            <p:ph type="body" idx="1"/>
          </p:nvPr>
        </p:nvSpPr>
        <p:spPr/>
        <p:txBody>
          <a:bodyPr/>
          <a:lstStyle/>
          <a:p>
            <a:r>
              <a:rPr lang="en-US"/>
              <a:t>At this point, we took what we learned from our embedding visualizations to focus on optimizing a prompt to feed to an LM for conducting a classification task. We start with basic information about the task and context – CFs, logics, etc. and then move into brief definitions of each logic, including some “decision rules” that came out of collaboration with the LM. For example: </a:t>
            </a:r>
            <a:r>
              <a:rPr lang="en-US" u="none">
                <a:uFill>
                  <a:solidFill>
                    <a:srgbClr val="BA0C2F"/>
                  </a:solidFill>
                </a:uFill>
              </a:rPr>
              <a:t>Excerpts emphasizing cross-sector collaboration, tourism, or economic developments should be classified as public private governance whereas excerpts where the initiative purpose is advancing equity should be classified as the social change logic. We used markdown in different parts of the prompt to focus the attention of the LM – capitals, exclamation points, etc. We provided clear instructions for how the LM should classify and format its output. Finally, we fed the LM an excerpt.</a:t>
            </a:r>
            <a:endParaRPr lang="en-US" u="none">
              <a:highlight>
                <a:srgbClr val="FFFF00"/>
              </a:highlight>
            </a:endParaRPr>
          </a:p>
        </p:txBody>
      </p:sp>
      <p:sp>
        <p:nvSpPr>
          <p:cNvPr id="4" name="Slide Number Placeholder 3">
            <a:extLst>
              <a:ext uri="{FF2B5EF4-FFF2-40B4-BE49-F238E27FC236}">
                <a16:creationId xmlns:a16="http://schemas.microsoft.com/office/drawing/2014/main" id="{DB6E127B-129D-0920-23A7-9D62AC92C2F7}"/>
              </a:ext>
            </a:extLst>
          </p:cNvPr>
          <p:cNvSpPr>
            <a:spLocks noGrp="1"/>
          </p:cNvSpPr>
          <p:nvPr>
            <p:ph type="sldNum" sz="quarter" idx="5"/>
          </p:nvPr>
        </p:nvSpPr>
        <p:spPr/>
        <p:txBody>
          <a:bodyPr/>
          <a:lstStyle/>
          <a:p>
            <a:fld id="{22B58C05-38F5-46EB-BECD-5394A7777BCD}" type="slidenum">
              <a:rPr lang="en-US" smtClean="0"/>
              <a:t>31</a:t>
            </a:fld>
            <a:endParaRPr lang="en-US"/>
          </a:p>
        </p:txBody>
      </p:sp>
    </p:spTree>
    <p:extLst>
      <p:ext uri="{BB962C8B-B14F-4D97-AF65-F5344CB8AC3E}">
        <p14:creationId xmlns:p14="http://schemas.microsoft.com/office/powerpoint/2010/main" val="22992793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5871E-71DC-0BCC-852B-B48772CA96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8AF35-E062-A14C-0E8E-7CF8BFD94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313CD-C5AE-F324-25B0-2BC2125C58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Here are some accuracy stats we calculated to understand how the LM was performing. Precision looks at the whether the decisions the LM made reflect our hand-coding. For example, in 99% of cases that the LM assigned the highest weight to philanthropic community trust, our hand-coded logic was philanthropic community trust. Recall looks at how much of the LM’s coding captured our hand-codes. For example, 82.9% of what we coded as PCT was correctly identified by the LM. The harmonic mean takes precision and recall together. We calculated the average uncertainty of each excerpt as </a:t>
            </a:r>
            <a:r>
              <a:rPr lang="en-US" sz="1200"/>
              <a:t>a normalized entropy function to estimate how peaked (certain) vs uniform (uncertain) each set of weights was. </a:t>
            </a:r>
            <a:r>
              <a:rPr lang="en-US"/>
              <a:t>We also calculated the stats for a “realistic” match where we counted a classification as correct if the LM assigned a weight of 40 or more to our hand-coded logic. This is reasonable because our themes are overlapping and while our hand-codes only reflect the primary logic, we have asked the LM to engage in multi-class coding. A weight of 40 allows for us to identify excerpts that reflect genuine recognition of the hand-coded logic without including noise (such as 25–25–25–25 or 30–30–30–10 splits).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a:extLst>
              <a:ext uri="{FF2B5EF4-FFF2-40B4-BE49-F238E27FC236}">
                <a16:creationId xmlns:a16="http://schemas.microsoft.com/office/drawing/2014/main" id="{B5D3F44C-18B5-A28D-5287-31203988FBDF}"/>
              </a:ext>
            </a:extLst>
          </p:cNvPr>
          <p:cNvSpPr>
            <a:spLocks noGrp="1"/>
          </p:cNvSpPr>
          <p:nvPr>
            <p:ph type="sldNum" sz="quarter" idx="5"/>
          </p:nvPr>
        </p:nvSpPr>
        <p:spPr/>
        <p:txBody>
          <a:bodyPr/>
          <a:lstStyle/>
          <a:p>
            <a:fld id="{22B58C05-38F5-46EB-BECD-5394A7777BCD}" type="slidenum">
              <a:rPr lang="en-US" smtClean="0"/>
              <a:t>32</a:t>
            </a:fld>
            <a:endParaRPr lang="en-US"/>
          </a:p>
        </p:txBody>
      </p:sp>
    </p:spTree>
    <p:extLst>
      <p:ext uri="{BB962C8B-B14F-4D97-AF65-F5344CB8AC3E}">
        <p14:creationId xmlns:p14="http://schemas.microsoft.com/office/powerpoint/2010/main" val="33453855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CA554-7A20-B058-58CF-966BEB559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0B1C9-0080-C901-47C5-01958D0475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334D6-8DAD-3C5E-6DBA-8D413CD260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Here are some accuracy stats we calculated to understand how the LM was performing. Precision looks at the whether the decisions the LM made reflect our hand-coding. For example, in 99% of cases that the LM assigned the highest weight to philanthropic community trust, our hand-coded logic was philanthropic community trust. Recall looks at how much of the LM’s coding captured our hand-codes. For example, 82.9% of what we coded as PCT was correctly identified by the LM. The harmonic mean takes precision and recall together. We calculated the average uncertainty of each excerpt as </a:t>
            </a:r>
            <a:r>
              <a:rPr lang="en-US" sz="1200"/>
              <a:t>a normalized entropy function to estimate how peaked (certain) vs uniform (uncertain) each set of weights was. </a:t>
            </a:r>
            <a:r>
              <a:rPr lang="en-US"/>
              <a:t>We also calculated the stats for a “realistic” match where we counted a classification as correct if the LM assigned a weight of 40 or more to our hand-coded logic. This is reasonable because our themes are overlapping and while our hand-codes only reflect the primary logic, we have asked the LM to engage in multi-class coding. A weight of 40 allows for us to identify excerpts that reflect genuine recognition of the hand-coded logic without including noise (such as 25–25–25–25 or 30–30–30–10 splits).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a:extLst>
              <a:ext uri="{FF2B5EF4-FFF2-40B4-BE49-F238E27FC236}">
                <a16:creationId xmlns:a16="http://schemas.microsoft.com/office/drawing/2014/main" id="{C86A789B-B0C6-A6A8-F1D2-FD5F35921D13}"/>
              </a:ext>
            </a:extLst>
          </p:cNvPr>
          <p:cNvSpPr>
            <a:spLocks noGrp="1"/>
          </p:cNvSpPr>
          <p:nvPr>
            <p:ph type="sldNum" sz="quarter" idx="5"/>
          </p:nvPr>
        </p:nvSpPr>
        <p:spPr/>
        <p:txBody>
          <a:bodyPr/>
          <a:lstStyle/>
          <a:p>
            <a:fld id="{22B58C05-38F5-46EB-BECD-5394A7777BCD}" type="slidenum">
              <a:rPr lang="en-US" smtClean="0"/>
              <a:t>33</a:t>
            </a:fld>
            <a:endParaRPr lang="en-US"/>
          </a:p>
        </p:txBody>
      </p:sp>
    </p:spTree>
    <p:extLst>
      <p:ext uri="{BB962C8B-B14F-4D97-AF65-F5344CB8AC3E}">
        <p14:creationId xmlns:p14="http://schemas.microsoft.com/office/powerpoint/2010/main" val="12356347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B2B24-8A43-76D2-FC5D-3FB70818A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B4F1B-BFE3-84DA-98F8-4C6005C27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17742-8FB0-CCEA-44A0-AAB52792F7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Here are some accuracy stats we calculated to understand how the LM was performing. Precision looks at the whether the decisions the LM made reflect our hand-coding. For example, in 99% of cases that the LM assigned the highest weight to philanthropic community trust, our hand-coded logic was philanthropic community trust. Recall looks at how much of the LM’s coding captured our hand-codes. For example, 82.9% of what we coded as PCT was correctly identified by the LM. The harmonic mean takes precision and recall together. We calculated the average uncertainty of each excerpt as </a:t>
            </a:r>
            <a:r>
              <a:rPr lang="en-US" sz="1200"/>
              <a:t>a normalized entropy function to estimate how peaked (certain) vs uniform (uncertain) each set of weights was. </a:t>
            </a:r>
            <a:r>
              <a:rPr lang="en-US"/>
              <a:t>We also calculated the stats for a “realistic” match where we counted a classification as correct if the LM assigned a weight of 40 or more to our hand-coded logic. This is reasonable because our themes are overlapping and while our hand-codes only reflect the primary logic, we have asked the LM to engage in multi-class coding. A weight of 40 allows for us to identify excerpts that reflect genuine recognition of the hand-coded logic without including noise (such as 25–25–25–25 or 30–30–30–10 splits).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a:extLst>
              <a:ext uri="{FF2B5EF4-FFF2-40B4-BE49-F238E27FC236}">
                <a16:creationId xmlns:a16="http://schemas.microsoft.com/office/drawing/2014/main" id="{F6F1A7BA-FDC8-AB32-B040-EA6171BBC3B5}"/>
              </a:ext>
            </a:extLst>
          </p:cNvPr>
          <p:cNvSpPr>
            <a:spLocks noGrp="1"/>
          </p:cNvSpPr>
          <p:nvPr>
            <p:ph type="sldNum" sz="quarter" idx="5"/>
          </p:nvPr>
        </p:nvSpPr>
        <p:spPr/>
        <p:txBody>
          <a:bodyPr/>
          <a:lstStyle/>
          <a:p>
            <a:fld id="{22B58C05-38F5-46EB-BECD-5394A7777BCD}" type="slidenum">
              <a:rPr lang="en-US" smtClean="0"/>
              <a:t>34</a:t>
            </a:fld>
            <a:endParaRPr lang="en-US"/>
          </a:p>
        </p:txBody>
      </p:sp>
    </p:spTree>
    <p:extLst>
      <p:ext uri="{BB962C8B-B14F-4D97-AF65-F5344CB8AC3E}">
        <p14:creationId xmlns:p14="http://schemas.microsoft.com/office/powerpoint/2010/main" val="4528429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3D62E-1F7D-F590-CF3E-C2D752C05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B0C23-924C-AF4B-DDEF-C26E98E36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9FA72-7FF1-9251-7D35-9A4D7DFEF1F9}"/>
              </a:ext>
            </a:extLst>
          </p:cNvPr>
          <p:cNvSpPr>
            <a:spLocks noGrp="1"/>
          </p:cNvSpPr>
          <p:nvPr>
            <p:ph type="body" idx="1"/>
          </p:nvPr>
        </p:nvSpPr>
        <p:spPr/>
        <p:txBody>
          <a:bodyPr/>
          <a:lstStyle/>
          <a:p>
            <a:r>
              <a:rPr lang="en-US"/>
              <a:t>These are two PPG excerpts that failed both our direct and relaxed match standards. In the first example, it is evident there is not enough context for the LM to make a confident decision. In the second case, its weight disagrees with our coding but is actually reasonable. We are trying to leave space for the LM to provide suggestions that may disagree with our coding but be reasonable as is the case when working with a team of human coders and working to reach consensus. As we have developed prompts, we have gone through incorrectly classified excerpts to make sense of these differences and find which ones are “reasonable” and which ones truly fail to align with our codebook. We use this information to refine our prompts. </a:t>
            </a:r>
          </a:p>
        </p:txBody>
      </p:sp>
      <p:sp>
        <p:nvSpPr>
          <p:cNvPr id="4" name="Slide Number Placeholder 3">
            <a:extLst>
              <a:ext uri="{FF2B5EF4-FFF2-40B4-BE49-F238E27FC236}">
                <a16:creationId xmlns:a16="http://schemas.microsoft.com/office/drawing/2014/main" id="{236CA37C-FEAB-CC66-9AC6-6DF203B705A6}"/>
              </a:ext>
            </a:extLst>
          </p:cNvPr>
          <p:cNvSpPr>
            <a:spLocks noGrp="1"/>
          </p:cNvSpPr>
          <p:nvPr>
            <p:ph type="sldNum" sz="quarter" idx="5"/>
          </p:nvPr>
        </p:nvSpPr>
        <p:spPr/>
        <p:txBody>
          <a:bodyPr/>
          <a:lstStyle/>
          <a:p>
            <a:fld id="{22B58C05-38F5-46EB-BECD-5394A7777BCD}" type="slidenum">
              <a:rPr lang="en-US" smtClean="0"/>
              <a:t>35</a:t>
            </a:fld>
            <a:endParaRPr lang="en-US"/>
          </a:p>
        </p:txBody>
      </p:sp>
    </p:spTree>
    <p:extLst>
      <p:ext uri="{BB962C8B-B14F-4D97-AF65-F5344CB8AC3E}">
        <p14:creationId xmlns:p14="http://schemas.microsoft.com/office/powerpoint/2010/main" val="680815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BD15D-2DDD-052F-5334-319AEB65A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253CE-623B-1C9F-761A-6056ABD1C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CE049-6E06-814C-481F-2BFCC4B53760}"/>
              </a:ext>
            </a:extLst>
          </p:cNvPr>
          <p:cNvSpPr>
            <a:spLocks noGrp="1"/>
          </p:cNvSpPr>
          <p:nvPr>
            <p:ph type="body" idx="1"/>
          </p:nvPr>
        </p:nvSpPr>
        <p:spPr/>
        <p:txBody>
          <a:bodyPr/>
          <a:lstStyle/>
          <a:p>
            <a:r>
              <a:rPr lang="en-US"/>
              <a:t>The goal of this study is to experiment with different ways of integrating AI into our coding process. We are building trust with AI so that we can feel comfortable and confident allowing it to classify organizational language at scale.</a:t>
            </a:r>
          </a:p>
        </p:txBody>
      </p:sp>
      <p:sp>
        <p:nvSpPr>
          <p:cNvPr id="4" name="Slide Number Placeholder 3">
            <a:extLst>
              <a:ext uri="{FF2B5EF4-FFF2-40B4-BE49-F238E27FC236}">
                <a16:creationId xmlns:a16="http://schemas.microsoft.com/office/drawing/2014/main" id="{A870EBF5-D910-E25B-69DA-DCE6D1D2C216}"/>
              </a:ext>
            </a:extLst>
          </p:cNvPr>
          <p:cNvSpPr>
            <a:spLocks noGrp="1"/>
          </p:cNvSpPr>
          <p:nvPr>
            <p:ph type="sldNum" sz="quarter" idx="5"/>
          </p:nvPr>
        </p:nvSpPr>
        <p:spPr/>
        <p:txBody>
          <a:bodyPr/>
          <a:lstStyle/>
          <a:p>
            <a:fld id="{22B58C05-38F5-46EB-BECD-5394A7777BCD}" type="slidenum">
              <a:rPr lang="en-US" smtClean="0"/>
              <a:t>36</a:t>
            </a:fld>
            <a:endParaRPr lang="en-US"/>
          </a:p>
        </p:txBody>
      </p:sp>
    </p:spTree>
    <p:extLst>
      <p:ext uri="{BB962C8B-B14F-4D97-AF65-F5344CB8AC3E}">
        <p14:creationId xmlns:p14="http://schemas.microsoft.com/office/powerpoint/2010/main" val="4263285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2B0A8-F272-1430-B0E8-7E315C055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AFFD5-BE33-9A55-D279-092986A7F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9A017-A3DE-64E5-1863-DEF5277360CB}"/>
              </a:ext>
            </a:extLst>
          </p:cNvPr>
          <p:cNvSpPr>
            <a:spLocks noGrp="1"/>
          </p:cNvSpPr>
          <p:nvPr>
            <p:ph type="body" idx="1"/>
          </p:nvPr>
        </p:nvSpPr>
        <p:spPr/>
        <p:txBody>
          <a:bodyPr/>
          <a:lstStyle/>
          <a:p>
            <a:r>
              <a:rPr lang="en-US"/>
              <a:t>The goal of this study is to experiment with different ways of integrating AI into our coding process. We are building trust with AI so that we can feel comfortable and confident allowing it to classify organizational language at scale.</a:t>
            </a:r>
          </a:p>
        </p:txBody>
      </p:sp>
      <p:sp>
        <p:nvSpPr>
          <p:cNvPr id="4" name="Slide Number Placeholder 3">
            <a:extLst>
              <a:ext uri="{FF2B5EF4-FFF2-40B4-BE49-F238E27FC236}">
                <a16:creationId xmlns:a16="http://schemas.microsoft.com/office/drawing/2014/main" id="{433C4788-9CD2-B56F-C3E2-8D87E5613218}"/>
              </a:ext>
            </a:extLst>
          </p:cNvPr>
          <p:cNvSpPr>
            <a:spLocks noGrp="1"/>
          </p:cNvSpPr>
          <p:nvPr>
            <p:ph type="sldNum" sz="quarter" idx="5"/>
          </p:nvPr>
        </p:nvSpPr>
        <p:spPr/>
        <p:txBody>
          <a:bodyPr/>
          <a:lstStyle/>
          <a:p>
            <a:fld id="{22B58C05-38F5-46EB-BECD-5394A7777BCD}" type="slidenum">
              <a:rPr lang="en-US" smtClean="0"/>
              <a:t>37</a:t>
            </a:fld>
            <a:endParaRPr lang="en-US"/>
          </a:p>
        </p:txBody>
      </p:sp>
    </p:spTree>
    <p:extLst>
      <p:ext uri="{BB962C8B-B14F-4D97-AF65-F5344CB8AC3E}">
        <p14:creationId xmlns:p14="http://schemas.microsoft.com/office/powerpoint/2010/main" val="37278055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72D5-C71A-E5F9-EB46-5185AFE80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FC723-B7D2-456F-579D-0FE774C3A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AFB0A-B313-AA48-6115-0E5AB35CF34C}"/>
              </a:ext>
            </a:extLst>
          </p:cNvPr>
          <p:cNvSpPr>
            <a:spLocks noGrp="1"/>
          </p:cNvSpPr>
          <p:nvPr>
            <p:ph type="body" idx="1"/>
          </p:nvPr>
        </p:nvSpPr>
        <p:spPr/>
        <p:txBody>
          <a:bodyPr/>
          <a:lstStyle/>
          <a:p>
            <a:r>
              <a:rPr lang="en-US"/>
              <a:t>The goal of this study is to experiment with different ways of integrating AI into our coding process. We are building trust with AI so that we can feel comfortable and confident allowing it to classify organizational language at scale.</a:t>
            </a:r>
          </a:p>
        </p:txBody>
      </p:sp>
      <p:sp>
        <p:nvSpPr>
          <p:cNvPr id="4" name="Slide Number Placeholder 3">
            <a:extLst>
              <a:ext uri="{FF2B5EF4-FFF2-40B4-BE49-F238E27FC236}">
                <a16:creationId xmlns:a16="http://schemas.microsoft.com/office/drawing/2014/main" id="{0B87896F-0F61-877F-F09C-FE6A69BB65BA}"/>
              </a:ext>
            </a:extLst>
          </p:cNvPr>
          <p:cNvSpPr>
            <a:spLocks noGrp="1"/>
          </p:cNvSpPr>
          <p:nvPr>
            <p:ph type="sldNum" sz="quarter" idx="5"/>
          </p:nvPr>
        </p:nvSpPr>
        <p:spPr/>
        <p:txBody>
          <a:bodyPr/>
          <a:lstStyle/>
          <a:p>
            <a:fld id="{22B58C05-38F5-46EB-BECD-5394A7777BCD}" type="slidenum">
              <a:rPr lang="en-US" smtClean="0"/>
              <a:t>38</a:t>
            </a:fld>
            <a:endParaRPr lang="en-US"/>
          </a:p>
        </p:txBody>
      </p:sp>
    </p:spTree>
    <p:extLst>
      <p:ext uri="{BB962C8B-B14F-4D97-AF65-F5344CB8AC3E}">
        <p14:creationId xmlns:p14="http://schemas.microsoft.com/office/powerpoint/2010/main" val="24614338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9ACD-463D-CFF5-503D-706E03125C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DFB48-0CA7-D03A-6434-968CDCD63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C535AB-370C-8F7B-7D41-F55CE2246527}"/>
              </a:ext>
            </a:extLst>
          </p:cNvPr>
          <p:cNvSpPr>
            <a:spLocks noGrp="1"/>
          </p:cNvSpPr>
          <p:nvPr>
            <p:ph type="body" idx="1"/>
          </p:nvPr>
        </p:nvSpPr>
        <p:spPr/>
        <p:txBody>
          <a:bodyPr/>
          <a:lstStyle/>
          <a:p>
            <a:r>
              <a:rPr lang="en-US"/>
              <a:t>The goal of this study is to experiment with different ways of integrating AI into our coding process. We are building trust with AI so that we can feel comfortable and confident allowing it to classify organizational language at scale.</a:t>
            </a:r>
          </a:p>
        </p:txBody>
      </p:sp>
      <p:sp>
        <p:nvSpPr>
          <p:cNvPr id="4" name="Slide Number Placeholder 3">
            <a:extLst>
              <a:ext uri="{FF2B5EF4-FFF2-40B4-BE49-F238E27FC236}">
                <a16:creationId xmlns:a16="http://schemas.microsoft.com/office/drawing/2014/main" id="{14E10964-F434-4F50-20AF-99406DA1D750}"/>
              </a:ext>
            </a:extLst>
          </p:cNvPr>
          <p:cNvSpPr>
            <a:spLocks noGrp="1"/>
          </p:cNvSpPr>
          <p:nvPr>
            <p:ph type="sldNum" sz="quarter" idx="5"/>
          </p:nvPr>
        </p:nvSpPr>
        <p:spPr/>
        <p:txBody>
          <a:bodyPr/>
          <a:lstStyle/>
          <a:p>
            <a:fld id="{22B58C05-38F5-46EB-BECD-5394A7777BCD}" type="slidenum">
              <a:rPr lang="en-US" smtClean="0"/>
              <a:t>39</a:t>
            </a:fld>
            <a:endParaRPr lang="en-US"/>
          </a:p>
        </p:txBody>
      </p:sp>
    </p:spTree>
    <p:extLst>
      <p:ext uri="{BB962C8B-B14F-4D97-AF65-F5344CB8AC3E}">
        <p14:creationId xmlns:p14="http://schemas.microsoft.com/office/powerpoint/2010/main" val="645001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8485-5DF1-2EB8-B576-B13FFCBF7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6C20D-B787-9883-A3CB-F739B84B7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1221C-67C3-4B7C-DC54-6D6013C73106}"/>
              </a:ext>
            </a:extLst>
          </p:cNvPr>
          <p:cNvSpPr>
            <a:spLocks noGrp="1"/>
          </p:cNvSpPr>
          <p:nvPr>
            <p:ph type="body" idx="1"/>
          </p:nvPr>
        </p:nvSpPr>
        <p:spPr/>
        <p:txBody>
          <a:bodyPr/>
          <a:lstStyle/>
          <a:p>
            <a:r>
              <a:rPr lang="en-US"/>
              <a:t>The goal of this study is to experiment with different ways of integrating AI into our coding process. We are building trust with AI so that we can feel comfortable and confident allowing it to classify organizational language at scale.</a:t>
            </a:r>
          </a:p>
        </p:txBody>
      </p:sp>
      <p:sp>
        <p:nvSpPr>
          <p:cNvPr id="4" name="Slide Number Placeholder 3">
            <a:extLst>
              <a:ext uri="{FF2B5EF4-FFF2-40B4-BE49-F238E27FC236}">
                <a16:creationId xmlns:a16="http://schemas.microsoft.com/office/drawing/2014/main" id="{7360BCEE-972A-3F53-9B2D-BDDAB217C05C}"/>
              </a:ext>
            </a:extLst>
          </p:cNvPr>
          <p:cNvSpPr>
            <a:spLocks noGrp="1"/>
          </p:cNvSpPr>
          <p:nvPr>
            <p:ph type="sldNum" sz="quarter" idx="5"/>
          </p:nvPr>
        </p:nvSpPr>
        <p:spPr/>
        <p:txBody>
          <a:bodyPr/>
          <a:lstStyle/>
          <a:p>
            <a:fld id="{22B58C05-38F5-46EB-BECD-5394A7777BCD}" type="slidenum">
              <a:rPr lang="en-US" smtClean="0"/>
              <a:t>40</a:t>
            </a:fld>
            <a:endParaRPr lang="en-US"/>
          </a:p>
        </p:txBody>
      </p:sp>
    </p:spTree>
    <p:extLst>
      <p:ext uri="{BB962C8B-B14F-4D97-AF65-F5344CB8AC3E}">
        <p14:creationId xmlns:p14="http://schemas.microsoft.com/office/powerpoint/2010/main" val="38105482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76448-075B-27F8-E6F7-6277ACD50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7BA9C-C067-8472-2948-F58DC9BA4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0E1393-0883-102A-47E6-29B5255CC02D}"/>
              </a:ext>
            </a:extLst>
          </p:cNvPr>
          <p:cNvSpPr>
            <a:spLocks noGrp="1"/>
          </p:cNvSpPr>
          <p:nvPr>
            <p:ph type="body" idx="1"/>
          </p:nvPr>
        </p:nvSpPr>
        <p:spPr/>
        <p:txBody>
          <a:bodyPr/>
          <a:lstStyle/>
          <a:p>
            <a:r>
              <a:rPr lang="en-US"/>
              <a:t>The goal of this study is to experiment with different ways of integrating AI into our coding process. We are building trust with AI so that we can feel comfortable and confident allowing it to classify organizational language at scale.</a:t>
            </a:r>
          </a:p>
        </p:txBody>
      </p:sp>
      <p:sp>
        <p:nvSpPr>
          <p:cNvPr id="4" name="Slide Number Placeholder 3">
            <a:extLst>
              <a:ext uri="{FF2B5EF4-FFF2-40B4-BE49-F238E27FC236}">
                <a16:creationId xmlns:a16="http://schemas.microsoft.com/office/drawing/2014/main" id="{451C641F-9B1F-59CD-F529-42EB46084BFF}"/>
              </a:ext>
            </a:extLst>
          </p:cNvPr>
          <p:cNvSpPr>
            <a:spLocks noGrp="1"/>
          </p:cNvSpPr>
          <p:nvPr>
            <p:ph type="sldNum" sz="quarter" idx="5"/>
          </p:nvPr>
        </p:nvSpPr>
        <p:spPr/>
        <p:txBody>
          <a:bodyPr/>
          <a:lstStyle/>
          <a:p>
            <a:fld id="{22B58C05-38F5-46EB-BECD-5394A7777BCD}" type="slidenum">
              <a:rPr lang="en-US" smtClean="0"/>
              <a:t>41</a:t>
            </a:fld>
            <a:endParaRPr lang="en-US"/>
          </a:p>
        </p:txBody>
      </p:sp>
    </p:spTree>
    <p:extLst>
      <p:ext uri="{BB962C8B-B14F-4D97-AF65-F5344CB8AC3E}">
        <p14:creationId xmlns:p14="http://schemas.microsoft.com/office/powerpoint/2010/main" val="21428105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F04E6-2237-55A6-30E3-F4C1A0419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ECA11-56BD-AD8F-FCAD-9BA46043E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2A51E-C02F-7B32-858C-09A72C64A2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6F91C5-E5CA-274C-0B7B-7D1BB583F030}"/>
              </a:ext>
            </a:extLst>
          </p:cNvPr>
          <p:cNvSpPr>
            <a:spLocks noGrp="1"/>
          </p:cNvSpPr>
          <p:nvPr>
            <p:ph type="sldNum" sz="quarter" idx="5"/>
          </p:nvPr>
        </p:nvSpPr>
        <p:spPr/>
        <p:txBody>
          <a:bodyPr/>
          <a:lstStyle/>
          <a:p>
            <a:fld id="{22B58C05-38F5-46EB-BECD-5394A7777BCD}" type="slidenum">
              <a:rPr lang="en-US" smtClean="0"/>
              <a:t>42</a:t>
            </a:fld>
            <a:endParaRPr lang="en-US"/>
          </a:p>
        </p:txBody>
      </p:sp>
    </p:spTree>
    <p:extLst>
      <p:ext uri="{BB962C8B-B14F-4D97-AF65-F5344CB8AC3E}">
        <p14:creationId xmlns:p14="http://schemas.microsoft.com/office/powerpoint/2010/main" val="6100530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for listening to our learning journey with GenAI, and I look forward to your questions and feedback.</a:t>
            </a:r>
          </a:p>
        </p:txBody>
      </p:sp>
      <p:sp>
        <p:nvSpPr>
          <p:cNvPr id="4" name="Slide Number Placeholder 3"/>
          <p:cNvSpPr>
            <a:spLocks noGrp="1"/>
          </p:cNvSpPr>
          <p:nvPr>
            <p:ph type="sldNum" sz="quarter" idx="5"/>
          </p:nvPr>
        </p:nvSpPr>
        <p:spPr/>
        <p:txBody>
          <a:bodyPr/>
          <a:lstStyle/>
          <a:p>
            <a:fld id="{22B58C05-38F5-46EB-BECD-5394A7777BCD}" type="slidenum">
              <a:rPr lang="en-US" smtClean="0"/>
              <a:t>43</a:t>
            </a:fld>
            <a:endParaRPr lang="en-US"/>
          </a:p>
        </p:txBody>
      </p:sp>
    </p:spTree>
    <p:extLst>
      <p:ext uri="{BB962C8B-B14F-4D97-AF65-F5344CB8AC3E}">
        <p14:creationId xmlns:p14="http://schemas.microsoft.com/office/powerpoint/2010/main" val="20835465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Symbolic elements/language. Complicated definition – ILs. people speech and organizations talk in their documents. Material practices – decisions. This study focuses on language but we expect it to relate to how organizations behave. </a:t>
            </a:r>
          </a:p>
        </p:txBody>
      </p:sp>
      <p:sp>
        <p:nvSpPr>
          <p:cNvPr id="4" name="Slide Number Placeholder 3"/>
          <p:cNvSpPr>
            <a:spLocks noGrp="1"/>
          </p:cNvSpPr>
          <p:nvPr>
            <p:ph type="sldNum" sz="quarter" idx="5"/>
          </p:nvPr>
        </p:nvSpPr>
        <p:spPr/>
        <p:txBody>
          <a:bodyPr/>
          <a:lstStyle/>
          <a:p>
            <a:fld id="{22B58C05-38F5-46EB-BECD-5394A7777BCD}" type="slidenum">
              <a:rPr lang="en-US" smtClean="0"/>
              <a:t>45</a:t>
            </a:fld>
            <a:endParaRPr lang="en-US"/>
          </a:p>
        </p:txBody>
      </p:sp>
    </p:spTree>
    <p:extLst>
      <p:ext uri="{BB962C8B-B14F-4D97-AF65-F5344CB8AC3E}">
        <p14:creationId xmlns:p14="http://schemas.microsoft.com/office/powerpoint/2010/main" val="2446426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Organizations negotiate identity change by leveraging resources from different logics across time and space (</a:t>
            </a:r>
            <a:r>
              <a:rPr lang="en-US" err="1"/>
              <a:t>Højgaard</a:t>
            </a:r>
            <a:r>
              <a:rPr lang="en-US"/>
              <a:t> Christiansen &amp; Lounsbury, 2013).</a:t>
            </a:r>
          </a:p>
          <a:p>
            <a:endParaRPr lang="en-US"/>
          </a:p>
        </p:txBody>
      </p:sp>
      <p:sp>
        <p:nvSpPr>
          <p:cNvPr id="4" name="Slide Number Placeholder 3"/>
          <p:cNvSpPr>
            <a:spLocks noGrp="1"/>
          </p:cNvSpPr>
          <p:nvPr>
            <p:ph type="sldNum" sz="quarter" idx="5"/>
          </p:nvPr>
        </p:nvSpPr>
        <p:spPr/>
        <p:txBody>
          <a:bodyPr/>
          <a:lstStyle/>
          <a:p>
            <a:fld id="{22B58C05-38F5-46EB-BECD-5394A7777BCD}" type="slidenum">
              <a:rPr lang="en-US" smtClean="0"/>
              <a:t>49</a:t>
            </a:fld>
            <a:endParaRPr lang="en-US"/>
          </a:p>
        </p:txBody>
      </p:sp>
    </p:spTree>
    <p:extLst>
      <p:ext uri="{BB962C8B-B14F-4D97-AF65-F5344CB8AC3E}">
        <p14:creationId xmlns:p14="http://schemas.microsoft.com/office/powerpoint/2010/main" val="26666968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B58C05-38F5-46EB-BECD-5394A7777BCD}" type="slidenum">
              <a:rPr lang="en-US" smtClean="0"/>
              <a:t>54</a:t>
            </a:fld>
            <a:endParaRPr lang="en-US"/>
          </a:p>
        </p:txBody>
      </p:sp>
    </p:spTree>
    <p:extLst>
      <p:ext uri="{BB962C8B-B14F-4D97-AF65-F5344CB8AC3E}">
        <p14:creationId xmlns:p14="http://schemas.microsoft.com/office/powerpoint/2010/main" val="39038184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0DBB5-B213-075A-9F12-6915F5D7F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BEEC4-82A6-7FF4-C911-AFB6538C9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AC3A7-4EB2-DD49-C0B5-FF93D2B9CBDE}"/>
              </a:ext>
            </a:extLst>
          </p:cNvPr>
          <p:cNvSpPr>
            <a:spLocks noGrp="1"/>
          </p:cNvSpPr>
          <p:nvPr>
            <p:ph type="body" idx="1"/>
          </p:nvPr>
        </p:nvSpPr>
        <p:spPr/>
        <p:txBody>
          <a:bodyPr/>
          <a:lstStyle/>
          <a:p>
            <a:r>
              <a:rPr lang="en-US"/>
              <a:t>Service provision and who has access. Grantmaking decisions. Highlight practice and language. We focus on language but we are ultimately interested in practice. For each logic, we’re interested in the language that reflects them. Ultimately, we want it to reflect behavior. why we care originally, one would be dominate and win out. Now the thinking is institutional bricolage. Combination of logics. </a:t>
            </a:r>
          </a:p>
        </p:txBody>
      </p:sp>
      <p:sp>
        <p:nvSpPr>
          <p:cNvPr id="4" name="Slide Number Placeholder 3">
            <a:extLst>
              <a:ext uri="{FF2B5EF4-FFF2-40B4-BE49-F238E27FC236}">
                <a16:creationId xmlns:a16="http://schemas.microsoft.com/office/drawing/2014/main" id="{9E8DABB6-5893-52A6-A0EF-017F88486D31}"/>
              </a:ext>
            </a:extLst>
          </p:cNvPr>
          <p:cNvSpPr>
            <a:spLocks noGrp="1"/>
          </p:cNvSpPr>
          <p:nvPr>
            <p:ph type="sldNum" sz="quarter" idx="5"/>
          </p:nvPr>
        </p:nvSpPr>
        <p:spPr/>
        <p:txBody>
          <a:bodyPr/>
          <a:lstStyle/>
          <a:p>
            <a:fld id="{22B58C05-38F5-46EB-BECD-5394A7777BCD}" type="slidenum">
              <a:rPr lang="en-US" smtClean="0"/>
              <a:t>55</a:t>
            </a:fld>
            <a:endParaRPr lang="en-US"/>
          </a:p>
        </p:txBody>
      </p:sp>
    </p:spTree>
    <p:extLst>
      <p:ext uri="{BB962C8B-B14F-4D97-AF65-F5344CB8AC3E}">
        <p14:creationId xmlns:p14="http://schemas.microsoft.com/office/powerpoint/2010/main" val="1401542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Aptos" panose="020B0004020202020204" pitchFamily="34" charset="0"/>
              </a:rPr>
              <a:t>To identify language from annual reports reflecting each ideal CF logic, we used a two-cycle process involving both provisional and elaborative coding </a:t>
            </a:r>
            <a:r>
              <a:rPr lang="en-US" sz="1800" kern="0">
                <a:effectLst/>
                <a:latin typeface="Times New Roman" panose="02020603050405020304" pitchFamily="18" charset="0"/>
                <a:ea typeface="Aptos" panose="020B0004020202020204" pitchFamily="34" charset="0"/>
              </a:rPr>
              <a:t>(</a:t>
            </a:r>
            <a:r>
              <a:rPr lang="en-US" sz="1800" kern="0" err="1">
                <a:effectLst/>
                <a:latin typeface="Times New Roman" panose="02020603050405020304" pitchFamily="18" charset="0"/>
                <a:ea typeface="Aptos" panose="020B0004020202020204" pitchFamily="34" charset="0"/>
              </a:rPr>
              <a:t>Saldaña</a:t>
            </a:r>
            <a:r>
              <a:rPr lang="en-US" sz="1800" kern="0">
                <a:effectLst/>
                <a:latin typeface="Times New Roman" panose="02020603050405020304" pitchFamily="18" charset="0"/>
                <a:ea typeface="Aptos" panose="020B0004020202020204" pitchFamily="34" charset="0"/>
              </a:rPr>
              <a:t>, 2021)</a:t>
            </a:r>
            <a:r>
              <a:rPr lang="en-US" sz="1800">
                <a:effectLst/>
                <a:latin typeface="Times New Roman" panose="02020603050405020304" pitchFamily="18" charset="0"/>
                <a:ea typeface="Aptos" panose="020B0004020202020204" pitchFamily="34" charset="0"/>
              </a:rPr>
              <a:t>. Following </a:t>
            </a:r>
            <a:r>
              <a:rPr lang="en-US" sz="1800" err="1">
                <a:effectLst/>
                <a:latin typeface="Times New Roman" panose="02020603050405020304" pitchFamily="18" charset="0"/>
                <a:ea typeface="Aptos" panose="020B0004020202020204" pitchFamily="34" charset="0"/>
              </a:rPr>
              <a:t>Goodrick</a:t>
            </a:r>
            <a:r>
              <a:rPr lang="en-US" sz="1800">
                <a:effectLst/>
                <a:latin typeface="Times New Roman" panose="02020603050405020304" pitchFamily="18" charset="0"/>
                <a:ea typeface="Aptos" panose="020B0004020202020204" pitchFamily="34" charset="0"/>
              </a:rPr>
              <a:t> and Reay (2011) who identified pharmacy work characteristics associated with four ideal type ILs of pharmacy, we used relevant academic and practitioner sources to identify values and practices for each ideal type CF logic described earlier. This table of values and practices associated with the four ideal CF logics was used as a provisional codebook during first-cycle coding (Miles et al., 2014) and refined during elaborative coding</a:t>
            </a:r>
          </a:p>
          <a:p>
            <a:endParaRPr lang="en-US" sz="1800">
              <a:effectLst/>
              <a:latin typeface="Times New Roman" panose="02020603050405020304" pitchFamily="18" charset="0"/>
            </a:endParaRPr>
          </a:p>
          <a:p>
            <a:r>
              <a:rPr lang="en-US" sz="1800">
                <a:effectLst/>
                <a:latin typeface="Times New Roman" panose="02020603050405020304" pitchFamily="18" charset="0"/>
              </a:rPr>
              <a:t>Actually organizational language in use, we did two cycle coding process</a:t>
            </a:r>
            <a:endParaRPr lang="en-US"/>
          </a:p>
        </p:txBody>
      </p:sp>
      <p:sp>
        <p:nvSpPr>
          <p:cNvPr id="4" name="Slide Number Placeholder 3"/>
          <p:cNvSpPr>
            <a:spLocks noGrp="1"/>
          </p:cNvSpPr>
          <p:nvPr>
            <p:ph type="sldNum" sz="quarter" idx="5"/>
          </p:nvPr>
        </p:nvSpPr>
        <p:spPr/>
        <p:txBody>
          <a:bodyPr/>
          <a:lstStyle/>
          <a:p>
            <a:fld id="{22B58C05-38F5-46EB-BECD-5394A7777BCD}" type="slidenum">
              <a:rPr lang="en-US" smtClean="0"/>
              <a:t>56</a:t>
            </a:fld>
            <a:endParaRPr lang="en-US"/>
          </a:p>
        </p:txBody>
      </p:sp>
    </p:spTree>
    <p:extLst>
      <p:ext uri="{BB962C8B-B14F-4D97-AF65-F5344CB8AC3E}">
        <p14:creationId xmlns:p14="http://schemas.microsoft.com/office/powerpoint/2010/main" val="13986063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Contribution – we did find language that reflected each logic. Through that process we refined our codebook. Just do one, why we care? Pure reflections but we also found evidence of institutional bricolages. </a:t>
            </a:r>
          </a:p>
        </p:txBody>
      </p:sp>
      <p:sp>
        <p:nvSpPr>
          <p:cNvPr id="4" name="Slide Number Placeholder 3"/>
          <p:cNvSpPr>
            <a:spLocks noGrp="1"/>
          </p:cNvSpPr>
          <p:nvPr>
            <p:ph type="sldNum" sz="quarter" idx="5"/>
          </p:nvPr>
        </p:nvSpPr>
        <p:spPr/>
        <p:txBody>
          <a:bodyPr/>
          <a:lstStyle/>
          <a:p>
            <a:fld id="{22B58C05-38F5-46EB-BECD-5394A7777BCD}" type="slidenum">
              <a:rPr lang="en-US" smtClean="0"/>
              <a:t>57</a:t>
            </a:fld>
            <a:endParaRPr lang="en-US"/>
          </a:p>
        </p:txBody>
      </p:sp>
    </p:spTree>
    <p:extLst>
      <p:ext uri="{BB962C8B-B14F-4D97-AF65-F5344CB8AC3E}">
        <p14:creationId xmlns:p14="http://schemas.microsoft.com/office/powerpoint/2010/main" val="10469424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458D-31E3-8F92-0CAD-CE74AF9DC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4F49E-E34E-0523-85E8-DE5F60DCB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54039-8FB7-7D1A-59F9-1DAF98B63D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CBD43E-5102-C78B-DA19-339DBBE9817B}"/>
              </a:ext>
            </a:extLst>
          </p:cNvPr>
          <p:cNvSpPr>
            <a:spLocks noGrp="1"/>
          </p:cNvSpPr>
          <p:nvPr>
            <p:ph type="sldNum" sz="quarter" idx="5"/>
          </p:nvPr>
        </p:nvSpPr>
        <p:spPr/>
        <p:txBody>
          <a:bodyPr/>
          <a:lstStyle/>
          <a:p>
            <a:fld id="{22B58C05-38F5-46EB-BECD-5394A7777BCD}" type="slidenum">
              <a:rPr lang="en-US" smtClean="0"/>
              <a:t>58</a:t>
            </a:fld>
            <a:endParaRPr lang="en-US"/>
          </a:p>
        </p:txBody>
      </p:sp>
    </p:spTree>
    <p:extLst>
      <p:ext uri="{BB962C8B-B14F-4D97-AF65-F5344CB8AC3E}">
        <p14:creationId xmlns:p14="http://schemas.microsoft.com/office/powerpoint/2010/main" val="24374685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of inconsistent classification decision for the same excerpt. If we treat LM like a coding partner, may be too much to expect that it comes up with the same response every time. For example, as human coders, we might revisit the same codes and make different decisions. </a:t>
            </a:r>
          </a:p>
        </p:txBody>
      </p:sp>
      <p:sp>
        <p:nvSpPr>
          <p:cNvPr id="4" name="Slide Number Placeholder 3"/>
          <p:cNvSpPr>
            <a:spLocks noGrp="1"/>
          </p:cNvSpPr>
          <p:nvPr>
            <p:ph type="sldNum" sz="quarter" idx="5"/>
          </p:nvPr>
        </p:nvSpPr>
        <p:spPr/>
        <p:txBody>
          <a:bodyPr/>
          <a:lstStyle/>
          <a:p>
            <a:fld id="{22B58C05-38F5-46EB-BECD-5394A7777BCD}" type="slidenum">
              <a:rPr lang="en-US" smtClean="0"/>
              <a:t>60</a:t>
            </a:fld>
            <a:endParaRPr lang="en-US"/>
          </a:p>
        </p:txBody>
      </p:sp>
    </p:spTree>
    <p:extLst>
      <p:ext uri="{BB962C8B-B14F-4D97-AF65-F5344CB8AC3E}">
        <p14:creationId xmlns:p14="http://schemas.microsoft.com/office/powerpoint/2010/main" val="19680353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3BEAD-E86D-1670-2DBA-C843226D2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64083-5589-6006-52D7-1A459EDA1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B5D47-9981-30DF-7A38-C48F38C5FF6A}"/>
              </a:ext>
            </a:extLst>
          </p:cNvPr>
          <p:cNvSpPr>
            <a:spLocks noGrp="1"/>
          </p:cNvSpPr>
          <p:nvPr>
            <p:ph type="body" idx="1"/>
          </p:nvPr>
        </p:nvSpPr>
        <p:spPr/>
        <p:txBody>
          <a:bodyPr/>
          <a:lstStyle/>
          <a:p>
            <a:r>
              <a:rPr lang="en-US"/>
              <a:t>These are two PPG excerpts that failed both our direct and relaxed match standards. In the first example, it is evident there is not enough context for the LM to make a confident decision. In the second case, its weight disagrees with our coding but is actually reasonable. We are trying to leave space for the LM to provide suggestions that may disagree with our coding but be reasonable as is the case when working with a team of human coders and working to reach consensus. As we have developed prompts, we have gone through incorrectly classified excerpts to make sense of these differences and find which ones are “reasonable” and which ones truly fail to align with our codebook. We use this information to refine our prompts. </a:t>
            </a:r>
          </a:p>
        </p:txBody>
      </p:sp>
      <p:sp>
        <p:nvSpPr>
          <p:cNvPr id="4" name="Slide Number Placeholder 3">
            <a:extLst>
              <a:ext uri="{FF2B5EF4-FFF2-40B4-BE49-F238E27FC236}">
                <a16:creationId xmlns:a16="http://schemas.microsoft.com/office/drawing/2014/main" id="{54E71FF8-7BFF-C454-C6D8-6B66AA2F5D23}"/>
              </a:ext>
            </a:extLst>
          </p:cNvPr>
          <p:cNvSpPr>
            <a:spLocks noGrp="1"/>
          </p:cNvSpPr>
          <p:nvPr>
            <p:ph type="sldNum" sz="quarter" idx="5"/>
          </p:nvPr>
        </p:nvSpPr>
        <p:spPr/>
        <p:txBody>
          <a:bodyPr/>
          <a:lstStyle/>
          <a:p>
            <a:fld id="{22B58C05-38F5-46EB-BECD-5394A7777BCD}" type="slidenum">
              <a:rPr lang="en-US" smtClean="0"/>
              <a:t>62</a:t>
            </a:fld>
            <a:endParaRPr lang="en-US"/>
          </a:p>
        </p:txBody>
      </p:sp>
    </p:spTree>
    <p:extLst>
      <p:ext uri="{BB962C8B-B14F-4D97-AF65-F5344CB8AC3E}">
        <p14:creationId xmlns:p14="http://schemas.microsoft.com/office/powerpoint/2010/main" val="18032943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A5F5D-1787-D6D2-9D8C-A7646B292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E9F90-E2EB-20F5-3C33-3B3C9F153D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7EA0D-05B9-39B6-135D-A9C80776E1D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If the prompt is too long or you are feeding it too much information, the LM can “forget” some of the instructions (experienced this when we fed the report for context). Formatting consistency – need to be clear about the exact format you would like returned. LM is trained on a vast amount of data so it will often make an inference about what “social change” means even if it doesn’t align with our prompt. </a:t>
            </a:r>
          </a:p>
        </p:txBody>
      </p:sp>
      <p:sp>
        <p:nvSpPr>
          <p:cNvPr id="4" name="Slide Number Placeholder 3">
            <a:extLst>
              <a:ext uri="{FF2B5EF4-FFF2-40B4-BE49-F238E27FC236}">
                <a16:creationId xmlns:a16="http://schemas.microsoft.com/office/drawing/2014/main" id="{8AFEECBF-2661-EDB6-965B-9894861A79D5}"/>
              </a:ext>
            </a:extLst>
          </p:cNvPr>
          <p:cNvSpPr>
            <a:spLocks noGrp="1"/>
          </p:cNvSpPr>
          <p:nvPr>
            <p:ph type="sldNum" sz="quarter" idx="5"/>
          </p:nvPr>
        </p:nvSpPr>
        <p:spPr/>
        <p:txBody>
          <a:bodyPr/>
          <a:lstStyle/>
          <a:p>
            <a:fld id="{22B58C05-38F5-46EB-BECD-5394A7777BCD}" type="slidenum">
              <a:rPr lang="en-US" smtClean="0"/>
              <a:t>63</a:t>
            </a:fld>
            <a:endParaRPr lang="en-US"/>
          </a:p>
        </p:txBody>
      </p:sp>
    </p:spTree>
    <p:extLst>
      <p:ext uri="{BB962C8B-B14F-4D97-AF65-F5344CB8AC3E}">
        <p14:creationId xmlns:p14="http://schemas.microsoft.com/office/powerpoint/2010/main" val="3003567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727FA-22D5-1850-632F-A1C802E16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EEB9B-2B99-B926-0A5D-F29322FB9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F4A41-0476-2D5B-75FE-775D6CAC3692}"/>
              </a:ext>
            </a:extLst>
          </p:cNvPr>
          <p:cNvSpPr>
            <a:spLocks noGrp="1"/>
          </p:cNvSpPr>
          <p:nvPr>
            <p:ph type="body" idx="1"/>
          </p:nvPr>
        </p:nvSpPr>
        <p:spPr/>
        <p:txBody>
          <a:bodyPr/>
          <a:lstStyle/>
          <a:p>
            <a:r>
              <a:rPr lang="en-US"/>
              <a:t>Here is our prompt. We start with some background information about the excerpts, initial instructions, and move into definitions of each logic. </a:t>
            </a:r>
          </a:p>
        </p:txBody>
      </p:sp>
      <p:sp>
        <p:nvSpPr>
          <p:cNvPr id="4" name="Slide Number Placeholder 3">
            <a:extLst>
              <a:ext uri="{FF2B5EF4-FFF2-40B4-BE49-F238E27FC236}">
                <a16:creationId xmlns:a16="http://schemas.microsoft.com/office/drawing/2014/main" id="{E37A8939-8CA8-67FD-FC66-21B82F1A6F89}"/>
              </a:ext>
            </a:extLst>
          </p:cNvPr>
          <p:cNvSpPr>
            <a:spLocks noGrp="1"/>
          </p:cNvSpPr>
          <p:nvPr>
            <p:ph type="sldNum" sz="quarter" idx="5"/>
          </p:nvPr>
        </p:nvSpPr>
        <p:spPr/>
        <p:txBody>
          <a:bodyPr/>
          <a:lstStyle/>
          <a:p>
            <a:fld id="{22B58C05-38F5-46EB-BECD-5394A7777BCD}" type="slidenum">
              <a:rPr lang="en-US" smtClean="0"/>
              <a:t>64</a:t>
            </a:fld>
            <a:endParaRPr lang="en-US"/>
          </a:p>
        </p:txBody>
      </p:sp>
    </p:spTree>
    <p:extLst>
      <p:ext uri="{BB962C8B-B14F-4D97-AF65-F5344CB8AC3E}">
        <p14:creationId xmlns:p14="http://schemas.microsoft.com/office/powerpoint/2010/main" val="33206862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96FE9-2D24-9B61-73F2-8F558C4EE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935E4-940F-4114-42E7-7F6CAC9C4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334CA-AC65-6948-F8C6-92A795E6F510}"/>
              </a:ext>
            </a:extLst>
          </p:cNvPr>
          <p:cNvSpPr>
            <a:spLocks noGrp="1"/>
          </p:cNvSpPr>
          <p:nvPr>
            <p:ph type="body" idx="1"/>
          </p:nvPr>
        </p:nvSpPr>
        <p:spPr/>
        <p:txBody>
          <a:bodyPr/>
          <a:lstStyle/>
          <a:p>
            <a:r>
              <a:rPr lang="en-US"/>
              <a:t>Logic definitions cont. </a:t>
            </a:r>
          </a:p>
        </p:txBody>
      </p:sp>
      <p:sp>
        <p:nvSpPr>
          <p:cNvPr id="4" name="Slide Number Placeholder 3">
            <a:extLst>
              <a:ext uri="{FF2B5EF4-FFF2-40B4-BE49-F238E27FC236}">
                <a16:creationId xmlns:a16="http://schemas.microsoft.com/office/drawing/2014/main" id="{5EE78229-5AD8-DC99-49C6-86332A5760D0}"/>
              </a:ext>
            </a:extLst>
          </p:cNvPr>
          <p:cNvSpPr>
            <a:spLocks noGrp="1"/>
          </p:cNvSpPr>
          <p:nvPr>
            <p:ph type="sldNum" sz="quarter" idx="5"/>
          </p:nvPr>
        </p:nvSpPr>
        <p:spPr/>
        <p:txBody>
          <a:bodyPr/>
          <a:lstStyle/>
          <a:p>
            <a:fld id="{22B58C05-38F5-46EB-BECD-5394A7777BCD}" type="slidenum">
              <a:rPr lang="en-US" smtClean="0"/>
              <a:t>65</a:t>
            </a:fld>
            <a:endParaRPr lang="en-US"/>
          </a:p>
        </p:txBody>
      </p:sp>
    </p:spTree>
    <p:extLst>
      <p:ext uri="{BB962C8B-B14F-4D97-AF65-F5344CB8AC3E}">
        <p14:creationId xmlns:p14="http://schemas.microsoft.com/office/powerpoint/2010/main" val="25867526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3F939-AC3E-6B43-E1D6-4494C4176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0EAA5-2A82-1811-C2D9-90818AC0D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D33BF-6EE6-AD95-D92E-5DCE4A3F14DD}"/>
              </a:ext>
            </a:extLst>
          </p:cNvPr>
          <p:cNvSpPr>
            <a:spLocks noGrp="1"/>
          </p:cNvSpPr>
          <p:nvPr>
            <p:ph type="body" idx="1"/>
          </p:nvPr>
        </p:nvSpPr>
        <p:spPr/>
        <p:txBody>
          <a:bodyPr/>
          <a:lstStyle/>
          <a:p>
            <a:r>
              <a:rPr lang="en-US"/>
              <a:t>We also added an instruction to not skip any excerpts, and we gave this command in all caps with an exclamation point to add emphasis. Sometimes the LM will refuse to code if it is uncertain, so this forces it to make a decision. </a:t>
            </a:r>
          </a:p>
        </p:txBody>
      </p:sp>
      <p:sp>
        <p:nvSpPr>
          <p:cNvPr id="4" name="Slide Number Placeholder 3">
            <a:extLst>
              <a:ext uri="{FF2B5EF4-FFF2-40B4-BE49-F238E27FC236}">
                <a16:creationId xmlns:a16="http://schemas.microsoft.com/office/drawing/2014/main" id="{D8CEDDEA-89A8-9567-BB7B-EA80C97ED1A7}"/>
              </a:ext>
            </a:extLst>
          </p:cNvPr>
          <p:cNvSpPr>
            <a:spLocks noGrp="1"/>
          </p:cNvSpPr>
          <p:nvPr>
            <p:ph type="sldNum" sz="quarter" idx="5"/>
          </p:nvPr>
        </p:nvSpPr>
        <p:spPr/>
        <p:txBody>
          <a:bodyPr/>
          <a:lstStyle/>
          <a:p>
            <a:fld id="{22B58C05-38F5-46EB-BECD-5394A7777BCD}" type="slidenum">
              <a:rPr lang="en-US" smtClean="0"/>
              <a:t>66</a:t>
            </a:fld>
            <a:endParaRPr lang="en-US"/>
          </a:p>
        </p:txBody>
      </p:sp>
    </p:spTree>
    <p:extLst>
      <p:ext uri="{BB962C8B-B14F-4D97-AF65-F5344CB8AC3E}">
        <p14:creationId xmlns:p14="http://schemas.microsoft.com/office/powerpoint/2010/main" val="17738296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B036-F37A-8555-8948-A737BC678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8A6B4-20D4-254E-C322-78D09BE321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90B01-123A-CADE-5A49-EBD0D64DC573}"/>
              </a:ext>
            </a:extLst>
          </p:cNvPr>
          <p:cNvSpPr>
            <a:spLocks noGrp="1"/>
          </p:cNvSpPr>
          <p:nvPr>
            <p:ph type="body" idx="1"/>
          </p:nvPr>
        </p:nvSpPr>
        <p:spPr/>
        <p:txBody>
          <a:bodyPr/>
          <a:lstStyle/>
          <a:p>
            <a:r>
              <a:rPr lang="en-US"/>
              <a:t>Added an instruction not to over-rely on key words but to appreciate their use in the broader excerpt context. We provided a specific output format we are looking for and were strict in our wording of this command.</a:t>
            </a:r>
          </a:p>
        </p:txBody>
      </p:sp>
      <p:sp>
        <p:nvSpPr>
          <p:cNvPr id="4" name="Slide Number Placeholder 3">
            <a:extLst>
              <a:ext uri="{FF2B5EF4-FFF2-40B4-BE49-F238E27FC236}">
                <a16:creationId xmlns:a16="http://schemas.microsoft.com/office/drawing/2014/main" id="{E15097D6-B692-268B-E5B3-AFB365124173}"/>
              </a:ext>
            </a:extLst>
          </p:cNvPr>
          <p:cNvSpPr>
            <a:spLocks noGrp="1"/>
          </p:cNvSpPr>
          <p:nvPr>
            <p:ph type="sldNum" sz="quarter" idx="5"/>
          </p:nvPr>
        </p:nvSpPr>
        <p:spPr/>
        <p:txBody>
          <a:bodyPr/>
          <a:lstStyle/>
          <a:p>
            <a:fld id="{22B58C05-38F5-46EB-BECD-5394A7777BCD}" type="slidenum">
              <a:rPr lang="en-US" smtClean="0"/>
              <a:t>67</a:t>
            </a:fld>
            <a:endParaRPr lang="en-US"/>
          </a:p>
        </p:txBody>
      </p:sp>
    </p:spTree>
    <p:extLst>
      <p:ext uri="{BB962C8B-B14F-4D97-AF65-F5344CB8AC3E}">
        <p14:creationId xmlns:p14="http://schemas.microsoft.com/office/powerpoint/2010/main" val="18134062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988FC-57B6-B462-5C10-03905653F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12E4B-B3CD-969E-4A79-B6395CF2F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C86C8-50A5-B9C2-229A-57A2D1B25181}"/>
              </a:ext>
            </a:extLst>
          </p:cNvPr>
          <p:cNvSpPr>
            <a:spLocks noGrp="1"/>
          </p:cNvSpPr>
          <p:nvPr>
            <p:ph type="body" idx="1"/>
          </p:nvPr>
        </p:nvSpPr>
        <p:spPr/>
        <p:txBody>
          <a:bodyPr/>
          <a:lstStyle/>
          <a:p>
            <a:pPr algn="l"/>
            <a:r>
              <a:rPr lang="en-US"/>
              <a:t>Excerpt 5 is an example that did not meet the direct match but did satisfy the “realistic” match for PCT. The justification is problematic, however, because it makes a lot of inferences to assign weights. Here is the justification “Justification=</a:t>
            </a:r>
            <a:r>
              <a:rPr lang="en-US" err="1"/>
              <a:t>RawScores</a:t>
            </a:r>
            <a:r>
              <a:rPr lang="en-US"/>
              <a:t>=PCT=4;DS=0;PPG=2;SC=4;Philanthropic Community Trust is present due to the mention of charitable giving and stewardship, suggesting responsible management of resources and a commitment to the community. Donor Services is not present because the excerpt does not mention donor preferences or strategies. Public Private Governance is present due to the focus on impacting the community, which could involve cross-sector collaborations and initiatives. Social Change is present due to the focus on positively impacting the community, which could involve addressing systemic inequities and creating a more just society.” For excerpt 60, the direct match does align with our coding of social change. The problematic aspect of that classification is that the LM “sprinkles” points to PCT and DS that don’t really fit. “</a:t>
            </a:r>
            <a:r>
              <a:rPr lang="en-US" err="1"/>
              <a:t>RawScores</a:t>
            </a:r>
            <a:r>
              <a:rPr lang="en-US"/>
              <a:t>=PCT=1;DS=1;PPG=3;SC=5; Philanthropic Community Trust is low because the excerpt focuses on social connection rather than financial stewardship. Donor Services is low because the excerpt does not mention donor intent or legacy. Public Private Governance is moderate because uniting people could be seen as a form of community leadership. Social Change is high because the initiative directly addresses divisiveness and aims to unite people across differing viewpoints, which aligns with negotiating diverse values.”</a:t>
            </a:r>
          </a:p>
        </p:txBody>
      </p:sp>
      <p:sp>
        <p:nvSpPr>
          <p:cNvPr id="4" name="Slide Number Placeholder 3">
            <a:extLst>
              <a:ext uri="{FF2B5EF4-FFF2-40B4-BE49-F238E27FC236}">
                <a16:creationId xmlns:a16="http://schemas.microsoft.com/office/drawing/2014/main" id="{B4C826BA-3012-CBD7-5FE3-0B594E1E56C7}"/>
              </a:ext>
            </a:extLst>
          </p:cNvPr>
          <p:cNvSpPr>
            <a:spLocks noGrp="1"/>
          </p:cNvSpPr>
          <p:nvPr>
            <p:ph type="sldNum" sz="quarter" idx="5"/>
          </p:nvPr>
        </p:nvSpPr>
        <p:spPr/>
        <p:txBody>
          <a:bodyPr/>
          <a:lstStyle/>
          <a:p>
            <a:fld id="{22B58C05-38F5-46EB-BECD-5394A7777BCD}" type="slidenum">
              <a:rPr lang="en-US" smtClean="0"/>
              <a:t>68</a:t>
            </a:fld>
            <a:endParaRPr lang="en-US"/>
          </a:p>
        </p:txBody>
      </p:sp>
    </p:spTree>
    <p:extLst>
      <p:ext uri="{BB962C8B-B14F-4D97-AF65-F5344CB8AC3E}">
        <p14:creationId xmlns:p14="http://schemas.microsoft.com/office/powerpoint/2010/main" val="27245814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FB410-08D1-69EA-3559-E02C18696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15ABA-0B53-F672-C3E2-A39061291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AB155-F800-E502-28FA-4F88D86DF926}"/>
              </a:ext>
            </a:extLst>
          </p:cNvPr>
          <p:cNvSpPr>
            <a:spLocks noGrp="1"/>
          </p:cNvSpPr>
          <p:nvPr>
            <p:ph type="body" idx="1"/>
          </p:nvPr>
        </p:nvSpPr>
        <p:spPr/>
        <p:txBody>
          <a:bodyPr/>
          <a:lstStyle/>
          <a:p>
            <a:pPr algn="l"/>
            <a:r>
              <a:rPr lang="en-US"/>
              <a:t>The classification of excerpt 77 strongly resonates with our codebook, except for the LM’s understanding of social change. The LM provided this justification: “Justification=</a:t>
            </a:r>
            <a:r>
              <a:rPr lang="en-US" err="1"/>
              <a:t>RawScores</a:t>
            </a:r>
            <a:r>
              <a:rPr lang="en-US"/>
              <a:t>=PCT=0;DS=9;PPG=0;SC=1; The excerpt focuses on memorializing loved ones and honoring families/individuals, which aligns strongly with donor intent and legacy planning, thus Donor Services. There is no mention of community benefit, fund management, or cross-sector collaboration, so Philanthropic Community Trust and Public Private Governance receive 0. The mention of honoring individuals could be interpreted as a nod to their social contributions, but it's weak, so Social Change receives a small allocation.” We coded excerpt 103 as PPG but the LM was unsure and when this excerpt popped up again (excerpt 104) the allocation was slightly different but still uncertain. It is good example of how the LM just doesn’t have the specialized knowledge we do about key words that trigger us to identify a certain logic/framing/ideology. Here was the provided justification: “Justification: </a:t>
            </a:r>
            <a:r>
              <a:rPr lang="en-US" err="1"/>
              <a:t>RawScores</a:t>
            </a:r>
            <a:r>
              <a:rPr lang="en-US"/>
              <a:t>=PCT=25;DS=25;PPG=25;SC=25; The excerpt is very general and could apply to any of the logics, as it describes the foundation's role in facilitating charitable activities without specifying the nature of those activities or the target beneficiaries. The excerpt does not provide enough information to favor one logic over another, so each is assigned an equal probability.”</a:t>
            </a:r>
          </a:p>
        </p:txBody>
      </p:sp>
      <p:sp>
        <p:nvSpPr>
          <p:cNvPr id="4" name="Slide Number Placeholder 3">
            <a:extLst>
              <a:ext uri="{FF2B5EF4-FFF2-40B4-BE49-F238E27FC236}">
                <a16:creationId xmlns:a16="http://schemas.microsoft.com/office/drawing/2014/main" id="{D0C6D441-A9C1-4B0E-8E68-29F5E0E4FCEE}"/>
              </a:ext>
            </a:extLst>
          </p:cNvPr>
          <p:cNvSpPr>
            <a:spLocks noGrp="1"/>
          </p:cNvSpPr>
          <p:nvPr>
            <p:ph type="sldNum" sz="quarter" idx="5"/>
          </p:nvPr>
        </p:nvSpPr>
        <p:spPr/>
        <p:txBody>
          <a:bodyPr/>
          <a:lstStyle/>
          <a:p>
            <a:fld id="{22B58C05-38F5-46EB-BECD-5394A7777BCD}" type="slidenum">
              <a:rPr lang="en-US" smtClean="0"/>
              <a:t>69</a:t>
            </a:fld>
            <a:endParaRPr lang="en-US"/>
          </a:p>
        </p:txBody>
      </p:sp>
    </p:spTree>
    <p:extLst>
      <p:ext uri="{BB962C8B-B14F-4D97-AF65-F5344CB8AC3E}">
        <p14:creationId xmlns:p14="http://schemas.microsoft.com/office/powerpoint/2010/main" val="3127298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Gray">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B7563A70-D23D-D7C3-314B-097E27A5202C}"/>
              </a:ext>
              <a:ext uri="{C183D7F6-B498-43B3-948B-1728B52AA6E4}">
                <adec:decorative xmlns:adec="http://schemas.microsoft.com/office/drawing/2017/decorative" val="1"/>
              </a:ext>
            </a:extLst>
          </p:cNvPr>
          <p:cNvSpPr/>
          <p:nvPr userDrawn="1"/>
        </p:nvSpPr>
        <p:spPr>
          <a:xfrm>
            <a:off x="0" y="1"/>
            <a:ext cx="12192000" cy="6147412"/>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2" name="Title 1">
            <a:extLst>
              <a:ext uri="{FF2B5EF4-FFF2-40B4-BE49-F238E27FC236}">
                <a16:creationId xmlns:a16="http://schemas.microsoft.com/office/drawing/2014/main" id="{7E9F839D-17A6-464E-BE22-E9B747DF33B1}"/>
              </a:ext>
            </a:extLst>
          </p:cNvPr>
          <p:cNvSpPr>
            <a:spLocks noGrp="1"/>
          </p:cNvSpPr>
          <p:nvPr>
            <p:ph type="ctrTitle" hasCustomPrompt="1"/>
          </p:nvPr>
        </p:nvSpPr>
        <p:spPr>
          <a:xfrm>
            <a:off x="1" y="1349829"/>
            <a:ext cx="12191998" cy="2124891"/>
          </a:xfrm>
          <a:noFill/>
        </p:spPr>
        <p:txBody>
          <a:bodyPr lIns="365760" anchor="b" anchorCtr="0">
            <a:normAutofit/>
          </a:bodyPr>
          <a:lstStyle>
            <a:lvl1pPr algn="l">
              <a:defRPr sz="5500"/>
            </a:lvl1pPr>
          </a:lstStyle>
          <a:p>
            <a:r>
              <a:rPr lang="en-US"/>
              <a:t>Click to edit master page title</a:t>
            </a:r>
          </a:p>
        </p:txBody>
      </p:sp>
      <p:sp>
        <p:nvSpPr>
          <p:cNvPr id="4" name="Text Placeholder 2">
            <a:extLst>
              <a:ext uri="{FF2B5EF4-FFF2-40B4-BE49-F238E27FC236}">
                <a16:creationId xmlns:a16="http://schemas.microsoft.com/office/drawing/2014/main" id="{999F202D-C0AE-BF9D-1D1B-6CAA26CEFC71}"/>
              </a:ext>
            </a:extLst>
          </p:cNvPr>
          <p:cNvSpPr>
            <a:spLocks noGrp="1"/>
          </p:cNvSpPr>
          <p:nvPr>
            <p:ph type="body" idx="1" hasCustomPrompt="1"/>
          </p:nvPr>
        </p:nvSpPr>
        <p:spPr>
          <a:xfrm>
            <a:off x="247973" y="3474720"/>
            <a:ext cx="11547152" cy="496976"/>
          </a:xfrm>
        </p:spPr>
        <p:txBody>
          <a:bodyPr>
            <a:normAutofit/>
          </a:bodyPr>
          <a:lstStyle>
            <a:lvl1pPr marL="0" indent="0">
              <a:buNone/>
              <a:defRPr sz="2400" b="0" i="0">
                <a:solidFill>
                  <a:srgbClr val="212325"/>
                </a:solidFill>
                <a:latin typeface="Buckeye Sans 2"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5" name="Content Placeholder 4">
            <a:extLst>
              <a:ext uri="{FF2B5EF4-FFF2-40B4-BE49-F238E27FC236}">
                <a16:creationId xmlns:a16="http://schemas.microsoft.com/office/drawing/2014/main" id="{894FD30C-A0F3-CE01-CFBC-C13B0288CB5B}"/>
              </a:ext>
            </a:extLst>
          </p:cNvPr>
          <p:cNvSpPr>
            <a:spLocks noGrp="1"/>
          </p:cNvSpPr>
          <p:nvPr>
            <p:ph sz="quarter" idx="10"/>
          </p:nvPr>
        </p:nvSpPr>
        <p:spPr>
          <a:xfrm>
            <a:off x="5359400" y="50974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813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839D-17A6-464E-BE22-E9B747DF33B1}"/>
              </a:ext>
            </a:extLst>
          </p:cNvPr>
          <p:cNvSpPr>
            <a:spLocks noGrp="1"/>
          </p:cNvSpPr>
          <p:nvPr>
            <p:ph type="ctrTitle" hasCustomPrompt="1"/>
          </p:nvPr>
        </p:nvSpPr>
        <p:spPr>
          <a:xfrm>
            <a:off x="0" y="1349829"/>
            <a:ext cx="12191999" cy="2124891"/>
          </a:xfrm>
          <a:noFill/>
        </p:spPr>
        <p:txBody>
          <a:bodyPr lIns="365760" anchor="b" anchorCtr="0">
            <a:normAutofit/>
          </a:bodyPr>
          <a:lstStyle>
            <a:lvl1pPr algn="l">
              <a:defRPr sz="5500"/>
            </a:lvl1pPr>
          </a:lstStyle>
          <a:p>
            <a:r>
              <a:rPr lang="en-US"/>
              <a:t>Click to edit master page title</a:t>
            </a:r>
          </a:p>
        </p:txBody>
      </p:sp>
      <p:sp>
        <p:nvSpPr>
          <p:cNvPr id="3" name="Text Placeholder 2">
            <a:extLst>
              <a:ext uri="{FF2B5EF4-FFF2-40B4-BE49-F238E27FC236}">
                <a16:creationId xmlns:a16="http://schemas.microsoft.com/office/drawing/2014/main" id="{FDDA1891-4F18-21D3-C42B-C393E26C9248}"/>
              </a:ext>
            </a:extLst>
          </p:cNvPr>
          <p:cNvSpPr>
            <a:spLocks noGrp="1"/>
          </p:cNvSpPr>
          <p:nvPr>
            <p:ph type="body" idx="1" hasCustomPrompt="1"/>
          </p:nvPr>
        </p:nvSpPr>
        <p:spPr>
          <a:xfrm>
            <a:off x="247973" y="3474720"/>
            <a:ext cx="11547152" cy="496976"/>
          </a:xfrm>
        </p:spPr>
        <p:txBody>
          <a:bodyPr>
            <a:normAutofit/>
          </a:bodyPr>
          <a:lstStyle>
            <a:lvl1pPr marL="0" indent="0">
              <a:buNone/>
              <a:defRPr sz="2400" b="0" i="0">
                <a:solidFill>
                  <a:srgbClr val="212325"/>
                </a:solidFill>
                <a:latin typeface="Buckeye Sans 2"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Tree>
    <p:extLst>
      <p:ext uri="{BB962C8B-B14F-4D97-AF65-F5344CB8AC3E}">
        <p14:creationId xmlns:p14="http://schemas.microsoft.com/office/powerpoint/2010/main" val="234877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839D-17A6-464E-BE22-E9B747DF33B1}"/>
              </a:ext>
            </a:extLst>
          </p:cNvPr>
          <p:cNvSpPr>
            <a:spLocks noGrp="1"/>
          </p:cNvSpPr>
          <p:nvPr>
            <p:ph type="ctrTitle" hasCustomPrompt="1"/>
          </p:nvPr>
        </p:nvSpPr>
        <p:spPr>
          <a:xfrm>
            <a:off x="1" y="4362996"/>
            <a:ext cx="12191998" cy="1066800"/>
          </a:xfrm>
          <a:noFill/>
        </p:spPr>
        <p:txBody>
          <a:bodyPr lIns="365760" anchor="b" anchorCtr="0">
            <a:normAutofit/>
          </a:bodyPr>
          <a:lstStyle>
            <a:lvl1pPr algn="l">
              <a:defRPr sz="5500"/>
            </a:lvl1pPr>
          </a:lstStyle>
          <a:p>
            <a:r>
              <a:rPr lang="en-US"/>
              <a:t>Click to edit master page title</a:t>
            </a:r>
          </a:p>
        </p:txBody>
      </p:sp>
      <p:sp>
        <p:nvSpPr>
          <p:cNvPr id="4" name="Text Placeholder 2">
            <a:extLst>
              <a:ext uri="{FF2B5EF4-FFF2-40B4-BE49-F238E27FC236}">
                <a16:creationId xmlns:a16="http://schemas.microsoft.com/office/drawing/2014/main" id="{999F202D-C0AE-BF9D-1D1B-6CAA26CEFC71}"/>
              </a:ext>
            </a:extLst>
          </p:cNvPr>
          <p:cNvSpPr>
            <a:spLocks noGrp="1"/>
          </p:cNvSpPr>
          <p:nvPr>
            <p:ph type="body" idx="1" hasCustomPrompt="1"/>
          </p:nvPr>
        </p:nvSpPr>
        <p:spPr>
          <a:xfrm>
            <a:off x="320040" y="5394960"/>
            <a:ext cx="11475085" cy="496976"/>
          </a:xfrm>
        </p:spPr>
        <p:txBody>
          <a:bodyPr>
            <a:normAutofit/>
          </a:bodyPr>
          <a:lstStyle>
            <a:lvl1pPr marL="0" indent="0">
              <a:buNone/>
              <a:defRPr sz="2400" b="0" i="0">
                <a:solidFill>
                  <a:srgbClr val="212325"/>
                </a:solidFill>
                <a:latin typeface="Buckeye Sans 2"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8" name="Picture Placeholder 4">
            <a:extLst>
              <a:ext uri="{FF2B5EF4-FFF2-40B4-BE49-F238E27FC236}">
                <a16:creationId xmlns:a16="http://schemas.microsoft.com/office/drawing/2014/main" id="{16CC2C9D-C02A-BAE3-2704-C31FEC3DB5A0}"/>
              </a:ext>
            </a:extLst>
          </p:cNvPr>
          <p:cNvSpPr>
            <a:spLocks noGrp="1"/>
          </p:cNvSpPr>
          <p:nvPr>
            <p:ph type="pic" sz="quarter" idx="14" hasCustomPrompt="1"/>
          </p:nvPr>
        </p:nvSpPr>
        <p:spPr>
          <a:xfrm>
            <a:off x="0" y="0"/>
            <a:ext cx="12191998" cy="4297680"/>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Tree>
    <p:extLst>
      <p:ext uri="{BB962C8B-B14F-4D97-AF65-F5344CB8AC3E}">
        <p14:creationId xmlns:p14="http://schemas.microsoft.com/office/powerpoint/2010/main" val="3956518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Slide Dark Gra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D499B5A-7DCC-4693-81DE-0BE66B97B47C}"/>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7" name="Freeform 6">
            <a:extLst>
              <a:ext uri="{FF2B5EF4-FFF2-40B4-BE49-F238E27FC236}">
                <a16:creationId xmlns:a16="http://schemas.microsoft.com/office/drawing/2014/main" id="{221065E6-A38E-4F0C-8A91-83E3ADB9FE2D}"/>
              </a:ext>
              <a:ext uri="{C183D7F6-B498-43B3-948B-1728B52AA6E4}">
                <adec:decorative xmlns:adec="http://schemas.microsoft.com/office/drawing/2017/decorative" val="1"/>
              </a:ext>
            </a:extLst>
          </p:cNvPr>
          <p:cNvSpPr/>
          <p:nvPr userDrawn="1"/>
        </p:nvSpPr>
        <p:spPr>
          <a:xfrm>
            <a:off x="400280" y="374573"/>
            <a:ext cx="11391441" cy="5772839"/>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rgbClr val="3F44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8" name="Title 1">
            <a:extLst>
              <a:ext uri="{FF2B5EF4-FFF2-40B4-BE49-F238E27FC236}">
                <a16:creationId xmlns:a16="http://schemas.microsoft.com/office/drawing/2014/main" id="{42AE5508-873C-8C4C-A88E-C1B4E571DDEC}"/>
              </a:ext>
            </a:extLst>
          </p:cNvPr>
          <p:cNvSpPr>
            <a:spLocks noGrp="1"/>
          </p:cNvSpPr>
          <p:nvPr>
            <p:ph type="title" hasCustomPrompt="1"/>
          </p:nvPr>
        </p:nvSpPr>
        <p:spPr>
          <a:xfrm>
            <a:off x="690332" y="1632857"/>
            <a:ext cx="10515600" cy="1796143"/>
          </a:xfrm>
        </p:spPr>
        <p:txBody>
          <a:bodyPr anchor="b" anchorCtr="0">
            <a:normAutofit/>
          </a:bodyPr>
          <a:lstStyle>
            <a:lvl1pPr>
              <a:defRPr sz="5500">
                <a:solidFill>
                  <a:schemeClr val="bg1"/>
                </a:solidFill>
              </a:defRPr>
            </a:lvl1pPr>
          </a:lstStyle>
          <a:p>
            <a:r>
              <a:rPr lang="en-US"/>
              <a:t>Click to edit master page title</a:t>
            </a:r>
          </a:p>
        </p:txBody>
      </p:sp>
      <p:sp>
        <p:nvSpPr>
          <p:cNvPr id="9" name="Text Placeholder 2">
            <a:extLst>
              <a:ext uri="{FF2B5EF4-FFF2-40B4-BE49-F238E27FC236}">
                <a16:creationId xmlns:a16="http://schemas.microsoft.com/office/drawing/2014/main" id="{AC83112E-B440-C046-B221-F7DBDB8A7639}"/>
              </a:ext>
            </a:extLst>
          </p:cNvPr>
          <p:cNvSpPr>
            <a:spLocks noGrp="1"/>
          </p:cNvSpPr>
          <p:nvPr>
            <p:ph type="body" idx="1" hasCustomPrompt="1"/>
          </p:nvPr>
        </p:nvSpPr>
        <p:spPr>
          <a:xfrm>
            <a:off x="690332" y="3457508"/>
            <a:ext cx="10515600" cy="496976"/>
          </a:xfrm>
        </p:spPr>
        <p:txBody>
          <a:bodyPr>
            <a:normAutofit/>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5" name="Footer Placeholder 4">
            <a:extLst>
              <a:ext uri="{FF2B5EF4-FFF2-40B4-BE49-F238E27FC236}">
                <a16:creationId xmlns:a16="http://schemas.microsoft.com/office/drawing/2014/main" id="{7A517FDA-A121-4B28-8DDF-D450DD4715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984653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Slide Light Gray">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221065E6-A38E-4F0C-8A91-83E3ADB9FE2D}"/>
              </a:ext>
              <a:ext uri="{C183D7F6-B498-43B3-948B-1728B52AA6E4}">
                <adec:decorative xmlns:adec="http://schemas.microsoft.com/office/drawing/2017/decorative" val="1"/>
              </a:ext>
            </a:extLst>
          </p:cNvPr>
          <p:cNvSpPr/>
          <p:nvPr userDrawn="1"/>
        </p:nvSpPr>
        <p:spPr>
          <a:xfrm>
            <a:off x="400280" y="374573"/>
            <a:ext cx="11391441" cy="5772839"/>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6" name="Slide Number Placeholder 5">
            <a:extLst>
              <a:ext uri="{FF2B5EF4-FFF2-40B4-BE49-F238E27FC236}">
                <a16:creationId xmlns:a16="http://schemas.microsoft.com/office/drawing/2014/main" id="{CD499B5A-7DCC-4693-81DE-0BE66B97B47C}"/>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8" name="Title 1">
            <a:extLst>
              <a:ext uri="{FF2B5EF4-FFF2-40B4-BE49-F238E27FC236}">
                <a16:creationId xmlns:a16="http://schemas.microsoft.com/office/drawing/2014/main" id="{42AE5508-873C-8C4C-A88E-C1B4E571DDEC}"/>
              </a:ext>
            </a:extLst>
          </p:cNvPr>
          <p:cNvSpPr>
            <a:spLocks noGrp="1"/>
          </p:cNvSpPr>
          <p:nvPr>
            <p:ph type="title" hasCustomPrompt="1"/>
          </p:nvPr>
        </p:nvSpPr>
        <p:spPr>
          <a:xfrm>
            <a:off x="690332" y="1632857"/>
            <a:ext cx="10515600" cy="1796143"/>
          </a:xfrm>
        </p:spPr>
        <p:txBody>
          <a:bodyPr anchor="b" anchorCtr="0">
            <a:normAutofit/>
          </a:bodyPr>
          <a:lstStyle>
            <a:lvl1pPr>
              <a:defRPr sz="5500">
                <a:solidFill>
                  <a:schemeClr val="tx1"/>
                </a:solidFill>
              </a:defRPr>
            </a:lvl1pPr>
          </a:lstStyle>
          <a:p>
            <a:r>
              <a:rPr lang="en-US"/>
              <a:t>Click to edit master page title</a:t>
            </a:r>
          </a:p>
        </p:txBody>
      </p:sp>
      <p:sp>
        <p:nvSpPr>
          <p:cNvPr id="9" name="Text Placeholder 2">
            <a:extLst>
              <a:ext uri="{FF2B5EF4-FFF2-40B4-BE49-F238E27FC236}">
                <a16:creationId xmlns:a16="http://schemas.microsoft.com/office/drawing/2014/main" id="{AC83112E-B440-C046-B221-F7DBDB8A7639}"/>
              </a:ext>
            </a:extLst>
          </p:cNvPr>
          <p:cNvSpPr>
            <a:spLocks noGrp="1"/>
          </p:cNvSpPr>
          <p:nvPr>
            <p:ph type="body" idx="1" hasCustomPrompt="1"/>
          </p:nvPr>
        </p:nvSpPr>
        <p:spPr>
          <a:xfrm>
            <a:off x="690332" y="3457508"/>
            <a:ext cx="10515600" cy="496976"/>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5" name="Footer Placeholder 4">
            <a:extLst>
              <a:ext uri="{FF2B5EF4-FFF2-40B4-BE49-F238E27FC236}">
                <a16:creationId xmlns:a16="http://schemas.microsoft.com/office/drawing/2014/main" id="{7A517FDA-A121-4B28-8DDF-D450DD4715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86470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Slide Scarlet">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221065E6-A38E-4F0C-8A91-83E3ADB9FE2D}"/>
              </a:ext>
              <a:ext uri="{C183D7F6-B498-43B3-948B-1728B52AA6E4}">
                <adec:decorative xmlns:adec="http://schemas.microsoft.com/office/drawing/2017/decorative" val="1"/>
              </a:ext>
            </a:extLst>
          </p:cNvPr>
          <p:cNvSpPr/>
          <p:nvPr userDrawn="1"/>
        </p:nvSpPr>
        <p:spPr>
          <a:xfrm>
            <a:off x="400280" y="374573"/>
            <a:ext cx="11391441" cy="5772839"/>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6" name="Slide Number Placeholder 5">
            <a:extLst>
              <a:ext uri="{FF2B5EF4-FFF2-40B4-BE49-F238E27FC236}">
                <a16:creationId xmlns:a16="http://schemas.microsoft.com/office/drawing/2014/main" id="{CD499B5A-7DCC-4693-81DE-0BE66B97B47C}"/>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8" name="Title 1">
            <a:extLst>
              <a:ext uri="{FF2B5EF4-FFF2-40B4-BE49-F238E27FC236}">
                <a16:creationId xmlns:a16="http://schemas.microsoft.com/office/drawing/2014/main" id="{42AE5508-873C-8C4C-A88E-C1B4E571DDEC}"/>
              </a:ext>
            </a:extLst>
          </p:cNvPr>
          <p:cNvSpPr>
            <a:spLocks noGrp="1"/>
          </p:cNvSpPr>
          <p:nvPr>
            <p:ph type="title" hasCustomPrompt="1"/>
          </p:nvPr>
        </p:nvSpPr>
        <p:spPr>
          <a:xfrm>
            <a:off x="690332" y="1632857"/>
            <a:ext cx="10515600" cy="1796143"/>
          </a:xfrm>
        </p:spPr>
        <p:txBody>
          <a:bodyPr anchor="b" anchorCtr="0">
            <a:normAutofit/>
          </a:bodyPr>
          <a:lstStyle>
            <a:lvl1pPr>
              <a:defRPr sz="5500">
                <a:solidFill>
                  <a:schemeClr val="bg1"/>
                </a:solidFill>
              </a:defRPr>
            </a:lvl1pPr>
          </a:lstStyle>
          <a:p>
            <a:r>
              <a:rPr lang="en-US"/>
              <a:t>Click to edit master page title</a:t>
            </a:r>
          </a:p>
        </p:txBody>
      </p:sp>
      <p:sp>
        <p:nvSpPr>
          <p:cNvPr id="9" name="Text Placeholder 2">
            <a:extLst>
              <a:ext uri="{FF2B5EF4-FFF2-40B4-BE49-F238E27FC236}">
                <a16:creationId xmlns:a16="http://schemas.microsoft.com/office/drawing/2014/main" id="{AC83112E-B440-C046-B221-F7DBDB8A7639}"/>
              </a:ext>
            </a:extLst>
          </p:cNvPr>
          <p:cNvSpPr>
            <a:spLocks noGrp="1"/>
          </p:cNvSpPr>
          <p:nvPr>
            <p:ph type="body" idx="1" hasCustomPrompt="1"/>
          </p:nvPr>
        </p:nvSpPr>
        <p:spPr>
          <a:xfrm>
            <a:off x="690332" y="3457508"/>
            <a:ext cx="10515600" cy="496976"/>
          </a:xfrm>
        </p:spPr>
        <p:txBody>
          <a:bodyPr>
            <a:normAutofit/>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5" name="Footer Placeholder 4">
            <a:extLst>
              <a:ext uri="{FF2B5EF4-FFF2-40B4-BE49-F238E27FC236}">
                <a16:creationId xmlns:a16="http://schemas.microsoft.com/office/drawing/2014/main" id="{7A517FDA-A121-4B28-8DDF-D450DD4715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72367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Text 1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899665-9022-4763-9F34-BC62AC635B9F}"/>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0" name="Title 1">
            <a:extLst>
              <a:ext uri="{FF2B5EF4-FFF2-40B4-BE49-F238E27FC236}">
                <a16:creationId xmlns:a16="http://schemas.microsoft.com/office/drawing/2014/main" id="{8555A3A3-AC3C-EC5C-5238-EE7CBAE0B869}"/>
              </a:ext>
            </a:extLst>
          </p:cNvPr>
          <p:cNvSpPr>
            <a:spLocks noGrp="1"/>
          </p:cNvSpPr>
          <p:nvPr>
            <p:ph type="title" hasCustomPrompt="1"/>
          </p:nvPr>
        </p:nvSpPr>
        <p:spPr>
          <a:xfrm>
            <a:off x="396873" y="898954"/>
            <a:ext cx="11398253" cy="838854"/>
          </a:xfrm>
        </p:spPr>
        <p:txBody>
          <a:bodyPr anchor="t"/>
          <a:lstStyle/>
          <a:p>
            <a:r>
              <a:rPr lang="en-US"/>
              <a:t>Click to edit master page title</a:t>
            </a:r>
          </a:p>
        </p:txBody>
      </p:sp>
      <p:sp>
        <p:nvSpPr>
          <p:cNvPr id="11" name="Text Placeholder 4">
            <a:extLst>
              <a:ext uri="{FF2B5EF4-FFF2-40B4-BE49-F238E27FC236}">
                <a16:creationId xmlns:a16="http://schemas.microsoft.com/office/drawing/2014/main" id="{AD145B43-FC71-CFED-BAD0-9399BDDCE1ED}"/>
              </a:ext>
            </a:extLst>
          </p:cNvPr>
          <p:cNvSpPr>
            <a:spLocks noGrp="1"/>
          </p:cNvSpPr>
          <p:nvPr>
            <p:ph type="body" sz="quarter" idx="29" hasCustomPrompt="1"/>
          </p:nvPr>
        </p:nvSpPr>
        <p:spPr>
          <a:xfrm>
            <a:off x="396429" y="576942"/>
            <a:ext cx="11398254" cy="224040"/>
          </a:xfrm>
        </p:spPr>
        <p:txBody>
          <a:bodyPr anchor="t">
            <a:normAutofit/>
          </a:bodyPr>
          <a:lstStyle>
            <a:lvl1pPr marL="0" indent="0" algn="l">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SECTION HEADING (OPTIONAL) </a:t>
            </a:r>
          </a:p>
        </p:txBody>
      </p:sp>
      <p:sp>
        <p:nvSpPr>
          <p:cNvPr id="3" name="Content Placeholder 2">
            <a:extLst>
              <a:ext uri="{FF2B5EF4-FFF2-40B4-BE49-F238E27FC236}">
                <a16:creationId xmlns:a16="http://schemas.microsoft.com/office/drawing/2014/main" id="{65092BB6-0EC3-47A0-964A-91B4EAB22C4B}"/>
              </a:ext>
            </a:extLst>
          </p:cNvPr>
          <p:cNvSpPr>
            <a:spLocks noGrp="1"/>
          </p:cNvSpPr>
          <p:nvPr>
            <p:ph idx="1" hasCustomPrompt="1"/>
          </p:nvPr>
        </p:nvSpPr>
        <p:spPr>
          <a:xfrm>
            <a:off x="396873" y="2074421"/>
            <a:ext cx="11398254" cy="4015454"/>
          </a:xfrm>
        </p:spPr>
        <p:txBody>
          <a:bodyPr/>
          <a:lstStyle>
            <a:lvl1pPr marL="0" indent="0">
              <a:buClr>
                <a:srgbClr val="C00000"/>
              </a:buClr>
              <a:buSzPct val="110000"/>
              <a:buNone/>
              <a:defRPr/>
            </a:lvl1pPr>
            <a:lvl2pPr marL="685800" indent="-228600">
              <a:buClr>
                <a:srgbClr val="C00000"/>
              </a:buClr>
              <a:buSzPct val="110000"/>
              <a:buFont typeface="Arial" panose="020B0604020202020204" pitchFamily="34" charset="0"/>
              <a:buChar char="•"/>
              <a:defRPr/>
            </a:lvl2pPr>
            <a:lvl3pPr marL="1143000" indent="-228600">
              <a:buClr>
                <a:srgbClr val="C00000"/>
              </a:buClr>
              <a:buSzPct val="90000"/>
              <a:buFont typeface="Courier New" panose="02070309020205020404" pitchFamily="49" charset="0"/>
              <a:buChar char="o"/>
              <a:defRPr/>
            </a:lvl3pPr>
          </a:lstStyle>
          <a:p>
            <a:pPr lvl="0"/>
            <a:r>
              <a:rPr lang="en-US"/>
              <a:t>Click to edit first level copy</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5507D5D7-B1FE-44D4-9552-B7681E39C9D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4145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Text 3 Column">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2" name="Title 1">
            <a:extLst>
              <a:ext uri="{FF2B5EF4-FFF2-40B4-BE49-F238E27FC236}">
                <a16:creationId xmlns:a16="http://schemas.microsoft.com/office/drawing/2014/main" id="{B338790D-1034-D042-D3C2-3BF8915C995A}"/>
              </a:ext>
            </a:extLst>
          </p:cNvPr>
          <p:cNvSpPr>
            <a:spLocks noGrp="1"/>
          </p:cNvSpPr>
          <p:nvPr>
            <p:ph type="title" hasCustomPrompt="1"/>
          </p:nvPr>
        </p:nvSpPr>
        <p:spPr>
          <a:xfrm>
            <a:off x="396873" y="898954"/>
            <a:ext cx="11398253" cy="838854"/>
          </a:xfrm>
        </p:spPr>
        <p:txBody>
          <a:bodyPr anchor="t"/>
          <a:lstStyle/>
          <a:p>
            <a:r>
              <a:rPr lang="en-US"/>
              <a:t>Click to edit master page title</a:t>
            </a:r>
          </a:p>
        </p:txBody>
      </p:sp>
      <p:sp>
        <p:nvSpPr>
          <p:cNvPr id="13" name="Text Placeholder 4">
            <a:extLst>
              <a:ext uri="{FF2B5EF4-FFF2-40B4-BE49-F238E27FC236}">
                <a16:creationId xmlns:a16="http://schemas.microsoft.com/office/drawing/2014/main" id="{89F7AB1A-7858-0364-53A6-E5039FF0E0CD}"/>
              </a:ext>
            </a:extLst>
          </p:cNvPr>
          <p:cNvSpPr>
            <a:spLocks noGrp="1"/>
          </p:cNvSpPr>
          <p:nvPr>
            <p:ph type="body" sz="quarter" idx="29" hasCustomPrompt="1"/>
          </p:nvPr>
        </p:nvSpPr>
        <p:spPr>
          <a:xfrm>
            <a:off x="396429" y="576942"/>
            <a:ext cx="11398254" cy="224040"/>
          </a:xfrm>
        </p:spPr>
        <p:txBody>
          <a:bodyPr anchor="t">
            <a:normAutofit/>
          </a:bodyPr>
          <a:lstStyle>
            <a:lvl1pPr marL="0" indent="0" algn="l">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SECTION HEADING (OPTIONAL) </a:t>
            </a:r>
          </a:p>
        </p:txBody>
      </p:sp>
      <p:sp>
        <p:nvSpPr>
          <p:cNvPr id="3" name="Text Placeholder 2">
            <a:extLst>
              <a:ext uri="{FF2B5EF4-FFF2-40B4-BE49-F238E27FC236}">
                <a16:creationId xmlns:a16="http://schemas.microsoft.com/office/drawing/2014/main" id="{DD110778-4DA8-45B3-97ED-ECBE5C60858E}"/>
              </a:ext>
            </a:extLst>
          </p:cNvPr>
          <p:cNvSpPr>
            <a:spLocks noGrp="1"/>
          </p:cNvSpPr>
          <p:nvPr>
            <p:ph type="body" idx="1" hasCustomPrompt="1"/>
          </p:nvPr>
        </p:nvSpPr>
        <p:spPr>
          <a:xfrm>
            <a:off x="839788" y="1795950"/>
            <a:ext cx="3200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 name="Content Placeholder 3">
            <a:extLst>
              <a:ext uri="{FF2B5EF4-FFF2-40B4-BE49-F238E27FC236}">
                <a16:creationId xmlns:a16="http://schemas.microsoft.com/office/drawing/2014/main" id="{2896339C-BF56-4C01-9057-10C1041C7837}"/>
              </a:ext>
            </a:extLst>
          </p:cNvPr>
          <p:cNvSpPr>
            <a:spLocks noGrp="1"/>
          </p:cNvSpPr>
          <p:nvPr>
            <p:ph sz="half" idx="2" hasCustomPrompt="1"/>
          </p:nvPr>
        </p:nvSpPr>
        <p:spPr>
          <a:xfrm>
            <a:off x="839788" y="2619862"/>
            <a:ext cx="3200400" cy="3060729"/>
          </a:xfrm>
        </p:spPr>
        <p:txBody>
          <a:bodyPr>
            <a:normAutofit/>
          </a:bodyPr>
          <a:lstStyle>
            <a:lvl1pPr marL="0" indent="0">
              <a:buClr>
                <a:srgbClr val="C00000"/>
              </a:buClr>
              <a:buSzPct val="110000"/>
              <a:buNone/>
              <a:defRPr sz="1800"/>
            </a:lvl1pPr>
            <a:lvl2pPr marL="466725" indent="-228600">
              <a:buClr>
                <a:srgbClr val="C00000"/>
              </a:buClr>
              <a:buSzPct val="110000"/>
              <a:buFont typeface="Arial" panose="020B0604020202020204" pitchFamily="34" charset="0"/>
              <a:buChar char="•"/>
              <a:tabLst/>
              <a:defRPr sz="1600"/>
            </a:lvl2pPr>
            <a:lvl3pPr marL="922338" indent="-174625">
              <a:buClr>
                <a:srgbClr val="C00000"/>
              </a:buClr>
              <a:buSzPct val="90000"/>
              <a:buFont typeface="Courier New" panose="02070309020205020404" pitchFamily="49" charset="0"/>
              <a:buChar char="o"/>
              <a:tabLst/>
              <a:defRPr sz="1400"/>
            </a:lvl3pPr>
            <a:lvl4pPr>
              <a:defRPr sz="1400"/>
            </a:lvl4pPr>
            <a:lvl5pPr>
              <a:defRPr sz="1400"/>
            </a:lvl5pPr>
          </a:lstStyle>
          <a:p>
            <a:pPr lvl="0"/>
            <a:r>
              <a:rPr lang="en-US"/>
              <a:t>Click to edit first level copy</a:t>
            </a:r>
          </a:p>
          <a:p>
            <a:pPr lvl="1"/>
            <a:r>
              <a:rPr lang="en-US"/>
              <a:t>Second level</a:t>
            </a:r>
          </a:p>
          <a:p>
            <a:pPr lvl="2"/>
            <a:r>
              <a:rPr lang="en-US"/>
              <a:t>Third level</a:t>
            </a:r>
          </a:p>
        </p:txBody>
      </p:sp>
      <p:cxnSp>
        <p:nvCxnSpPr>
          <p:cNvPr id="14" name="Straight Connector 13">
            <a:extLst>
              <a:ext uri="{FF2B5EF4-FFF2-40B4-BE49-F238E27FC236}">
                <a16:creationId xmlns:a16="http://schemas.microsoft.com/office/drawing/2014/main" id="{6240F89D-2F52-4A06-A26B-F81A4CCA049C}"/>
              </a:ext>
              <a:ext uri="{C183D7F6-B498-43B3-948B-1728B52AA6E4}">
                <adec:decorative xmlns:adec="http://schemas.microsoft.com/office/drawing/2017/decorative" val="1"/>
              </a:ext>
            </a:extLst>
          </p:cNvPr>
          <p:cNvCxnSpPr>
            <a:cxnSpLocks/>
          </p:cNvCxnSpPr>
          <p:nvPr userDrawn="1"/>
        </p:nvCxnSpPr>
        <p:spPr>
          <a:xfrm flipV="1">
            <a:off x="4246764" y="2290570"/>
            <a:ext cx="0" cy="340197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2">
            <a:extLst>
              <a:ext uri="{FF2B5EF4-FFF2-40B4-BE49-F238E27FC236}">
                <a16:creationId xmlns:a16="http://schemas.microsoft.com/office/drawing/2014/main" id="{A891D34A-06A7-6398-2C15-8309625A99B2}"/>
              </a:ext>
            </a:extLst>
          </p:cNvPr>
          <p:cNvSpPr>
            <a:spLocks noGrp="1"/>
          </p:cNvSpPr>
          <p:nvPr>
            <p:ph type="body" idx="13" hasCustomPrompt="1"/>
          </p:nvPr>
        </p:nvSpPr>
        <p:spPr>
          <a:xfrm>
            <a:off x="4474028" y="1795950"/>
            <a:ext cx="3200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0" name="Content Placeholder 3">
            <a:extLst>
              <a:ext uri="{FF2B5EF4-FFF2-40B4-BE49-F238E27FC236}">
                <a16:creationId xmlns:a16="http://schemas.microsoft.com/office/drawing/2014/main" id="{14F904E5-9900-1D9E-FED4-2AA7BBADCA7F}"/>
              </a:ext>
            </a:extLst>
          </p:cNvPr>
          <p:cNvSpPr>
            <a:spLocks noGrp="1"/>
          </p:cNvSpPr>
          <p:nvPr>
            <p:ph sz="half" idx="18" hasCustomPrompt="1"/>
          </p:nvPr>
        </p:nvSpPr>
        <p:spPr>
          <a:xfrm>
            <a:off x="4452256" y="2619862"/>
            <a:ext cx="3200400" cy="3060729"/>
          </a:xfrm>
        </p:spPr>
        <p:txBody>
          <a:bodyPr>
            <a:normAutofit/>
          </a:bodyPr>
          <a:lstStyle>
            <a:lvl1pPr marL="0" indent="0">
              <a:buClr>
                <a:srgbClr val="C00000"/>
              </a:buClr>
              <a:buSzPct val="110000"/>
              <a:buNone/>
              <a:defRPr sz="1800"/>
            </a:lvl1pPr>
            <a:lvl2pPr marL="466725" indent="-228600">
              <a:buClr>
                <a:srgbClr val="C00000"/>
              </a:buClr>
              <a:buSzPct val="110000"/>
              <a:buFont typeface="Arial" panose="020B0604020202020204" pitchFamily="34" charset="0"/>
              <a:buChar char="•"/>
              <a:tabLst/>
              <a:defRPr sz="1600"/>
            </a:lvl2pPr>
            <a:lvl3pPr marL="922338" indent="-174625">
              <a:buClr>
                <a:srgbClr val="C00000"/>
              </a:buClr>
              <a:buSzPct val="90000"/>
              <a:buFont typeface="Courier New" panose="02070309020205020404" pitchFamily="49" charset="0"/>
              <a:buChar char="o"/>
              <a:tabLst/>
              <a:defRPr sz="1400"/>
            </a:lvl3pPr>
            <a:lvl4pPr>
              <a:defRPr sz="1400"/>
            </a:lvl4pPr>
            <a:lvl5pPr>
              <a:defRPr sz="1400"/>
            </a:lvl5pPr>
          </a:lstStyle>
          <a:p>
            <a:pPr lvl="0"/>
            <a:r>
              <a:rPr lang="en-US"/>
              <a:t>Click to edit first level copy</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46615C9D-EE6C-4B25-8C7B-BD41495EDEDC}"/>
              </a:ext>
              <a:ext uri="{C183D7F6-B498-43B3-948B-1728B52AA6E4}">
                <adec:decorative xmlns:adec="http://schemas.microsoft.com/office/drawing/2017/decorative" val="1"/>
              </a:ext>
            </a:extLst>
          </p:cNvPr>
          <p:cNvCxnSpPr>
            <a:cxnSpLocks/>
          </p:cNvCxnSpPr>
          <p:nvPr userDrawn="1"/>
        </p:nvCxnSpPr>
        <p:spPr>
          <a:xfrm flipV="1">
            <a:off x="7915362" y="2290570"/>
            <a:ext cx="0" cy="340197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2">
            <a:extLst>
              <a:ext uri="{FF2B5EF4-FFF2-40B4-BE49-F238E27FC236}">
                <a16:creationId xmlns:a16="http://schemas.microsoft.com/office/drawing/2014/main" id="{A8E4D3FC-41C9-D578-F008-6630E7FFA4E6}"/>
              </a:ext>
            </a:extLst>
          </p:cNvPr>
          <p:cNvSpPr>
            <a:spLocks noGrp="1"/>
          </p:cNvSpPr>
          <p:nvPr>
            <p:ph type="body" idx="15" hasCustomPrompt="1"/>
          </p:nvPr>
        </p:nvSpPr>
        <p:spPr>
          <a:xfrm>
            <a:off x="8153400" y="1795950"/>
            <a:ext cx="3200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1" name="Content Placeholder 3">
            <a:extLst>
              <a:ext uri="{FF2B5EF4-FFF2-40B4-BE49-F238E27FC236}">
                <a16:creationId xmlns:a16="http://schemas.microsoft.com/office/drawing/2014/main" id="{9C53F21D-CA93-9B93-4A6E-8255D9511D03}"/>
              </a:ext>
            </a:extLst>
          </p:cNvPr>
          <p:cNvSpPr>
            <a:spLocks noGrp="1"/>
          </p:cNvSpPr>
          <p:nvPr>
            <p:ph sz="half" idx="19" hasCustomPrompt="1"/>
          </p:nvPr>
        </p:nvSpPr>
        <p:spPr>
          <a:xfrm>
            <a:off x="8142514" y="2619862"/>
            <a:ext cx="3200400" cy="3060729"/>
          </a:xfrm>
        </p:spPr>
        <p:txBody>
          <a:bodyPr>
            <a:normAutofit/>
          </a:bodyPr>
          <a:lstStyle>
            <a:lvl1pPr marL="0" indent="0">
              <a:buClr>
                <a:srgbClr val="C00000"/>
              </a:buClr>
              <a:buSzPct val="110000"/>
              <a:buNone/>
              <a:defRPr sz="1800"/>
            </a:lvl1pPr>
            <a:lvl2pPr marL="466725" indent="-228600">
              <a:buClr>
                <a:srgbClr val="C00000"/>
              </a:buClr>
              <a:buSzPct val="110000"/>
              <a:buFont typeface="Arial" panose="020B0604020202020204" pitchFamily="34" charset="0"/>
              <a:buChar char="•"/>
              <a:tabLst/>
              <a:defRPr sz="1600"/>
            </a:lvl2pPr>
            <a:lvl3pPr marL="922338" indent="-174625">
              <a:buClr>
                <a:srgbClr val="C00000"/>
              </a:buClr>
              <a:buSzPct val="90000"/>
              <a:buFont typeface="Courier New" panose="02070309020205020404" pitchFamily="49" charset="0"/>
              <a:buChar char="o"/>
              <a:tabLst/>
              <a:defRPr sz="1400"/>
            </a:lvl3pPr>
            <a:lvl4pPr>
              <a:defRPr sz="1400"/>
            </a:lvl4pPr>
            <a:lvl5pPr>
              <a:defRPr sz="1400"/>
            </a:lvl5pPr>
          </a:lstStyle>
          <a:p>
            <a:pPr lvl="0"/>
            <a:r>
              <a:rPr lang="en-US"/>
              <a:t>Click to edit first level copy</a:t>
            </a:r>
          </a:p>
          <a:p>
            <a:pPr lvl="1"/>
            <a:r>
              <a:rPr lang="en-US"/>
              <a:t>Second level</a:t>
            </a:r>
          </a:p>
          <a:p>
            <a:pPr lvl="2"/>
            <a:r>
              <a:rPr lang="en-US"/>
              <a:t>Third level</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78283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ext with Statistic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899665-9022-4763-9F34-BC62AC635B9F}"/>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5" name="Title 1">
            <a:extLst>
              <a:ext uri="{FF2B5EF4-FFF2-40B4-BE49-F238E27FC236}">
                <a16:creationId xmlns:a16="http://schemas.microsoft.com/office/drawing/2014/main" id="{784EC54A-1238-054A-B123-4E089148A05A}"/>
              </a:ext>
            </a:extLst>
          </p:cNvPr>
          <p:cNvSpPr>
            <a:spLocks noGrp="1"/>
          </p:cNvSpPr>
          <p:nvPr>
            <p:ph type="title" hasCustomPrompt="1"/>
          </p:nvPr>
        </p:nvSpPr>
        <p:spPr>
          <a:xfrm>
            <a:off x="396873" y="898954"/>
            <a:ext cx="11398253" cy="838854"/>
          </a:xfrm>
        </p:spPr>
        <p:txBody>
          <a:bodyPr anchor="t"/>
          <a:lstStyle/>
          <a:p>
            <a:r>
              <a:rPr lang="en-US"/>
              <a:t>Click to edit master page title</a:t>
            </a:r>
          </a:p>
        </p:txBody>
      </p:sp>
      <p:sp>
        <p:nvSpPr>
          <p:cNvPr id="2" name="Text Placeholder 4">
            <a:extLst>
              <a:ext uri="{FF2B5EF4-FFF2-40B4-BE49-F238E27FC236}">
                <a16:creationId xmlns:a16="http://schemas.microsoft.com/office/drawing/2014/main" id="{368B3D21-7A3E-9FD3-2561-1B65C1C3E8F4}"/>
              </a:ext>
            </a:extLst>
          </p:cNvPr>
          <p:cNvSpPr>
            <a:spLocks noGrp="1"/>
          </p:cNvSpPr>
          <p:nvPr>
            <p:ph type="body" sz="quarter" idx="29" hasCustomPrompt="1"/>
          </p:nvPr>
        </p:nvSpPr>
        <p:spPr>
          <a:xfrm>
            <a:off x="396429" y="576942"/>
            <a:ext cx="11398254" cy="224040"/>
          </a:xfrm>
        </p:spPr>
        <p:txBody>
          <a:bodyPr anchor="t">
            <a:normAutofit/>
          </a:bodyPr>
          <a:lstStyle>
            <a:lvl1pPr marL="0" indent="0" algn="l">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SECTION HEADING (OPTIONAL) </a:t>
            </a:r>
          </a:p>
        </p:txBody>
      </p:sp>
      <p:sp>
        <p:nvSpPr>
          <p:cNvPr id="8" name="Text Placeholder 7">
            <a:extLst>
              <a:ext uri="{FF2B5EF4-FFF2-40B4-BE49-F238E27FC236}">
                <a16:creationId xmlns:a16="http://schemas.microsoft.com/office/drawing/2014/main" id="{95C1AF12-65D7-4CCC-B876-272178DEF7BB}"/>
              </a:ext>
            </a:extLst>
          </p:cNvPr>
          <p:cNvSpPr>
            <a:spLocks noGrp="1"/>
          </p:cNvSpPr>
          <p:nvPr>
            <p:ph type="body" sz="quarter" idx="13" hasCustomPrompt="1"/>
          </p:nvPr>
        </p:nvSpPr>
        <p:spPr>
          <a:xfrm>
            <a:off x="815975" y="2936138"/>
            <a:ext cx="3200400" cy="710573"/>
          </a:xfrm>
        </p:spPr>
        <p:txBody>
          <a:bodyPr anchor="ctr" anchorCtr="0">
            <a:noAutofit/>
          </a:bodyPr>
          <a:lstStyle>
            <a:lvl1pPr marL="0" indent="0" algn="ctr">
              <a:buNone/>
              <a:defRPr sz="7500" b="1" i="0">
                <a:solidFill>
                  <a:schemeClr val="accent1"/>
                </a:solidFill>
                <a:latin typeface="Buckeye Sans 2 Black" pitchFamily="2" charset="77"/>
              </a:defRPr>
            </a:lvl1pPr>
          </a:lstStyle>
          <a:p>
            <a:pPr lvl="0"/>
            <a:r>
              <a:rPr lang="en-US"/>
              <a:t>00</a:t>
            </a:r>
          </a:p>
        </p:txBody>
      </p:sp>
      <p:sp>
        <p:nvSpPr>
          <p:cNvPr id="12" name="Text Placeholder 4">
            <a:extLst>
              <a:ext uri="{FF2B5EF4-FFF2-40B4-BE49-F238E27FC236}">
                <a16:creationId xmlns:a16="http://schemas.microsoft.com/office/drawing/2014/main" id="{A31E8251-4870-40ED-8F84-F3F4065F8BED}"/>
              </a:ext>
            </a:extLst>
          </p:cNvPr>
          <p:cNvSpPr>
            <a:spLocks noGrp="1"/>
          </p:cNvSpPr>
          <p:nvPr>
            <p:ph type="body" sz="quarter" idx="21" hasCustomPrompt="1"/>
          </p:nvPr>
        </p:nvSpPr>
        <p:spPr>
          <a:xfrm>
            <a:off x="815983" y="3744683"/>
            <a:ext cx="3200400" cy="598641"/>
          </a:xfrm>
        </p:spPr>
        <p:txBody>
          <a:bodyPr anchor="b">
            <a:normAutofit/>
          </a:bodyPr>
          <a:lstStyle>
            <a:lvl1pPr marL="0" indent="0" algn="ctr">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br>
              <a:rPr lang="en-US"/>
            </a:br>
            <a:r>
              <a:rPr lang="en-US"/>
              <a:t>Subhead</a:t>
            </a:r>
          </a:p>
        </p:txBody>
      </p:sp>
      <p:sp>
        <p:nvSpPr>
          <p:cNvPr id="13" name="Content Placeholder 3">
            <a:extLst>
              <a:ext uri="{FF2B5EF4-FFF2-40B4-BE49-F238E27FC236}">
                <a16:creationId xmlns:a16="http://schemas.microsoft.com/office/drawing/2014/main" id="{C921F103-A52D-4BF8-A426-261D45BC06E9}"/>
              </a:ext>
            </a:extLst>
          </p:cNvPr>
          <p:cNvSpPr>
            <a:spLocks noGrp="1"/>
          </p:cNvSpPr>
          <p:nvPr>
            <p:ph sz="half" idx="22" hasCustomPrompt="1"/>
          </p:nvPr>
        </p:nvSpPr>
        <p:spPr>
          <a:xfrm>
            <a:off x="815976" y="4343324"/>
            <a:ext cx="3200400" cy="754756"/>
          </a:xfrm>
        </p:spPr>
        <p:txBody>
          <a:bodyPr>
            <a:noAutofit/>
          </a:bodyPr>
          <a:lstStyle>
            <a:lvl1pPr marL="0" indent="0" algn="ctr">
              <a:buNone/>
              <a:defRPr sz="1600"/>
            </a:lvl1pPr>
            <a:lvl2pPr marL="457200" indent="0">
              <a:buNone/>
              <a:defRPr sz="1400"/>
            </a:lvl2pPr>
            <a:lvl3pPr marL="914400" indent="0">
              <a:buNone/>
              <a:defRPr sz="1200"/>
            </a:lvl3pPr>
            <a:lvl4pPr marL="1371600" indent="0">
              <a:buNone/>
              <a:defRPr sz="1100"/>
            </a:lvl4pPr>
            <a:lvl5pPr marL="1828800" indent="0" algn="ctr">
              <a:buNone/>
              <a:defRPr sz="1100" b="0" i="0">
                <a:latin typeface="Buckeye Sans 2" pitchFamily="2" charset="77"/>
              </a:defRPr>
            </a:lvl5pPr>
          </a:lstStyle>
          <a:p>
            <a:pPr lvl="0"/>
            <a:r>
              <a:rPr lang="en-US"/>
              <a:t>Click to edit supplemental copy</a:t>
            </a:r>
          </a:p>
          <a:p>
            <a:pPr lvl="4"/>
            <a:endParaRPr lang="en-US"/>
          </a:p>
        </p:txBody>
      </p:sp>
      <p:sp>
        <p:nvSpPr>
          <p:cNvPr id="3" name="Text Placeholder 4">
            <a:extLst>
              <a:ext uri="{FF2B5EF4-FFF2-40B4-BE49-F238E27FC236}">
                <a16:creationId xmlns:a16="http://schemas.microsoft.com/office/drawing/2014/main" id="{EB0FA1DA-3E46-56DA-3A0F-C2F4894C2D4E}"/>
              </a:ext>
            </a:extLst>
          </p:cNvPr>
          <p:cNvSpPr>
            <a:spLocks noGrp="1"/>
          </p:cNvSpPr>
          <p:nvPr>
            <p:ph type="body" sz="quarter" idx="30" hasCustomPrompt="1"/>
          </p:nvPr>
        </p:nvSpPr>
        <p:spPr>
          <a:xfrm>
            <a:off x="815975" y="5719560"/>
            <a:ext cx="3200400" cy="239486"/>
          </a:xfrm>
        </p:spPr>
        <p:txBody>
          <a:bodyPr anchor="t">
            <a:normAutofit/>
          </a:bodyPr>
          <a:lstStyle>
            <a:lvl1pPr marL="0" indent="0" algn="ctr">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CITATION (OPTIONAL) </a:t>
            </a:r>
          </a:p>
        </p:txBody>
      </p:sp>
      <p:sp>
        <p:nvSpPr>
          <p:cNvPr id="17" name="Text Placeholder 7">
            <a:extLst>
              <a:ext uri="{FF2B5EF4-FFF2-40B4-BE49-F238E27FC236}">
                <a16:creationId xmlns:a16="http://schemas.microsoft.com/office/drawing/2014/main" id="{47B445D7-04D9-4518-A91A-395D959AA54D}"/>
              </a:ext>
            </a:extLst>
          </p:cNvPr>
          <p:cNvSpPr>
            <a:spLocks noGrp="1"/>
          </p:cNvSpPr>
          <p:nvPr>
            <p:ph type="body" sz="quarter" idx="23" hasCustomPrompt="1"/>
          </p:nvPr>
        </p:nvSpPr>
        <p:spPr>
          <a:xfrm>
            <a:off x="4362024" y="2936138"/>
            <a:ext cx="3200400" cy="710573"/>
          </a:xfrm>
        </p:spPr>
        <p:txBody>
          <a:bodyPr anchor="ctr" anchorCtr="0">
            <a:noAutofit/>
          </a:bodyPr>
          <a:lstStyle>
            <a:lvl1pPr marL="0" indent="0" algn="ctr">
              <a:buNone/>
              <a:defRPr sz="7500" b="1" i="0">
                <a:solidFill>
                  <a:schemeClr val="accent1"/>
                </a:solidFill>
                <a:latin typeface="Buckeye Sans 2 Black" pitchFamily="2" charset="77"/>
              </a:defRPr>
            </a:lvl1pPr>
          </a:lstStyle>
          <a:p>
            <a:pPr lvl="0"/>
            <a:r>
              <a:rPr lang="en-US"/>
              <a:t>00</a:t>
            </a:r>
          </a:p>
        </p:txBody>
      </p:sp>
      <p:sp>
        <p:nvSpPr>
          <p:cNvPr id="19" name="Text Placeholder 4">
            <a:extLst>
              <a:ext uri="{FF2B5EF4-FFF2-40B4-BE49-F238E27FC236}">
                <a16:creationId xmlns:a16="http://schemas.microsoft.com/office/drawing/2014/main" id="{544B66B5-8A11-414B-BD6A-3CA8D49CDAC9}"/>
              </a:ext>
            </a:extLst>
          </p:cNvPr>
          <p:cNvSpPr>
            <a:spLocks noGrp="1"/>
          </p:cNvSpPr>
          <p:nvPr>
            <p:ph type="body" sz="quarter" idx="24" hasCustomPrompt="1"/>
          </p:nvPr>
        </p:nvSpPr>
        <p:spPr>
          <a:xfrm>
            <a:off x="4362032" y="3755569"/>
            <a:ext cx="3200400" cy="587755"/>
          </a:xfrm>
        </p:spPr>
        <p:txBody>
          <a:bodyPr anchor="b">
            <a:normAutofit/>
          </a:bodyPr>
          <a:lstStyle>
            <a:lvl1pPr marL="0" indent="0" algn="ctr">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br>
              <a:rPr lang="en-US"/>
            </a:br>
            <a:r>
              <a:rPr lang="en-US"/>
              <a:t>Subhead</a:t>
            </a:r>
          </a:p>
        </p:txBody>
      </p:sp>
      <p:sp>
        <p:nvSpPr>
          <p:cNvPr id="20" name="Content Placeholder 3">
            <a:extLst>
              <a:ext uri="{FF2B5EF4-FFF2-40B4-BE49-F238E27FC236}">
                <a16:creationId xmlns:a16="http://schemas.microsoft.com/office/drawing/2014/main" id="{9B83ED64-7985-4721-920B-54BC42A5E1D7}"/>
              </a:ext>
            </a:extLst>
          </p:cNvPr>
          <p:cNvSpPr>
            <a:spLocks noGrp="1"/>
          </p:cNvSpPr>
          <p:nvPr>
            <p:ph sz="half" idx="25" hasCustomPrompt="1"/>
          </p:nvPr>
        </p:nvSpPr>
        <p:spPr>
          <a:xfrm>
            <a:off x="4362025" y="4343324"/>
            <a:ext cx="3200400" cy="754756"/>
          </a:xfrm>
        </p:spPr>
        <p:txBody>
          <a:bodyPr>
            <a:noAutofit/>
          </a:bodyPr>
          <a:lstStyle>
            <a:lvl1pPr marL="0" indent="0" algn="ctr">
              <a:buNone/>
              <a:defRPr sz="1600"/>
            </a:lvl1pPr>
            <a:lvl2pPr marL="457200" indent="0">
              <a:buNone/>
              <a:defRPr sz="1400"/>
            </a:lvl2pPr>
            <a:lvl3pPr marL="914400" indent="0">
              <a:buNone/>
              <a:defRPr sz="1200"/>
            </a:lvl3pPr>
            <a:lvl4pPr marL="1371600" indent="0">
              <a:buNone/>
              <a:defRPr sz="1100"/>
            </a:lvl4pPr>
            <a:lvl5pPr marL="1828800" indent="0" algn="ctr">
              <a:buNone/>
              <a:defRPr sz="1100"/>
            </a:lvl5pPr>
          </a:lstStyle>
          <a:p>
            <a:pPr lvl="0"/>
            <a:r>
              <a:rPr lang="en-US"/>
              <a:t>Click to edit supplemental copy</a:t>
            </a:r>
          </a:p>
        </p:txBody>
      </p:sp>
      <p:sp>
        <p:nvSpPr>
          <p:cNvPr id="4" name="Text Placeholder 4">
            <a:extLst>
              <a:ext uri="{FF2B5EF4-FFF2-40B4-BE49-F238E27FC236}">
                <a16:creationId xmlns:a16="http://schemas.microsoft.com/office/drawing/2014/main" id="{E8DDA1D2-D91C-4DA3-7F82-2C47CE653FD3}"/>
              </a:ext>
            </a:extLst>
          </p:cNvPr>
          <p:cNvSpPr>
            <a:spLocks noGrp="1"/>
          </p:cNvSpPr>
          <p:nvPr>
            <p:ph type="body" sz="quarter" idx="31" hasCustomPrompt="1"/>
          </p:nvPr>
        </p:nvSpPr>
        <p:spPr>
          <a:xfrm>
            <a:off x="4365086" y="5719560"/>
            <a:ext cx="3200400" cy="239486"/>
          </a:xfrm>
        </p:spPr>
        <p:txBody>
          <a:bodyPr anchor="t">
            <a:normAutofit/>
          </a:bodyPr>
          <a:lstStyle>
            <a:lvl1pPr marL="0" indent="0" algn="ctr">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CITATION (OPTIONAL) </a:t>
            </a:r>
          </a:p>
        </p:txBody>
      </p:sp>
      <p:sp>
        <p:nvSpPr>
          <p:cNvPr id="21" name="Text Placeholder 7">
            <a:extLst>
              <a:ext uri="{FF2B5EF4-FFF2-40B4-BE49-F238E27FC236}">
                <a16:creationId xmlns:a16="http://schemas.microsoft.com/office/drawing/2014/main" id="{48CFB95A-0D9D-453A-9CB2-BF05EF3E7A0C}"/>
              </a:ext>
            </a:extLst>
          </p:cNvPr>
          <p:cNvSpPr>
            <a:spLocks noGrp="1"/>
          </p:cNvSpPr>
          <p:nvPr>
            <p:ph type="body" sz="quarter" idx="26" hasCustomPrompt="1"/>
          </p:nvPr>
        </p:nvSpPr>
        <p:spPr>
          <a:xfrm>
            <a:off x="7908066" y="2936138"/>
            <a:ext cx="3200400" cy="710573"/>
          </a:xfrm>
        </p:spPr>
        <p:txBody>
          <a:bodyPr anchor="ctr" anchorCtr="0">
            <a:noAutofit/>
          </a:bodyPr>
          <a:lstStyle>
            <a:lvl1pPr marL="0" indent="0" algn="ctr">
              <a:buNone/>
              <a:defRPr sz="7500" b="1" i="0">
                <a:solidFill>
                  <a:schemeClr val="accent1"/>
                </a:solidFill>
                <a:latin typeface="Buckeye Sans 2 Black" pitchFamily="2" charset="77"/>
              </a:defRPr>
            </a:lvl1pPr>
          </a:lstStyle>
          <a:p>
            <a:pPr lvl="0"/>
            <a:r>
              <a:rPr lang="en-US"/>
              <a:t>00</a:t>
            </a:r>
          </a:p>
        </p:txBody>
      </p:sp>
      <p:sp>
        <p:nvSpPr>
          <p:cNvPr id="23" name="Text Placeholder 4">
            <a:extLst>
              <a:ext uri="{FF2B5EF4-FFF2-40B4-BE49-F238E27FC236}">
                <a16:creationId xmlns:a16="http://schemas.microsoft.com/office/drawing/2014/main" id="{D79EC675-E9A3-4C03-B61F-A49031FA5008}"/>
              </a:ext>
            </a:extLst>
          </p:cNvPr>
          <p:cNvSpPr>
            <a:spLocks noGrp="1"/>
          </p:cNvSpPr>
          <p:nvPr>
            <p:ph type="body" sz="quarter" idx="27" hasCustomPrompt="1"/>
          </p:nvPr>
        </p:nvSpPr>
        <p:spPr>
          <a:xfrm>
            <a:off x="7908074" y="3766455"/>
            <a:ext cx="3200400" cy="576869"/>
          </a:xfrm>
        </p:spPr>
        <p:txBody>
          <a:bodyPr anchor="b">
            <a:normAutofit/>
          </a:bodyPr>
          <a:lstStyle>
            <a:lvl1pPr marL="0" indent="0" algn="ctr">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br>
              <a:rPr lang="en-US"/>
            </a:br>
            <a:r>
              <a:rPr lang="en-US"/>
              <a:t>Subhead</a:t>
            </a:r>
          </a:p>
        </p:txBody>
      </p:sp>
      <p:sp>
        <p:nvSpPr>
          <p:cNvPr id="24" name="Content Placeholder 3">
            <a:extLst>
              <a:ext uri="{FF2B5EF4-FFF2-40B4-BE49-F238E27FC236}">
                <a16:creationId xmlns:a16="http://schemas.microsoft.com/office/drawing/2014/main" id="{B8429F79-518E-407C-8FF2-83D7C7D801FD}"/>
              </a:ext>
            </a:extLst>
          </p:cNvPr>
          <p:cNvSpPr>
            <a:spLocks noGrp="1"/>
          </p:cNvSpPr>
          <p:nvPr>
            <p:ph sz="half" idx="28" hasCustomPrompt="1"/>
          </p:nvPr>
        </p:nvSpPr>
        <p:spPr>
          <a:xfrm>
            <a:off x="7908067" y="4343324"/>
            <a:ext cx="3200400" cy="754756"/>
          </a:xfrm>
        </p:spPr>
        <p:txBody>
          <a:bodyPr>
            <a:noAutofit/>
          </a:bodyPr>
          <a:lstStyle>
            <a:lvl1pPr marL="0" indent="0" algn="ctr">
              <a:buNone/>
              <a:defRPr sz="1600"/>
            </a:lvl1pPr>
            <a:lvl2pPr marL="457200" indent="0">
              <a:buNone/>
              <a:defRPr sz="1400"/>
            </a:lvl2pPr>
            <a:lvl3pPr marL="914400" indent="0">
              <a:buNone/>
              <a:defRPr sz="1200"/>
            </a:lvl3pPr>
            <a:lvl4pPr marL="1371600" indent="0">
              <a:buNone/>
              <a:defRPr sz="1100"/>
            </a:lvl4pPr>
            <a:lvl5pPr marL="1828800" indent="0" algn="ctr">
              <a:buNone/>
              <a:defRPr sz="1100"/>
            </a:lvl5pPr>
          </a:lstStyle>
          <a:p>
            <a:pPr lvl="0"/>
            <a:r>
              <a:rPr lang="en-US"/>
              <a:t>Click to edit supplemental copy</a:t>
            </a:r>
          </a:p>
        </p:txBody>
      </p:sp>
      <p:sp>
        <p:nvSpPr>
          <p:cNvPr id="7" name="Text Placeholder 4">
            <a:extLst>
              <a:ext uri="{FF2B5EF4-FFF2-40B4-BE49-F238E27FC236}">
                <a16:creationId xmlns:a16="http://schemas.microsoft.com/office/drawing/2014/main" id="{04307938-5206-7658-371A-FABCB8A01B4F}"/>
              </a:ext>
            </a:extLst>
          </p:cNvPr>
          <p:cNvSpPr>
            <a:spLocks noGrp="1"/>
          </p:cNvSpPr>
          <p:nvPr>
            <p:ph type="body" sz="quarter" idx="32" hasCustomPrompt="1"/>
          </p:nvPr>
        </p:nvSpPr>
        <p:spPr>
          <a:xfrm>
            <a:off x="7914198" y="5719560"/>
            <a:ext cx="3200400" cy="239486"/>
          </a:xfrm>
        </p:spPr>
        <p:txBody>
          <a:bodyPr anchor="t">
            <a:normAutofit/>
          </a:bodyPr>
          <a:lstStyle>
            <a:lvl1pPr marL="0" indent="0" algn="ctr">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CITATION (OPTIONAL) </a:t>
            </a:r>
          </a:p>
        </p:txBody>
      </p:sp>
      <p:sp>
        <p:nvSpPr>
          <p:cNvPr id="5" name="Footer Placeholder 4">
            <a:extLst>
              <a:ext uri="{FF2B5EF4-FFF2-40B4-BE49-F238E27FC236}">
                <a16:creationId xmlns:a16="http://schemas.microsoft.com/office/drawing/2014/main" id="{5507D5D7-B1FE-44D4-9552-B7681E39C9D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189297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Quote No Imag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899665-9022-4763-9F34-BC62AC635B9F}"/>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0" name="Title 1">
            <a:extLst>
              <a:ext uri="{FF2B5EF4-FFF2-40B4-BE49-F238E27FC236}">
                <a16:creationId xmlns:a16="http://schemas.microsoft.com/office/drawing/2014/main" id="{8555A3A3-AC3C-EC5C-5238-EE7CBAE0B869}"/>
              </a:ext>
            </a:extLst>
          </p:cNvPr>
          <p:cNvSpPr>
            <a:spLocks noGrp="1"/>
          </p:cNvSpPr>
          <p:nvPr>
            <p:ph type="title" hasCustomPrompt="1"/>
          </p:nvPr>
        </p:nvSpPr>
        <p:spPr>
          <a:xfrm>
            <a:off x="850854" y="929898"/>
            <a:ext cx="10944272" cy="3117995"/>
          </a:xfrm>
        </p:spPr>
        <p:txBody>
          <a:bodyPr anchor="b" anchorCtr="0">
            <a:normAutofit/>
          </a:bodyPr>
          <a:lstStyle>
            <a:lvl1pPr>
              <a:lnSpc>
                <a:spcPct val="140000"/>
              </a:lnSpc>
              <a:defRPr sz="3600" b="0" i="0" baseline="0">
                <a:solidFill>
                  <a:schemeClr val="tx1"/>
                </a:solidFill>
              </a:defRPr>
            </a:lvl1pPr>
          </a:lstStyle>
          <a:p>
            <a:r>
              <a:rPr lang="en-US"/>
              <a:t>“Click to add quote”</a:t>
            </a:r>
          </a:p>
        </p:txBody>
      </p:sp>
      <p:sp>
        <p:nvSpPr>
          <p:cNvPr id="3" name="Content Placeholder 2">
            <a:extLst>
              <a:ext uri="{FF2B5EF4-FFF2-40B4-BE49-F238E27FC236}">
                <a16:creationId xmlns:a16="http://schemas.microsoft.com/office/drawing/2014/main" id="{65092BB6-0EC3-47A0-964A-91B4EAB22C4B}"/>
              </a:ext>
            </a:extLst>
          </p:cNvPr>
          <p:cNvSpPr>
            <a:spLocks noGrp="1"/>
          </p:cNvSpPr>
          <p:nvPr>
            <p:ph idx="1" hasCustomPrompt="1"/>
          </p:nvPr>
        </p:nvSpPr>
        <p:spPr>
          <a:xfrm>
            <a:off x="850853" y="4280104"/>
            <a:ext cx="10944273" cy="365126"/>
          </a:xfrm>
        </p:spPr>
        <p:txBody>
          <a:bodyPr/>
          <a:lstStyle>
            <a:lvl1pPr marL="0" indent="0">
              <a:buClr>
                <a:srgbClr val="C00000"/>
              </a:buClr>
              <a:buSzPct val="110000"/>
              <a:buNone/>
              <a:defRPr b="1"/>
            </a:lvl1pPr>
            <a:lvl2pPr marL="685800" indent="-228600">
              <a:buClr>
                <a:srgbClr val="C00000"/>
              </a:buClr>
              <a:buSzPct val="110000"/>
              <a:buFont typeface="Arial" panose="020B0604020202020204" pitchFamily="34" charset="0"/>
              <a:buChar char="•"/>
              <a:defRPr/>
            </a:lvl2pPr>
            <a:lvl3pPr marL="1143000" indent="-228600">
              <a:buClr>
                <a:srgbClr val="C00000"/>
              </a:buClr>
              <a:buSzPct val="90000"/>
              <a:buFont typeface="Courier New" panose="02070309020205020404" pitchFamily="49" charset="0"/>
              <a:buChar char="o"/>
              <a:defRPr/>
            </a:lvl3pPr>
          </a:lstStyle>
          <a:p>
            <a:pPr lvl="0"/>
            <a:r>
              <a:rPr lang="en-US"/>
              <a:t>Source name</a:t>
            </a:r>
          </a:p>
        </p:txBody>
      </p:sp>
      <p:sp>
        <p:nvSpPr>
          <p:cNvPr id="4" name="Content Placeholder 3">
            <a:extLst>
              <a:ext uri="{FF2B5EF4-FFF2-40B4-BE49-F238E27FC236}">
                <a16:creationId xmlns:a16="http://schemas.microsoft.com/office/drawing/2014/main" id="{FE4D1693-BD83-7256-F00D-049430687D20}"/>
              </a:ext>
            </a:extLst>
          </p:cNvPr>
          <p:cNvSpPr>
            <a:spLocks noGrp="1"/>
          </p:cNvSpPr>
          <p:nvPr>
            <p:ph sz="half" idx="22" hasCustomPrompt="1"/>
          </p:nvPr>
        </p:nvSpPr>
        <p:spPr>
          <a:xfrm>
            <a:off x="850852" y="4676732"/>
            <a:ext cx="10944271" cy="365125"/>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100"/>
            </a:lvl4pPr>
            <a:lvl5pPr marL="1828800" indent="0" algn="l">
              <a:buNone/>
              <a:defRPr sz="1100" b="0" i="0">
                <a:latin typeface="Buckeye Sans 2" pitchFamily="2" charset="77"/>
              </a:defRPr>
            </a:lvl5pPr>
          </a:lstStyle>
          <a:p>
            <a:pPr lvl="0"/>
            <a:r>
              <a:rPr lang="en-US"/>
              <a:t>Supplemental copy</a:t>
            </a:r>
          </a:p>
          <a:p>
            <a:pPr lvl="4"/>
            <a:endParaRPr lang="en-US"/>
          </a:p>
        </p:txBody>
      </p:sp>
      <p:sp>
        <p:nvSpPr>
          <p:cNvPr id="5" name="Footer Placeholder 4">
            <a:extLst>
              <a:ext uri="{FF2B5EF4-FFF2-40B4-BE49-F238E27FC236}">
                <a16:creationId xmlns:a16="http://schemas.microsoft.com/office/drawing/2014/main" id="{5507D5D7-B1FE-44D4-9552-B7681E39C9D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86950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Text with Icons">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 name="Title 1">
            <a:extLst>
              <a:ext uri="{FF2B5EF4-FFF2-40B4-BE49-F238E27FC236}">
                <a16:creationId xmlns:a16="http://schemas.microsoft.com/office/drawing/2014/main" id="{4319CF42-CFB0-4813-AFA8-72E0DF893747}"/>
              </a:ext>
            </a:extLst>
          </p:cNvPr>
          <p:cNvSpPr>
            <a:spLocks noGrp="1"/>
          </p:cNvSpPr>
          <p:nvPr>
            <p:ph type="title" hasCustomPrompt="1"/>
          </p:nvPr>
        </p:nvSpPr>
        <p:spPr>
          <a:xfrm>
            <a:off x="396872" y="1556657"/>
            <a:ext cx="4647568" cy="2024979"/>
          </a:xfrm>
        </p:spPr>
        <p:txBody>
          <a:bodyPr anchor="b"/>
          <a:lstStyle>
            <a:lvl1pPr>
              <a:defRPr>
                <a:solidFill>
                  <a:schemeClr val="accent1"/>
                </a:solidFill>
              </a:defRPr>
            </a:lvl1pPr>
          </a:lstStyle>
          <a:p>
            <a:r>
              <a:rPr lang="en-US"/>
              <a:t>Click to edit master page title</a:t>
            </a:r>
          </a:p>
        </p:txBody>
      </p:sp>
      <p:sp>
        <p:nvSpPr>
          <p:cNvPr id="4" name="Content Placeholder 3">
            <a:extLst>
              <a:ext uri="{FF2B5EF4-FFF2-40B4-BE49-F238E27FC236}">
                <a16:creationId xmlns:a16="http://schemas.microsoft.com/office/drawing/2014/main" id="{2896339C-BF56-4C01-9057-10C1041C7837}"/>
              </a:ext>
            </a:extLst>
          </p:cNvPr>
          <p:cNvSpPr>
            <a:spLocks noGrp="1"/>
          </p:cNvSpPr>
          <p:nvPr>
            <p:ph sz="half" idx="2" hasCustomPrompt="1"/>
          </p:nvPr>
        </p:nvSpPr>
        <p:spPr>
          <a:xfrm>
            <a:off x="385986" y="3619779"/>
            <a:ext cx="4647568" cy="1055802"/>
          </a:xfrm>
        </p:spPr>
        <p:txBody>
          <a:bodyPr>
            <a:normAutofit/>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Click to edit copy</a:t>
            </a:r>
          </a:p>
        </p:txBody>
      </p:sp>
      <p:cxnSp>
        <p:nvCxnSpPr>
          <p:cNvPr id="12" name="Straight Connector 11">
            <a:extLst>
              <a:ext uri="{FF2B5EF4-FFF2-40B4-BE49-F238E27FC236}">
                <a16:creationId xmlns:a16="http://schemas.microsoft.com/office/drawing/2014/main" id="{57233CD8-5E31-4581-814D-DA09D49C1F86}"/>
              </a:ext>
              <a:ext uri="{C183D7F6-B498-43B3-948B-1728B52AA6E4}">
                <adec:decorative xmlns:adec="http://schemas.microsoft.com/office/drawing/2017/decorative" val="1"/>
              </a:ext>
            </a:extLst>
          </p:cNvPr>
          <p:cNvCxnSpPr>
            <a:cxnSpLocks/>
          </p:cNvCxnSpPr>
          <p:nvPr userDrawn="1"/>
        </p:nvCxnSpPr>
        <p:spPr>
          <a:xfrm flipV="1">
            <a:off x="5408233" y="873264"/>
            <a:ext cx="0" cy="470578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FE19BD27-A5AE-4AED-A944-00ED745F24F8}"/>
              </a:ext>
            </a:extLst>
          </p:cNvPr>
          <p:cNvSpPr>
            <a:spLocks noGrp="1"/>
          </p:cNvSpPr>
          <p:nvPr>
            <p:ph type="pic" sz="quarter" idx="13"/>
          </p:nvPr>
        </p:nvSpPr>
        <p:spPr>
          <a:xfrm>
            <a:off x="5839276" y="1186651"/>
            <a:ext cx="914400" cy="914400"/>
          </a:xfrm>
        </p:spPr>
        <p:txBody>
          <a:bodyPr>
            <a:normAutofit/>
          </a:bodyPr>
          <a:lstStyle>
            <a:lvl1pPr marL="0" indent="0" algn="ctr">
              <a:buNone/>
              <a:defRPr sz="1400">
                <a:solidFill>
                  <a:schemeClr val="bg1">
                    <a:lumMod val="50000"/>
                  </a:schemeClr>
                </a:solidFill>
              </a:defRPr>
            </a:lvl1pPr>
          </a:lstStyle>
          <a:p>
            <a:endParaRPr lang="en-US"/>
          </a:p>
        </p:txBody>
      </p:sp>
      <p:sp>
        <p:nvSpPr>
          <p:cNvPr id="15" name="Text Placeholder 4">
            <a:extLst>
              <a:ext uri="{FF2B5EF4-FFF2-40B4-BE49-F238E27FC236}">
                <a16:creationId xmlns:a16="http://schemas.microsoft.com/office/drawing/2014/main" id="{5B9DF506-FA73-4B69-BFF8-9508CCD1B341}"/>
              </a:ext>
            </a:extLst>
          </p:cNvPr>
          <p:cNvSpPr>
            <a:spLocks noGrp="1"/>
          </p:cNvSpPr>
          <p:nvPr>
            <p:ph type="body" sz="quarter" idx="16" hasCustomPrompt="1"/>
          </p:nvPr>
        </p:nvSpPr>
        <p:spPr>
          <a:xfrm>
            <a:off x="6905270" y="1197473"/>
            <a:ext cx="4889860" cy="29698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8" name="Content Placeholder 3">
            <a:extLst>
              <a:ext uri="{FF2B5EF4-FFF2-40B4-BE49-F238E27FC236}">
                <a16:creationId xmlns:a16="http://schemas.microsoft.com/office/drawing/2014/main" id="{D3C25E06-F692-49FF-AE8E-D1AB6FF3AAB9}"/>
              </a:ext>
            </a:extLst>
          </p:cNvPr>
          <p:cNvSpPr>
            <a:spLocks noGrp="1"/>
          </p:cNvSpPr>
          <p:nvPr>
            <p:ph sz="half" idx="19" hasCustomPrompt="1"/>
          </p:nvPr>
        </p:nvSpPr>
        <p:spPr>
          <a:xfrm>
            <a:off x="6905263" y="1494459"/>
            <a:ext cx="4889860" cy="7547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b="0" i="0">
                <a:latin typeface="Buckeye Sans 2" pitchFamily="2" charset="77"/>
              </a:defRPr>
            </a:lvl5pPr>
          </a:lstStyle>
          <a:p>
            <a:pPr lvl="0"/>
            <a:r>
              <a:rPr lang="en-US"/>
              <a:t>Click to edit supplemental copy</a:t>
            </a:r>
          </a:p>
          <a:p>
            <a:pPr lvl="4"/>
            <a:endParaRPr lang="en-US"/>
          </a:p>
        </p:txBody>
      </p:sp>
      <p:sp>
        <p:nvSpPr>
          <p:cNvPr id="19" name="Picture Placeholder 4">
            <a:extLst>
              <a:ext uri="{FF2B5EF4-FFF2-40B4-BE49-F238E27FC236}">
                <a16:creationId xmlns:a16="http://schemas.microsoft.com/office/drawing/2014/main" id="{3B784B6F-C536-4BE2-9F68-EFD22C48A77E}"/>
              </a:ext>
            </a:extLst>
          </p:cNvPr>
          <p:cNvSpPr>
            <a:spLocks noGrp="1"/>
          </p:cNvSpPr>
          <p:nvPr>
            <p:ph type="pic" sz="quarter" idx="20"/>
          </p:nvPr>
        </p:nvSpPr>
        <p:spPr>
          <a:xfrm>
            <a:off x="5839269" y="2625206"/>
            <a:ext cx="914400" cy="914400"/>
          </a:xfrm>
        </p:spPr>
        <p:txBody>
          <a:bodyPr>
            <a:normAutofit/>
          </a:bodyPr>
          <a:lstStyle>
            <a:lvl1pPr marL="0" indent="0" algn="ctr">
              <a:buNone/>
              <a:defRPr sz="1400">
                <a:solidFill>
                  <a:schemeClr val="bg1">
                    <a:lumMod val="50000"/>
                  </a:schemeClr>
                </a:solidFill>
              </a:defRPr>
            </a:lvl1pPr>
          </a:lstStyle>
          <a:p>
            <a:endParaRPr lang="en-US"/>
          </a:p>
        </p:txBody>
      </p:sp>
      <p:sp>
        <p:nvSpPr>
          <p:cNvPr id="20" name="Text Placeholder 4">
            <a:extLst>
              <a:ext uri="{FF2B5EF4-FFF2-40B4-BE49-F238E27FC236}">
                <a16:creationId xmlns:a16="http://schemas.microsoft.com/office/drawing/2014/main" id="{98CA5EED-CA8D-41CE-A9A2-2D0FD1FFEA2F}"/>
              </a:ext>
            </a:extLst>
          </p:cNvPr>
          <p:cNvSpPr>
            <a:spLocks noGrp="1"/>
          </p:cNvSpPr>
          <p:nvPr>
            <p:ph type="body" sz="quarter" idx="21" hasCustomPrompt="1"/>
          </p:nvPr>
        </p:nvSpPr>
        <p:spPr>
          <a:xfrm>
            <a:off x="6905263" y="2650316"/>
            <a:ext cx="4889860" cy="29698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1" name="Content Placeholder 3">
            <a:extLst>
              <a:ext uri="{FF2B5EF4-FFF2-40B4-BE49-F238E27FC236}">
                <a16:creationId xmlns:a16="http://schemas.microsoft.com/office/drawing/2014/main" id="{6A62EE4C-12CF-4CD9-A03E-75610F65D462}"/>
              </a:ext>
            </a:extLst>
          </p:cNvPr>
          <p:cNvSpPr>
            <a:spLocks noGrp="1"/>
          </p:cNvSpPr>
          <p:nvPr>
            <p:ph sz="half" idx="22" hasCustomPrompt="1"/>
          </p:nvPr>
        </p:nvSpPr>
        <p:spPr>
          <a:xfrm>
            <a:off x="6905256" y="2933014"/>
            <a:ext cx="4889860" cy="7547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b="0" i="0">
                <a:latin typeface="Buckeye Sans 2" pitchFamily="2" charset="77"/>
              </a:defRPr>
            </a:lvl5pPr>
          </a:lstStyle>
          <a:p>
            <a:pPr lvl="0"/>
            <a:r>
              <a:rPr lang="en-US"/>
              <a:t>Click to edit supplement copy</a:t>
            </a:r>
          </a:p>
          <a:p>
            <a:pPr lvl="4"/>
            <a:endParaRPr lang="en-US"/>
          </a:p>
        </p:txBody>
      </p:sp>
      <p:sp>
        <p:nvSpPr>
          <p:cNvPr id="22" name="Picture Placeholder 4">
            <a:extLst>
              <a:ext uri="{FF2B5EF4-FFF2-40B4-BE49-F238E27FC236}">
                <a16:creationId xmlns:a16="http://schemas.microsoft.com/office/drawing/2014/main" id="{1EDC020B-92DF-44EE-8F61-D1F571593823}"/>
              </a:ext>
            </a:extLst>
          </p:cNvPr>
          <p:cNvSpPr>
            <a:spLocks noGrp="1"/>
          </p:cNvSpPr>
          <p:nvPr>
            <p:ph type="pic" sz="quarter" idx="23"/>
          </p:nvPr>
        </p:nvSpPr>
        <p:spPr>
          <a:xfrm>
            <a:off x="5839269" y="3984098"/>
            <a:ext cx="914400" cy="914400"/>
          </a:xfrm>
        </p:spPr>
        <p:txBody>
          <a:bodyPr>
            <a:normAutofit/>
          </a:bodyPr>
          <a:lstStyle>
            <a:lvl1pPr marL="0" indent="0" algn="ctr">
              <a:buNone/>
              <a:defRPr sz="1400">
                <a:solidFill>
                  <a:schemeClr val="bg1">
                    <a:lumMod val="50000"/>
                  </a:schemeClr>
                </a:solidFill>
              </a:defRPr>
            </a:lvl1pPr>
          </a:lstStyle>
          <a:p>
            <a:endParaRPr lang="en-US"/>
          </a:p>
        </p:txBody>
      </p:sp>
      <p:sp>
        <p:nvSpPr>
          <p:cNvPr id="23" name="Text Placeholder 4">
            <a:extLst>
              <a:ext uri="{FF2B5EF4-FFF2-40B4-BE49-F238E27FC236}">
                <a16:creationId xmlns:a16="http://schemas.microsoft.com/office/drawing/2014/main" id="{6EC31054-F323-447E-A250-00C70D033246}"/>
              </a:ext>
            </a:extLst>
          </p:cNvPr>
          <p:cNvSpPr>
            <a:spLocks noGrp="1"/>
          </p:cNvSpPr>
          <p:nvPr>
            <p:ph type="body" sz="quarter" idx="24" hasCustomPrompt="1"/>
          </p:nvPr>
        </p:nvSpPr>
        <p:spPr>
          <a:xfrm>
            <a:off x="6905263" y="3994920"/>
            <a:ext cx="4889860" cy="29698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4" name="Content Placeholder 3">
            <a:extLst>
              <a:ext uri="{FF2B5EF4-FFF2-40B4-BE49-F238E27FC236}">
                <a16:creationId xmlns:a16="http://schemas.microsoft.com/office/drawing/2014/main" id="{2A0E534F-F82F-491F-A155-625F7F13DD81}"/>
              </a:ext>
            </a:extLst>
          </p:cNvPr>
          <p:cNvSpPr>
            <a:spLocks noGrp="1"/>
          </p:cNvSpPr>
          <p:nvPr>
            <p:ph sz="half" idx="25" hasCustomPrompt="1"/>
          </p:nvPr>
        </p:nvSpPr>
        <p:spPr>
          <a:xfrm>
            <a:off x="6905256" y="4291906"/>
            <a:ext cx="4889860" cy="7547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b="0" i="0">
                <a:latin typeface="Buckeye Sans 2" pitchFamily="2" charset="77"/>
              </a:defRPr>
            </a:lvl5pPr>
          </a:lstStyle>
          <a:p>
            <a:pPr lvl="0"/>
            <a:r>
              <a:rPr lang="en-US"/>
              <a:t>Click to edit supplemental copy</a:t>
            </a:r>
          </a:p>
          <a:p>
            <a:pPr lvl="4"/>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15630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Team 3">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 name="Title 1">
            <a:extLst>
              <a:ext uri="{FF2B5EF4-FFF2-40B4-BE49-F238E27FC236}">
                <a16:creationId xmlns:a16="http://schemas.microsoft.com/office/drawing/2014/main" id="{4319CF42-CFB0-4813-AFA8-72E0DF893747}"/>
              </a:ext>
            </a:extLst>
          </p:cNvPr>
          <p:cNvSpPr>
            <a:spLocks noGrp="1"/>
          </p:cNvSpPr>
          <p:nvPr>
            <p:ph type="title" hasCustomPrompt="1"/>
          </p:nvPr>
        </p:nvSpPr>
        <p:spPr>
          <a:xfrm>
            <a:off x="396874" y="1214845"/>
            <a:ext cx="4175126" cy="2057636"/>
          </a:xfrm>
        </p:spPr>
        <p:txBody>
          <a:bodyPr vert="horz" lIns="91440" tIns="45720" rIns="91440" bIns="45720" rtlCol="0" anchor="b">
            <a:normAutofit/>
          </a:bodyPr>
          <a:lstStyle>
            <a:lvl1pPr>
              <a:defRPr lang="en-US"/>
            </a:lvl1pPr>
          </a:lstStyle>
          <a:p>
            <a:pPr lvl="0"/>
            <a:r>
              <a:rPr lang="en-US"/>
              <a:t>Click to edit master page title</a:t>
            </a:r>
          </a:p>
        </p:txBody>
      </p:sp>
      <p:sp>
        <p:nvSpPr>
          <p:cNvPr id="29" name="Content Placeholder 3">
            <a:extLst>
              <a:ext uri="{FF2B5EF4-FFF2-40B4-BE49-F238E27FC236}">
                <a16:creationId xmlns:a16="http://schemas.microsoft.com/office/drawing/2014/main" id="{32636A59-1C4D-DB7E-7AB5-5FF3CE74F2C1}"/>
              </a:ext>
            </a:extLst>
          </p:cNvPr>
          <p:cNvSpPr>
            <a:spLocks noGrp="1"/>
          </p:cNvSpPr>
          <p:nvPr>
            <p:ph sz="half" idx="35" hasCustomPrompt="1"/>
          </p:nvPr>
        </p:nvSpPr>
        <p:spPr>
          <a:xfrm>
            <a:off x="385986" y="3299740"/>
            <a:ext cx="4186014" cy="2428368"/>
          </a:xfrm>
        </p:spPr>
        <p:txBody>
          <a:bodyPr>
            <a:normAutofit/>
          </a:bodyPr>
          <a:lstStyle>
            <a:lvl1pPr marL="0" indent="0">
              <a:buNone/>
              <a:defRPr sz="2400">
                <a:solidFill>
                  <a:schemeClr val="tx1"/>
                </a:solidFill>
              </a:defRPr>
            </a:lvl1pPr>
            <a:lvl2pPr marL="520700" indent="-228600">
              <a:buClr>
                <a:srgbClr val="C00000"/>
              </a:buClr>
              <a:buSzPct val="110000"/>
              <a:buFont typeface="Arial" panose="020B0604020202020204" pitchFamily="34" charset="0"/>
              <a:buChar char="•"/>
              <a:tabLst/>
              <a:defRPr sz="2000">
                <a:solidFill>
                  <a:schemeClr val="tx1"/>
                </a:solidFill>
              </a:defRPr>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5" name="Picture Placeholder 4">
            <a:extLst>
              <a:ext uri="{FF2B5EF4-FFF2-40B4-BE49-F238E27FC236}">
                <a16:creationId xmlns:a16="http://schemas.microsoft.com/office/drawing/2014/main" id="{FE19BD27-A5AE-4AED-A944-00ED745F24F8}"/>
              </a:ext>
            </a:extLst>
          </p:cNvPr>
          <p:cNvSpPr>
            <a:spLocks noGrp="1"/>
          </p:cNvSpPr>
          <p:nvPr>
            <p:ph type="pic" sz="quarter" idx="13" hasCustomPrompt="1"/>
          </p:nvPr>
        </p:nvSpPr>
        <p:spPr>
          <a:xfrm>
            <a:off x="4837311" y="205281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15" name="Text Placeholder 4">
            <a:extLst>
              <a:ext uri="{FF2B5EF4-FFF2-40B4-BE49-F238E27FC236}">
                <a16:creationId xmlns:a16="http://schemas.microsoft.com/office/drawing/2014/main" id="{5B9DF506-FA73-4B69-BFF8-9508CCD1B341}"/>
              </a:ext>
            </a:extLst>
          </p:cNvPr>
          <p:cNvSpPr>
            <a:spLocks noGrp="1"/>
          </p:cNvSpPr>
          <p:nvPr>
            <p:ph type="body" sz="quarter" idx="16" hasCustomPrompt="1"/>
          </p:nvPr>
        </p:nvSpPr>
        <p:spPr>
          <a:xfrm>
            <a:off x="4739337" y="3762103"/>
            <a:ext cx="2225340"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8" name="Content Placeholder 3">
            <a:extLst>
              <a:ext uri="{FF2B5EF4-FFF2-40B4-BE49-F238E27FC236}">
                <a16:creationId xmlns:a16="http://schemas.microsoft.com/office/drawing/2014/main" id="{D3C25E06-F692-49FF-AE8E-D1AB6FF3AAB9}"/>
              </a:ext>
            </a:extLst>
          </p:cNvPr>
          <p:cNvSpPr>
            <a:spLocks noGrp="1"/>
          </p:cNvSpPr>
          <p:nvPr>
            <p:ph sz="half" idx="19" hasCustomPrompt="1"/>
          </p:nvPr>
        </p:nvSpPr>
        <p:spPr>
          <a:xfrm>
            <a:off x="4739337" y="416416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2" name="Picture Placeholder 4">
            <a:extLst>
              <a:ext uri="{FF2B5EF4-FFF2-40B4-BE49-F238E27FC236}">
                <a16:creationId xmlns:a16="http://schemas.microsoft.com/office/drawing/2014/main" id="{B781AC33-C47D-CE41-F333-5612FC49D32D}"/>
              </a:ext>
            </a:extLst>
          </p:cNvPr>
          <p:cNvSpPr>
            <a:spLocks noGrp="1"/>
          </p:cNvSpPr>
          <p:nvPr>
            <p:ph type="pic" sz="quarter" idx="36" hasCustomPrompt="1"/>
          </p:nvPr>
        </p:nvSpPr>
        <p:spPr>
          <a:xfrm>
            <a:off x="7269480" y="205281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3" name="Text Placeholder 4">
            <a:extLst>
              <a:ext uri="{FF2B5EF4-FFF2-40B4-BE49-F238E27FC236}">
                <a16:creationId xmlns:a16="http://schemas.microsoft.com/office/drawing/2014/main" id="{46EC207A-75A9-199D-31B5-9D8D502D7FD0}"/>
              </a:ext>
            </a:extLst>
          </p:cNvPr>
          <p:cNvSpPr>
            <a:spLocks noGrp="1"/>
          </p:cNvSpPr>
          <p:nvPr>
            <p:ph type="body" sz="quarter" idx="37" hasCustomPrompt="1"/>
          </p:nvPr>
        </p:nvSpPr>
        <p:spPr>
          <a:xfrm>
            <a:off x="7171506" y="3762103"/>
            <a:ext cx="2209799"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4" name="Content Placeholder 3">
            <a:extLst>
              <a:ext uri="{FF2B5EF4-FFF2-40B4-BE49-F238E27FC236}">
                <a16:creationId xmlns:a16="http://schemas.microsoft.com/office/drawing/2014/main" id="{EA2978D8-3542-6E8A-613E-6B54448341D0}"/>
              </a:ext>
            </a:extLst>
          </p:cNvPr>
          <p:cNvSpPr>
            <a:spLocks noGrp="1"/>
          </p:cNvSpPr>
          <p:nvPr>
            <p:ph sz="half" idx="38" hasCustomPrompt="1"/>
          </p:nvPr>
        </p:nvSpPr>
        <p:spPr>
          <a:xfrm>
            <a:off x="7171506" y="416416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5" name="Picture Placeholder 4">
            <a:extLst>
              <a:ext uri="{FF2B5EF4-FFF2-40B4-BE49-F238E27FC236}">
                <a16:creationId xmlns:a16="http://schemas.microsoft.com/office/drawing/2014/main" id="{9B3D4EE7-E3D1-3FAD-4643-1190D06F4ABA}"/>
              </a:ext>
            </a:extLst>
          </p:cNvPr>
          <p:cNvSpPr>
            <a:spLocks noGrp="1"/>
          </p:cNvSpPr>
          <p:nvPr>
            <p:ph type="pic" sz="quarter" idx="39" hasCustomPrompt="1"/>
          </p:nvPr>
        </p:nvSpPr>
        <p:spPr>
          <a:xfrm>
            <a:off x="9707880" y="205281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6" name="Text Placeholder 4">
            <a:extLst>
              <a:ext uri="{FF2B5EF4-FFF2-40B4-BE49-F238E27FC236}">
                <a16:creationId xmlns:a16="http://schemas.microsoft.com/office/drawing/2014/main" id="{CF1F1B6B-6BC0-7CE5-8AA0-65781BC5B497}"/>
              </a:ext>
            </a:extLst>
          </p:cNvPr>
          <p:cNvSpPr>
            <a:spLocks noGrp="1"/>
          </p:cNvSpPr>
          <p:nvPr>
            <p:ph type="body" sz="quarter" idx="40" hasCustomPrompt="1"/>
          </p:nvPr>
        </p:nvSpPr>
        <p:spPr>
          <a:xfrm>
            <a:off x="9609906" y="3762103"/>
            <a:ext cx="2220685"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7" name="Content Placeholder 3">
            <a:extLst>
              <a:ext uri="{FF2B5EF4-FFF2-40B4-BE49-F238E27FC236}">
                <a16:creationId xmlns:a16="http://schemas.microsoft.com/office/drawing/2014/main" id="{FEB4D2C4-0C4E-A036-BD82-B2C245849209}"/>
              </a:ext>
            </a:extLst>
          </p:cNvPr>
          <p:cNvSpPr>
            <a:spLocks noGrp="1"/>
          </p:cNvSpPr>
          <p:nvPr>
            <p:ph sz="half" idx="41" hasCustomPrompt="1"/>
          </p:nvPr>
        </p:nvSpPr>
        <p:spPr>
          <a:xfrm>
            <a:off x="9609906" y="416416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59167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Team 6">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3" name="Title 1">
            <a:extLst>
              <a:ext uri="{FF2B5EF4-FFF2-40B4-BE49-F238E27FC236}">
                <a16:creationId xmlns:a16="http://schemas.microsoft.com/office/drawing/2014/main" id="{D8840F6E-5028-202C-488C-6E119F9F49A9}"/>
              </a:ext>
            </a:extLst>
          </p:cNvPr>
          <p:cNvSpPr>
            <a:spLocks noGrp="1"/>
          </p:cNvSpPr>
          <p:nvPr>
            <p:ph type="title" hasCustomPrompt="1"/>
          </p:nvPr>
        </p:nvSpPr>
        <p:spPr>
          <a:xfrm>
            <a:off x="396874" y="1214845"/>
            <a:ext cx="4175126" cy="2057636"/>
          </a:xfrm>
        </p:spPr>
        <p:txBody>
          <a:bodyPr vert="horz" lIns="91440" tIns="45720" rIns="91440" bIns="45720" rtlCol="0" anchor="b">
            <a:normAutofit/>
          </a:bodyPr>
          <a:lstStyle>
            <a:lvl1pPr>
              <a:defRPr lang="en-US"/>
            </a:lvl1pPr>
          </a:lstStyle>
          <a:p>
            <a:pPr lvl="0"/>
            <a:r>
              <a:rPr lang="en-US"/>
              <a:t>Click to edit master page title</a:t>
            </a:r>
          </a:p>
        </p:txBody>
      </p:sp>
      <p:sp>
        <p:nvSpPr>
          <p:cNvPr id="4" name="Content Placeholder 3">
            <a:extLst>
              <a:ext uri="{FF2B5EF4-FFF2-40B4-BE49-F238E27FC236}">
                <a16:creationId xmlns:a16="http://schemas.microsoft.com/office/drawing/2014/main" id="{53C21450-A5C8-7AC0-18C4-F68F4E92811B}"/>
              </a:ext>
            </a:extLst>
          </p:cNvPr>
          <p:cNvSpPr>
            <a:spLocks noGrp="1"/>
          </p:cNvSpPr>
          <p:nvPr>
            <p:ph sz="half" idx="35" hasCustomPrompt="1"/>
          </p:nvPr>
        </p:nvSpPr>
        <p:spPr>
          <a:xfrm>
            <a:off x="385986" y="3299740"/>
            <a:ext cx="4186014" cy="2428368"/>
          </a:xfrm>
        </p:spPr>
        <p:txBody>
          <a:bodyPr>
            <a:normAutofit/>
          </a:bodyPr>
          <a:lstStyle>
            <a:lvl1pPr marL="0" indent="0">
              <a:buNone/>
              <a:defRPr sz="2400">
                <a:solidFill>
                  <a:schemeClr val="tx1"/>
                </a:solidFill>
              </a:defRPr>
            </a:lvl1pPr>
            <a:lvl2pPr marL="520700" indent="-228600">
              <a:buClr>
                <a:srgbClr val="C00000"/>
              </a:buClr>
              <a:buSzPct val="110000"/>
              <a:buFont typeface="Arial" panose="020B0604020202020204" pitchFamily="34" charset="0"/>
              <a:buChar char="•"/>
              <a:tabLst/>
              <a:defRPr sz="2000">
                <a:solidFill>
                  <a:schemeClr val="tx1"/>
                </a:solidFill>
              </a:defRPr>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5" name="Picture Placeholder 4">
            <a:extLst>
              <a:ext uri="{FF2B5EF4-FFF2-40B4-BE49-F238E27FC236}">
                <a16:creationId xmlns:a16="http://schemas.microsoft.com/office/drawing/2014/main" id="{FE19BD27-A5AE-4AED-A944-00ED745F24F8}"/>
              </a:ext>
            </a:extLst>
          </p:cNvPr>
          <p:cNvSpPr>
            <a:spLocks noGrp="1"/>
          </p:cNvSpPr>
          <p:nvPr>
            <p:ph type="pic" sz="quarter" idx="13" hasCustomPrompt="1"/>
          </p:nvPr>
        </p:nvSpPr>
        <p:spPr>
          <a:xfrm>
            <a:off x="4837311" y="69645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15" name="Text Placeholder 4">
            <a:extLst>
              <a:ext uri="{FF2B5EF4-FFF2-40B4-BE49-F238E27FC236}">
                <a16:creationId xmlns:a16="http://schemas.microsoft.com/office/drawing/2014/main" id="{5B9DF506-FA73-4B69-BFF8-9508CCD1B341}"/>
              </a:ext>
            </a:extLst>
          </p:cNvPr>
          <p:cNvSpPr>
            <a:spLocks noGrp="1"/>
          </p:cNvSpPr>
          <p:nvPr>
            <p:ph type="body" sz="quarter" idx="16" hasCustomPrompt="1"/>
          </p:nvPr>
        </p:nvSpPr>
        <p:spPr>
          <a:xfrm>
            <a:off x="4739337" y="2405743"/>
            <a:ext cx="2225340"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8" name="Content Placeholder 3">
            <a:extLst>
              <a:ext uri="{FF2B5EF4-FFF2-40B4-BE49-F238E27FC236}">
                <a16:creationId xmlns:a16="http://schemas.microsoft.com/office/drawing/2014/main" id="{D3C25E06-F692-49FF-AE8E-D1AB6FF3AAB9}"/>
              </a:ext>
            </a:extLst>
          </p:cNvPr>
          <p:cNvSpPr>
            <a:spLocks noGrp="1"/>
          </p:cNvSpPr>
          <p:nvPr>
            <p:ph sz="half" idx="19" hasCustomPrompt="1"/>
          </p:nvPr>
        </p:nvSpPr>
        <p:spPr>
          <a:xfrm>
            <a:off x="4739337" y="280780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2" name="Picture Placeholder 4">
            <a:extLst>
              <a:ext uri="{FF2B5EF4-FFF2-40B4-BE49-F238E27FC236}">
                <a16:creationId xmlns:a16="http://schemas.microsoft.com/office/drawing/2014/main" id="{B781AC33-C47D-CE41-F333-5612FC49D32D}"/>
              </a:ext>
            </a:extLst>
          </p:cNvPr>
          <p:cNvSpPr>
            <a:spLocks noGrp="1"/>
          </p:cNvSpPr>
          <p:nvPr>
            <p:ph type="pic" sz="quarter" idx="36" hasCustomPrompt="1"/>
          </p:nvPr>
        </p:nvSpPr>
        <p:spPr>
          <a:xfrm>
            <a:off x="7269480" y="69645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3" name="Text Placeholder 4">
            <a:extLst>
              <a:ext uri="{FF2B5EF4-FFF2-40B4-BE49-F238E27FC236}">
                <a16:creationId xmlns:a16="http://schemas.microsoft.com/office/drawing/2014/main" id="{46EC207A-75A9-199D-31B5-9D8D502D7FD0}"/>
              </a:ext>
            </a:extLst>
          </p:cNvPr>
          <p:cNvSpPr>
            <a:spLocks noGrp="1"/>
          </p:cNvSpPr>
          <p:nvPr>
            <p:ph type="body" sz="quarter" idx="37" hasCustomPrompt="1"/>
          </p:nvPr>
        </p:nvSpPr>
        <p:spPr>
          <a:xfrm>
            <a:off x="7171506" y="2405743"/>
            <a:ext cx="2209799"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4" name="Content Placeholder 3">
            <a:extLst>
              <a:ext uri="{FF2B5EF4-FFF2-40B4-BE49-F238E27FC236}">
                <a16:creationId xmlns:a16="http://schemas.microsoft.com/office/drawing/2014/main" id="{EA2978D8-3542-6E8A-613E-6B54448341D0}"/>
              </a:ext>
            </a:extLst>
          </p:cNvPr>
          <p:cNvSpPr>
            <a:spLocks noGrp="1"/>
          </p:cNvSpPr>
          <p:nvPr>
            <p:ph sz="half" idx="38" hasCustomPrompt="1"/>
          </p:nvPr>
        </p:nvSpPr>
        <p:spPr>
          <a:xfrm>
            <a:off x="7171506" y="280780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5" name="Picture Placeholder 4">
            <a:extLst>
              <a:ext uri="{FF2B5EF4-FFF2-40B4-BE49-F238E27FC236}">
                <a16:creationId xmlns:a16="http://schemas.microsoft.com/office/drawing/2014/main" id="{9B3D4EE7-E3D1-3FAD-4643-1190D06F4ABA}"/>
              </a:ext>
            </a:extLst>
          </p:cNvPr>
          <p:cNvSpPr>
            <a:spLocks noGrp="1"/>
          </p:cNvSpPr>
          <p:nvPr>
            <p:ph type="pic" sz="quarter" idx="39" hasCustomPrompt="1"/>
          </p:nvPr>
        </p:nvSpPr>
        <p:spPr>
          <a:xfrm>
            <a:off x="9707880" y="69645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6" name="Text Placeholder 4">
            <a:extLst>
              <a:ext uri="{FF2B5EF4-FFF2-40B4-BE49-F238E27FC236}">
                <a16:creationId xmlns:a16="http://schemas.microsoft.com/office/drawing/2014/main" id="{CF1F1B6B-6BC0-7CE5-8AA0-65781BC5B497}"/>
              </a:ext>
            </a:extLst>
          </p:cNvPr>
          <p:cNvSpPr>
            <a:spLocks noGrp="1"/>
          </p:cNvSpPr>
          <p:nvPr>
            <p:ph type="body" sz="quarter" idx="40" hasCustomPrompt="1"/>
          </p:nvPr>
        </p:nvSpPr>
        <p:spPr>
          <a:xfrm>
            <a:off x="9609906" y="2405743"/>
            <a:ext cx="2220685"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7" name="Content Placeholder 3">
            <a:extLst>
              <a:ext uri="{FF2B5EF4-FFF2-40B4-BE49-F238E27FC236}">
                <a16:creationId xmlns:a16="http://schemas.microsoft.com/office/drawing/2014/main" id="{FEB4D2C4-0C4E-A036-BD82-B2C245849209}"/>
              </a:ext>
            </a:extLst>
          </p:cNvPr>
          <p:cNvSpPr>
            <a:spLocks noGrp="1"/>
          </p:cNvSpPr>
          <p:nvPr>
            <p:ph sz="half" idx="41" hasCustomPrompt="1"/>
          </p:nvPr>
        </p:nvSpPr>
        <p:spPr>
          <a:xfrm>
            <a:off x="9609906" y="280780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8" name="Picture Placeholder 4">
            <a:extLst>
              <a:ext uri="{FF2B5EF4-FFF2-40B4-BE49-F238E27FC236}">
                <a16:creationId xmlns:a16="http://schemas.microsoft.com/office/drawing/2014/main" id="{8DB9D046-1452-3F52-9EF6-F1591861163B}"/>
              </a:ext>
            </a:extLst>
          </p:cNvPr>
          <p:cNvSpPr>
            <a:spLocks noGrp="1"/>
          </p:cNvSpPr>
          <p:nvPr>
            <p:ph type="pic" sz="quarter" idx="42" hasCustomPrompt="1"/>
          </p:nvPr>
        </p:nvSpPr>
        <p:spPr>
          <a:xfrm>
            <a:off x="4837311" y="3581400"/>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9" name="Text Placeholder 4">
            <a:extLst>
              <a:ext uri="{FF2B5EF4-FFF2-40B4-BE49-F238E27FC236}">
                <a16:creationId xmlns:a16="http://schemas.microsoft.com/office/drawing/2014/main" id="{99F1484B-33B4-49AF-50B3-692F9415D08D}"/>
              </a:ext>
            </a:extLst>
          </p:cNvPr>
          <p:cNvSpPr>
            <a:spLocks noGrp="1"/>
          </p:cNvSpPr>
          <p:nvPr>
            <p:ph type="body" sz="quarter" idx="43" hasCustomPrompt="1"/>
          </p:nvPr>
        </p:nvSpPr>
        <p:spPr>
          <a:xfrm>
            <a:off x="4739337" y="5290686"/>
            <a:ext cx="2225340"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50" name="Content Placeholder 3">
            <a:extLst>
              <a:ext uri="{FF2B5EF4-FFF2-40B4-BE49-F238E27FC236}">
                <a16:creationId xmlns:a16="http://schemas.microsoft.com/office/drawing/2014/main" id="{A8463267-4C32-C0A8-B221-D5C692958888}"/>
              </a:ext>
            </a:extLst>
          </p:cNvPr>
          <p:cNvSpPr>
            <a:spLocks noGrp="1"/>
          </p:cNvSpPr>
          <p:nvPr>
            <p:ph sz="half" idx="44" hasCustomPrompt="1"/>
          </p:nvPr>
        </p:nvSpPr>
        <p:spPr>
          <a:xfrm>
            <a:off x="4739337" y="5692745"/>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51" name="Picture Placeholder 4">
            <a:extLst>
              <a:ext uri="{FF2B5EF4-FFF2-40B4-BE49-F238E27FC236}">
                <a16:creationId xmlns:a16="http://schemas.microsoft.com/office/drawing/2014/main" id="{0F713BA4-C3F0-7266-BFA2-4EB5D9BED635}"/>
              </a:ext>
            </a:extLst>
          </p:cNvPr>
          <p:cNvSpPr>
            <a:spLocks noGrp="1"/>
          </p:cNvSpPr>
          <p:nvPr>
            <p:ph type="pic" sz="quarter" idx="45" hasCustomPrompt="1"/>
          </p:nvPr>
        </p:nvSpPr>
        <p:spPr>
          <a:xfrm>
            <a:off x="7269480" y="3581400"/>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52" name="Text Placeholder 4">
            <a:extLst>
              <a:ext uri="{FF2B5EF4-FFF2-40B4-BE49-F238E27FC236}">
                <a16:creationId xmlns:a16="http://schemas.microsoft.com/office/drawing/2014/main" id="{77A3737E-4F1C-4A60-75FE-0CD6387D447B}"/>
              </a:ext>
            </a:extLst>
          </p:cNvPr>
          <p:cNvSpPr>
            <a:spLocks noGrp="1"/>
          </p:cNvSpPr>
          <p:nvPr>
            <p:ph type="body" sz="quarter" idx="46" hasCustomPrompt="1"/>
          </p:nvPr>
        </p:nvSpPr>
        <p:spPr>
          <a:xfrm>
            <a:off x="7171506" y="5290686"/>
            <a:ext cx="2209799"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53" name="Content Placeholder 3">
            <a:extLst>
              <a:ext uri="{FF2B5EF4-FFF2-40B4-BE49-F238E27FC236}">
                <a16:creationId xmlns:a16="http://schemas.microsoft.com/office/drawing/2014/main" id="{1F5B1B2F-7A86-7712-D642-D31C7A449AC0}"/>
              </a:ext>
            </a:extLst>
          </p:cNvPr>
          <p:cNvSpPr>
            <a:spLocks noGrp="1"/>
          </p:cNvSpPr>
          <p:nvPr>
            <p:ph sz="half" idx="47" hasCustomPrompt="1"/>
          </p:nvPr>
        </p:nvSpPr>
        <p:spPr>
          <a:xfrm>
            <a:off x="7171506" y="5692745"/>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54" name="Picture Placeholder 4">
            <a:extLst>
              <a:ext uri="{FF2B5EF4-FFF2-40B4-BE49-F238E27FC236}">
                <a16:creationId xmlns:a16="http://schemas.microsoft.com/office/drawing/2014/main" id="{1AF508C4-773E-5526-D0B3-4519BA6E9F49}"/>
              </a:ext>
            </a:extLst>
          </p:cNvPr>
          <p:cNvSpPr>
            <a:spLocks noGrp="1"/>
          </p:cNvSpPr>
          <p:nvPr>
            <p:ph type="pic" sz="quarter" idx="48" hasCustomPrompt="1"/>
          </p:nvPr>
        </p:nvSpPr>
        <p:spPr>
          <a:xfrm>
            <a:off x="9707880" y="3581400"/>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55" name="Text Placeholder 4">
            <a:extLst>
              <a:ext uri="{FF2B5EF4-FFF2-40B4-BE49-F238E27FC236}">
                <a16:creationId xmlns:a16="http://schemas.microsoft.com/office/drawing/2014/main" id="{5A52EAA6-4323-C683-D3E0-0360F2401CBE}"/>
              </a:ext>
            </a:extLst>
          </p:cNvPr>
          <p:cNvSpPr>
            <a:spLocks noGrp="1"/>
          </p:cNvSpPr>
          <p:nvPr>
            <p:ph type="body" sz="quarter" idx="49" hasCustomPrompt="1"/>
          </p:nvPr>
        </p:nvSpPr>
        <p:spPr>
          <a:xfrm>
            <a:off x="9609906" y="5290686"/>
            <a:ext cx="2220685"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56" name="Content Placeholder 3">
            <a:extLst>
              <a:ext uri="{FF2B5EF4-FFF2-40B4-BE49-F238E27FC236}">
                <a16:creationId xmlns:a16="http://schemas.microsoft.com/office/drawing/2014/main" id="{ED840ECE-E392-54F4-E5E0-09C6BAC5F6FA}"/>
              </a:ext>
            </a:extLst>
          </p:cNvPr>
          <p:cNvSpPr>
            <a:spLocks noGrp="1"/>
          </p:cNvSpPr>
          <p:nvPr>
            <p:ph sz="half" idx="50" hasCustomPrompt="1"/>
          </p:nvPr>
        </p:nvSpPr>
        <p:spPr>
          <a:xfrm>
            <a:off x="9609906" y="5692745"/>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05526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1 Full Page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3" name="Picture Placeholder 4">
            <a:extLst>
              <a:ext uri="{FF2B5EF4-FFF2-40B4-BE49-F238E27FC236}">
                <a16:creationId xmlns:a16="http://schemas.microsoft.com/office/drawing/2014/main" id="{2EA2B1EF-1641-E792-AEFE-F012F6930A14}"/>
              </a:ext>
            </a:extLst>
          </p:cNvPr>
          <p:cNvSpPr>
            <a:spLocks noGrp="1"/>
          </p:cNvSpPr>
          <p:nvPr>
            <p:ph type="pic" sz="quarter" idx="14" hasCustomPrompt="1"/>
          </p:nvPr>
        </p:nvSpPr>
        <p:spPr>
          <a:xfrm>
            <a:off x="381000" y="381000"/>
            <a:ext cx="11414127" cy="5766413"/>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736627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1 Wide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 name="Title 1">
            <a:extLst>
              <a:ext uri="{FF2B5EF4-FFF2-40B4-BE49-F238E27FC236}">
                <a16:creationId xmlns:a16="http://schemas.microsoft.com/office/drawing/2014/main" id="{4319CF42-CFB0-4813-AFA8-72E0DF893747}"/>
              </a:ext>
            </a:extLst>
          </p:cNvPr>
          <p:cNvSpPr>
            <a:spLocks noGrp="1"/>
          </p:cNvSpPr>
          <p:nvPr>
            <p:ph type="title" hasCustomPrompt="1"/>
          </p:nvPr>
        </p:nvSpPr>
        <p:spPr>
          <a:xfrm>
            <a:off x="396873" y="272592"/>
            <a:ext cx="4175127" cy="1557660"/>
          </a:xfrm>
        </p:spPr>
        <p:txBody>
          <a:bodyPr vert="horz" lIns="91440" tIns="45720" rIns="91440" bIns="45720" rtlCol="0" anchor="b">
            <a:normAutofit/>
          </a:bodyPr>
          <a:lstStyle>
            <a:lvl1pPr>
              <a:defRPr lang="en-US"/>
            </a:lvl1pPr>
          </a:lstStyle>
          <a:p>
            <a:pPr lvl="0"/>
            <a:r>
              <a:rPr lang="en-US"/>
              <a:t>Add your slide title</a:t>
            </a:r>
          </a:p>
        </p:txBody>
      </p:sp>
      <p:sp>
        <p:nvSpPr>
          <p:cNvPr id="4" name="Content Placeholder 3">
            <a:extLst>
              <a:ext uri="{FF2B5EF4-FFF2-40B4-BE49-F238E27FC236}">
                <a16:creationId xmlns:a16="http://schemas.microsoft.com/office/drawing/2014/main" id="{2896339C-BF56-4C01-9057-10C1041C7837}"/>
              </a:ext>
            </a:extLst>
          </p:cNvPr>
          <p:cNvSpPr>
            <a:spLocks noGrp="1"/>
          </p:cNvSpPr>
          <p:nvPr>
            <p:ph sz="half" idx="2" hasCustomPrompt="1"/>
          </p:nvPr>
        </p:nvSpPr>
        <p:spPr>
          <a:xfrm>
            <a:off x="4771571" y="546912"/>
            <a:ext cx="7023556" cy="1557660"/>
          </a:xfrm>
        </p:spPr>
        <p:txBody>
          <a:bodyPr>
            <a:normAutofit/>
          </a:bodyPr>
          <a:lstStyle>
            <a:lvl1pPr marL="0" indent="0">
              <a:buClr>
                <a:schemeClr val="accent1"/>
              </a:buClr>
              <a:buNone/>
              <a:defRPr sz="2400"/>
            </a:lvl1pPr>
            <a:lvl2pPr marL="520700" indent="-228600">
              <a:buClr>
                <a:schemeClr val="accent1"/>
              </a:buClr>
              <a:buSzPct val="110000"/>
              <a:buFont typeface="Arial" panose="020B0604020202020204" pitchFamily="34" charset="0"/>
              <a:buChar char="•"/>
              <a:tabLst/>
              <a:defRPr sz="2000"/>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3" name="Picture Placeholder 4">
            <a:extLst>
              <a:ext uri="{FF2B5EF4-FFF2-40B4-BE49-F238E27FC236}">
                <a16:creationId xmlns:a16="http://schemas.microsoft.com/office/drawing/2014/main" id="{2EA2B1EF-1641-E792-AEFE-F012F6930A14}"/>
              </a:ext>
            </a:extLst>
          </p:cNvPr>
          <p:cNvSpPr>
            <a:spLocks noGrp="1"/>
          </p:cNvSpPr>
          <p:nvPr>
            <p:ph type="pic" sz="quarter" idx="14" hasCustomPrompt="1"/>
          </p:nvPr>
        </p:nvSpPr>
        <p:spPr>
          <a:xfrm>
            <a:off x="396873" y="2278743"/>
            <a:ext cx="11398254" cy="3868669"/>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952040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1 Large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0" name="Title 1">
            <a:extLst>
              <a:ext uri="{FF2B5EF4-FFF2-40B4-BE49-F238E27FC236}">
                <a16:creationId xmlns:a16="http://schemas.microsoft.com/office/drawing/2014/main" id="{DD6DB94C-2BA1-25B7-2E42-3F62C5C50517}"/>
              </a:ext>
            </a:extLst>
          </p:cNvPr>
          <p:cNvSpPr>
            <a:spLocks noGrp="1"/>
          </p:cNvSpPr>
          <p:nvPr>
            <p:ph type="title" hasCustomPrompt="1"/>
          </p:nvPr>
        </p:nvSpPr>
        <p:spPr>
          <a:xfrm>
            <a:off x="396874" y="1214845"/>
            <a:ext cx="4175126" cy="2057636"/>
          </a:xfrm>
        </p:spPr>
        <p:txBody>
          <a:bodyPr anchor="b"/>
          <a:lstStyle>
            <a:lvl1pPr>
              <a:defRPr>
                <a:solidFill>
                  <a:schemeClr val="accent1"/>
                </a:solidFill>
              </a:defRPr>
            </a:lvl1pPr>
          </a:lstStyle>
          <a:p>
            <a:r>
              <a:rPr lang="en-US"/>
              <a:t>Click to edit master page</a:t>
            </a:r>
          </a:p>
        </p:txBody>
      </p:sp>
      <p:sp>
        <p:nvSpPr>
          <p:cNvPr id="11" name="Content Placeholder 3">
            <a:extLst>
              <a:ext uri="{FF2B5EF4-FFF2-40B4-BE49-F238E27FC236}">
                <a16:creationId xmlns:a16="http://schemas.microsoft.com/office/drawing/2014/main" id="{007A25B4-BF25-2EB3-833F-C53135D04762}"/>
              </a:ext>
            </a:extLst>
          </p:cNvPr>
          <p:cNvSpPr>
            <a:spLocks noGrp="1"/>
          </p:cNvSpPr>
          <p:nvPr>
            <p:ph sz="half" idx="35" hasCustomPrompt="1"/>
          </p:nvPr>
        </p:nvSpPr>
        <p:spPr>
          <a:xfrm>
            <a:off x="385986" y="3299740"/>
            <a:ext cx="4186014" cy="2428368"/>
          </a:xfrm>
        </p:spPr>
        <p:txBody>
          <a:bodyPr>
            <a:normAutofit/>
          </a:bodyPr>
          <a:lstStyle>
            <a:lvl1pPr marL="0" indent="0">
              <a:buNone/>
              <a:defRPr sz="2400">
                <a:solidFill>
                  <a:schemeClr val="tx1"/>
                </a:solidFill>
              </a:defRPr>
            </a:lvl1pPr>
            <a:lvl2pPr marL="520700" indent="-228600">
              <a:buClr>
                <a:srgbClr val="C00000"/>
              </a:buClr>
              <a:buSzPct val="110000"/>
              <a:buFont typeface="Arial" panose="020B0604020202020204" pitchFamily="34" charset="0"/>
              <a:buChar char="•"/>
              <a:tabLst/>
              <a:defRPr sz="2000">
                <a:solidFill>
                  <a:schemeClr val="tx1"/>
                </a:solidFill>
              </a:defRPr>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6" name="Content Placeholder 5">
            <a:extLst>
              <a:ext uri="{FF2B5EF4-FFF2-40B4-BE49-F238E27FC236}">
                <a16:creationId xmlns:a16="http://schemas.microsoft.com/office/drawing/2014/main" id="{F9AB3712-421D-4D44-A208-FCFD9F142B33}"/>
              </a:ext>
            </a:extLst>
          </p:cNvPr>
          <p:cNvSpPr>
            <a:spLocks noGrp="1"/>
          </p:cNvSpPr>
          <p:nvPr>
            <p:ph sz="quarter" idx="15" hasCustomPrompt="1"/>
          </p:nvPr>
        </p:nvSpPr>
        <p:spPr>
          <a:xfrm>
            <a:off x="4855028" y="365125"/>
            <a:ext cx="6940099" cy="5683025"/>
          </a:xfrm>
        </p:spPr>
        <p:txBody>
          <a:bodyPr anchor="ctr">
            <a:normAutofit/>
          </a:bodyPr>
          <a:lstStyle>
            <a:lvl1pPr marL="0" indent="0" algn="ctr">
              <a:buNone/>
              <a:defRPr sz="1800">
                <a:solidFill>
                  <a:schemeClr val="bg1">
                    <a:lumMod val="50000"/>
                  </a:schemeClr>
                </a:solidFill>
              </a:defRPr>
            </a:lvl1pPr>
          </a:lstStyle>
          <a:p>
            <a:pPr lvl="0"/>
            <a:r>
              <a:rPr lang="en-US"/>
              <a:t>Click to add a chart or table</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55932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1 Tall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7" name="Title 1">
            <a:extLst>
              <a:ext uri="{FF2B5EF4-FFF2-40B4-BE49-F238E27FC236}">
                <a16:creationId xmlns:a16="http://schemas.microsoft.com/office/drawing/2014/main" id="{C1FDC804-E7FE-7C50-C943-67092224674F}"/>
              </a:ext>
            </a:extLst>
          </p:cNvPr>
          <p:cNvSpPr>
            <a:spLocks noGrp="1"/>
          </p:cNvSpPr>
          <p:nvPr>
            <p:ph type="title" hasCustomPrompt="1"/>
          </p:nvPr>
        </p:nvSpPr>
        <p:spPr>
          <a:xfrm>
            <a:off x="1588982" y="1088571"/>
            <a:ext cx="4507018" cy="2035865"/>
          </a:xfrm>
        </p:spPr>
        <p:txBody>
          <a:bodyPr vert="horz" lIns="91440" tIns="45720" rIns="91440" bIns="45720" rtlCol="0" anchor="b">
            <a:normAutofit/>
          </a:bodyPr>
          <a:lstStyle>
            <a:lvl1pPr>
              <a:defRPr lang="en-US"/>
            </a:lvl1pPr>
          </a:lstStyle>
          <a:p>
            <a:pPr lvl="0"/>
            <a:r>
              <a:rPr lang="en-US"/>
              <a:t>Click to edit master page title</a:t>
            </a:r>
          </a:p>
        </p:txBody>
      </p:sp>
      <p:sp>
        <p:nvSpPr>
          <p:cNvPr id="4" name="Content Placeholder 3">
            <a:extLst>
              <a:ext uri="{FF2B5EF4-FFF2-40B4-BE49-F238E27FC236}">
                <a16:creationId xmlns:a16="http://schemas.microsoft.com/office/drawing/2014/main" id="{93800667-0B00-7C89-1FA5-FF679669B42C}"/>
              </a:ext>
            </a:extLst>
          </p:cNvPr>
          <p:cNvSpPr>
            <a:spLocks noGrp="1"/>
          </p:cNvSpPr>
          <p:nvPr>
            <p:ph sz="half" idx="2" hasCustomPrompt="1"/>
          </p:nvPr>
        </p:nvSpPr>
        <p:spPr>
          <a:xfrm>
            <a:off x="1588982" y="3162581"/>
            <a:ext cx="4507018" cy="2428368"/>
          </a:xfrm>
        </p:spPr>
        <p:txBody>
          <a:bodyPr>
            <a:normAutofit/>
          </a:bodyPr>
          <a:lstStyle>
            <a:lvl1pPr marL="0" indent="0">
              <a:buClr>
                <a:schemeClr val="accent1"/>
              </a:buClr>
              <a:buNone/>
              <a:defRPr sz="2400"/>
            </a:lvl1pPr>
            <a:lvl2pPr marL="520700" indent="-228600">
              <a:buClr>
                <a:schemeClr val="accent1"/>
              </a:buClr>
              <a:buSzPct val="110000"/>
              <a:buFont typeface="Arial" panose="020B0604020202020204" pitchFamily="34" charset="0"/>
              <a:buChar char="•"/>
              <a:tabLst/>
              <a:defRPr sz="2000"/>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5" name="Picture Placeholder 4">
            <a:extLst>
              <a:ext uri="{FF2B5EF4-FFF2-40B4-BE49-F238E27FC236}">
                <a16:creationId xmlns:a16="http://schemas.microsoft.com/office/drawing/2014/main" id="{D105C42B-C8C5-451C-A726-855DF2E48625}"/>
              </a:ext>
            </a:extLst>
          </p:cNvPr>
          <p:cNvSpPr>
            <a:spLocks noGrp="1"/>
          </p:cNvSpPr>
          <p:nvPr>
            <p:ph type="pic" sz="quarter" idx="14" hasCustomPrompt="1"/>
          </p:nvPr>
        </p:nvSpPr>
        <p:spPr>
          <a:xfrm>
            <a:off x="6292826" y="365126"/>
            <a:ext cx="4480151" cy="5683024"/>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367499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3 Images">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5" name="Title 1">
            <a:extLst>
              <a:ext uri="{FF2B5EF4-FFF2-40B4-BE49-F238E27FC236}">
                <a16:creationId xmlns:a16="http://schemas.microsoft.com/office/drawing/2014/main" id="{E79F3245-5C19-491B-A3C7-0953BE94EC53}"/>
              </a:ext>
            </a:extLst>
          </p:cNvPr>
          <p:cNvSpPr>
            <a:spLocks noGrp="1"/>
          </p:cNvSpPr>
          <p:nvPr>
            <p:ph type="title" hasCustomPrompt="1"/>
          </p:nvPr>
        </p:nvSpPr>
        <p:spPr>
          <a:xfrm>
            <a:off x="396872" y="1105116"/>
            <a:ext cx="4164242" cy="1950793"/>
          </a:xfrm>
        </p:spPr>
        <p:txBody>
          <a:bodyPr vert="horz" lIns="91440" tIns="45720" rIns="91440" bIns="45720" rtlCol="0" anchor="b">
            <a:normAutofit/>
          </a:bodyPr>
          <a:lstStyle>
            <a:lvl1pPr>
              <a:defRPr lang="en-US" dirty="0"/>
            </a:lvl1pPr>
          </a:lstStyle>
          <a:p>
            <a:pPr lvl="0"/>
            <a:r>
              <a:rPr lang="en-US"/>
              <a:t>Click to edit</a:t>
            </a:r>
            <a:br>
              <a:rPr lang="en-US"/>
            </a:br>
            <a:r>
              <a:rPr lang="en-US"/>
              <a:t>master page</a:t>
            </a:r>
          </a:p>
        </p:txBody>
      </p:sp>
      <p:sp>
        <p:nvSpPr>
          <p:cNvPr id="29" name="Content Placeholder 3">
            <a:extLst>
              <a:ext uri="{FF2B5EF4-FFF2-40B4-BE49-F238E27FC236}">
                <a16:creationId xmlns:a16="http://schemas.microsoft.com/office/drawing/2014/main" id="{E1ED6957-2F68-AC1E-7E2F-65AD6BFD944E}"/>
              </a:ext>
            </a:extLst>
          </p:cNvPr>
          <p:cNvSpPr>
            <a:spLocks noGrp="1"/>
          </p:cNvSpPr>
          <p:nvPr>
            <p:ph sz="half" idx="13" hasCustomPrompt="1"/>
          </p:nvPr>
        </p:nvSpPr>
        <p:spPr>
          <a:xfrm>
            <a:off x="407758" y="3055909"/>
            <a:ext cx="4164242" cy="2428368"/>
          </a:xfrm>
        </p:spPr>
        <p:txBody>
          <a:bodyPr>
            <a:normAutofit/>
          </a:bodyPr>
          <a:lstStyle>
            <a:lvl1pPr marL="0" indent="0">
              <a:buNone/>
              <a:defRPr sz="2400"/>
            </a:lvl1pPr>
            <a:lvl2pPr marL="466725" indent="-228600">
              <a:buClr>
                <a:srgbClr val="C00000"/>
              </a:buClr>
              <a:buSzPct val="110000"/>
              <a:buFont typeface="Arial" panose="020B0604020202020204" pitchFamily="34" charset="0"/>
              <a:buChar char="•"/>
              <a:tabLst/>
              <a:defRPr sz="2000"/>
            </a:lvl2pPr>
            <a:lvl3pPr marL="922338" indent="-228600">
              <a:buClr>
                <a:srgbClr val="C00000"/>
              </a:buClr>
              <a:buSzPct val="90000"/>
              <a:buFont typeface="Courier New" panose="02070309020205020404" pitchFamily="49" charset="0"/>
              <a:buChar char="o"/>
              <a:tabLst/>
              <a:defRPr sz="1800"/>
            </a:lvl3pPr>
            <a:lvl4pPr marL="1485900" indent="-227013">
              <a:buFont typeface="Arial" panose="020B0604020202020204" pitchFamily="34" charset="0"/>
              <a:buChar char="•"/>
              <a:tabLst/>
              <a:defRPr sz="1600"/>
            </a:lvl4pPr>
            <a:lvl5pPr marL="1828800" indent="0">
              <a:buNone/>
              <a:defRPr sz="1600"/>
            </a:lvl5pPr>
          </a:lstStyle>
          <a:p>
            <a:pPr lvl="0"/>
            <a:r>
              <a:rPr lang="en-US"/>
              <a:t>Click to edit first level copy</a:t>
            </a:r>
          </a:p>
          <a:p>
            <a:pPr lvl="1"/>
            <a:r>
              <a:rPr lang="en-US"/>
              <a:t>Second level copy </a:t>
            </a:r>
          </a:p>
          <a:p>
            <a:pPr lvl="2"/>
            <a:r>
              <a:rPr lang="en-US"/>
              <a:t>Third level copy</a:t>
            </a:r>
          </a:p>
          <a:p>
            <a:pPr lvl="3"/>
            <a:r>
              <a:rPr lang="en-US"/>
              <a:t>Fourth level</a:t>
            </a:r>
          </a:p>
        </p:txBody>
      </p:sp>
      <p:sp>
        <p:nvSpPr>
          <p:cNvPr id="5" name="Picture Placeholder 4">
            <a:extLst>
              <a:ext uri="{FF2B5EF4-FFF2-40B4-BE49-F238E27FC236}">
                <a16:creationId xmlns:a16="http://schemas.microsoft.com/office/drawing/2014/main" id="{D105C42B-C8C5-451C-A726-855DF2E48625}"/>
              </a:ext>
            </a:extLst>
          </p:cNvPr>
          <p:cNvSpPr>
            <a:spLocks noGrp="1"/>
          </p:cNvSpPr>
          <p:nvPr>
            <p:ph type="pic" sz="quarter" idx="14"/>
          </p:nvPr>
        </p:nvSpPr>
        <p:spPr>
          <a:xfrm>
            <a:off x="4839788" y="351320"/>
            <a:ext cx="6955340" cy="2903509"/>
          </a:xfrm>
        </p:spPr>
        <p:txBody>
          <a:bodyPr/>
          <a:lstStyle/>
          <a:p>
            <a:endParaRPr lang="en-US"/>
          </a:p>
        </p:txBody>
      </p:sp>
      <p:sp>
        <p:nvSpPr>
          <p:cNvPr id="10" name="Picture Placeholder 4">
            <a:extLst>
              <a:ext uri="{FF2B5EF4-FFF2-40B4-BE49-F238E27FC236}">
                <a16:creationId xmlns:a16="http://schemas.microsoft.com/office/drawing/2014/main" id="{6F2A46D0-0103-4ABC-91D6-429E06561590}"/>
              </a:ext>
            </a:extLst>
          </p:cNvPr>
          <p:cNvSpPr>
            <a:spLocks noGrp="1"/>
          </p:cNvSpPr>
          <p:nvPr>
            <p:ph type="pic" sz="quarter" idx="15"/>
          </p:nvPr>
        </p:nvSpPr>
        <p:spPr>
          <a:xfrm>
            <a:off x="4839787" y="3407229"/>
            <a:ext cx="3339392" cy="2648784"/>
          </a:xfrm>
        </p:spPr>
        <p:txBody>
          <a:bodyPr/>
          <a:lstStyle/>
          <a:p>
            <a:endParaRPr lang="en-US"/>
          </a:p>
        </p:txBody>
      </p:sp>
      <p:sp>
        <p:nvSpPr>
          <p:cNvPr id="11" name="Picture Placeholder 4">
            <a:extLst>
              <a:ext uri="{FF2B5EF4-FFF2-40B4-BE49-F238E27FC236}">
                <a16:creationId xmlns:a16="http://schemas.microsoft.com/office/drawing/2014/main" id="{BFAFE350-DAC2-4FA1-8058-2BB689DE6DEA}"/>
              </a:ext>
            </a:extLst>
          </p:cNvPr>
          <p:cNvSpPr>
            <a:spLocks noGrp="1"/>
          </p:cNvSpPr>
          <p:nvPr>
            <p:ph type="pic" sz="quarter" idx="16"/>
          </p:nvPr>
        </p:nvSpPr>
        <p:spPr>
          <a:xfrm>
            <a:off x="8346564" y="3418114"/>
            <a:ext cx="3448563" cy="2637900"/>
          </a:xfrm>
        </p:spPr>
        <p:txBody>
          <a:bodyPr/>
          <a:lstStyle/>
          <a:p>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589743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4 Images">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4" name="Title 1">
            <a:extLst>
              <a:ext uri="{FF2B5EF4-FFF2-40B4-BE49-F238E27FC236}">
                <a16:creationId xmlns:a16="http://schemas.microsoft.com/office/drawing/2014/main" id="{B06323A5-7CBF-8649-525A-F19330DD1383}"/>
              </a:ext>
            </a:extLst>
          </p:cNvPr>
          <p:cNvSpPr>
            <a:spLocks noGrp="1"/>
          </p:cNvSpPr>
          <p:nvPr>
            <p:ph type="title" hasCustomPrompt="1"/>
          </p:nvPr>
        </p:nvSpPr>
        <p:spPr>
          <a:xfrm>
            <a:off x="396872" y="1105116"/>
            <a:ext cx="4164242" cy="1950793"/>
          </a:xfrm>
        </p:spPr>
        <p:txBody>
          <a:bodyPr vert="horz" lIns="91440" tIns="45720" rIns="91440" bIns="45720" rtlCol="0" anchor="b">
            <a:normAutofit/>
          </a:bodyPr>
          <a:lstStyle>
            <a:lvl1pPr>
              <a:defRPr lang="en-US" dirty="0"/>
            </a:lvl1pPr>
          </a:lstStyle>
          <a:p>
            <a:pPr lvl="0"/>
            <a:r>
              <a:rPr lang="en-US"/>
              <a:t>Click to edit</a:t>
            </a:r>
            <a:br>
              <a:rPr lang="en-US"/>
            </a:br>
            <a:r>
              <a:rPr lang="en-US"/>
              <a:t>master page</a:t>
            </a:r>
          </a:p>
        </p:txBody>
      </p:sp>
      <p:sp>
        <p:nvSpPr>
          <p:cNvPr id="16" name="Content Placeholder 3">
            <a:extLst>
              <a:ext uri="{FF2B5EF4-FFF2-40B4-BE49-F238E27FC236}">
                <a16:creationId xmlns:a16="http://schemas.microsoft.com/office/drawing/2014/main" id="{40A089E6-0B67-BC9B-0FB9-8827CB3BD7B5}"/>
              </a:ext>
            </a:extLst>
          </p:cNvPr>
          <p:cNvSpPr>
            <a:spLocks noGrp="1"/>
          </p:cNvSpPr>
          <p:nvPr>
            <p:ph sz="half" idx="13" hasCustomPrompt="1"/>
          </p:nvPr>
        </p:nvSpPr>
        <p:spPr>
          <a:xfrm>
            <a:off x="407758" y="3055909"/>
            <a:ext cx="4164242" cy="2428368"/>
          </a:xfrm>
        </p:spPr>
        <p:txBody>
          <a:bodyPr>
            <a:normAutofit/>
          </a:bodyPr>
          <a:lstStyle>
            <a:lvl1pPr marL="0" indent="0">
              <a:buNone/>
              <a:defRPr sz="2400">
                <a:solidFill>
                  <a:schemeClr val="tx1"/>
                </a:solidFill>
              </a:defRPr>
            </a:lvl1pPr>
            <a:lvl2pPr marL="466725" indent="-228600">
              <a:buClr>
                <a:srgbClr val="C00000"/>
              </a:buClr>
              <a:buSzPct val="110000"/>
              <a:buFont typeface="Arial" panose="020B0604020202020204" pitchFamily="34" charset="0"/>
              <a:buChar char="•"/>
              <a:tabLst/>
              <a:defRPr sz="2000">
                <a:solidFill>
                  <a:schemeClr val="tx1"/>
                </a:solidFill>
              </a:defRPr>
            </a:lvl2pPr>
            <a:lvl3pPr marL="922338" indent="-228600">
              <a:buClr>
                <a:srgbClr val="C00000"/>
              </a:buClr>
              <a:buSzPct val="90000"/>
              <a:buFont typeface="Courier New" panose="02070309020205020404" pitchFamily="49" charset="0"/>
              <a:buChar char="o"/>
              <a:tabLst/>
              <a:defRPr sz="1800">
                <a:solidFill>
                  <a:schemeClr val="tx1"/>
                </a:solidFill>
              </a:defRPr>
            </a:lvl3pPr>
            <a:lvl4pPr marL="1485900" indent="-227013">
              <a:buFont typeface="Arial" panose="020B0604020202020204" pitchFamily="34" charset="0"/>
              <a:buChar char="•"/>
              <a:tabLst/>
              <a:defRPr sz="1600">
                <a:solidFill>
                  <a:schemeClr val="tx1"/>
                </a:solidFill>
              </a:defRPr>
            </a:lvl4pPr>
            <a:lvl5pPr marL="1828800" indent="0">
              <a:buNone/>
              <a:defRPr sz="1600"/>
            </a:lvl5pPr>
          </a:lstStyle>
          <a:p>
            <a:pPr lvl="0"/>
            <a:r>
              <a:rPr lang="en-US"/>
              <a:t>Click to edit first level copy</a:t>
            </a:r>
          </a:p>
          <a:p>
            <a:pPr lvl="1"/>
            <a:r>
              <a:rPr lang="en-US"/>
              <a:t>Second level copy </a:t>
            </a:r>
          </a:p>
          <a:p>
            <a:pPr lvl="2"/>
            <a:r>
              <a:rPr lang="en-US"/>
              <a:t>Third level copy</a:t>
            </a:r>
          </a:p>
          <a:p>
            <a:pPr lvl="3"/>
            <a:r>
              <a:rPr lang="en-US"/>
              <a:t>Fourth level</a:t>
            </a:r>
          </a:p>
        </p:txBody>
      </p:sp>
      <p:sp>
        <p:nvSpPr>
          <p:cNvPr id="3" name="Picture Placeholder 4">
            <a:extLst>
              <a:ext uri="{FF2B5EF4-FFF2-40B4-BE49-F238E27FC236}">
                <a16:creationId xmlns:a16="http://schemas.microsoft.com/office/drawing/2014/main" id="{7B8D5EF3-729C-8199-B5B3-5F9FD2BE26A0}"/>
              </a:ext>
            </a:extLst>
          </p:cNvPr>
          <p:cNvSpPr>
            <a:spLocks noGrp="1"/>
          </p:cNvSpPr>
          <p:nvPr>
            <p:ph type="pic" sz="quarter" idx="18"/>
          </p:nvPr>
        </p:nvSpPr>
        <p:spPr>
          <a:xfrm>
            <a:off x="4865914" y="405748"/>
            <a:ext cx="2150384" cy="2648784"/>
          </a:xfrm>
        </p:spPr>
        <p:txBody>
          <a:bodyPr/>
          <a:lstStyle/>
          <a:p>
            <a:endParaRPr lang="en-US"/>
          </a:p>
        </p:txBody>
      </p:sp>
      <p:sp>
        <p:nvSpPr>
          <p:cNvPr id="4" name="Picture Placeholder 4">
            <a:extLst>
              <a:ext uri="{FF2B5EF4-FFF2-40B4-BE49-F238E27FC236}">
                <a16:creationId xmlns:a16="http://schemas.microsoft.com/office/drawing/2014/main" id="{7E1D1186-C60B-C6DF-548F-B1A3544F867E}"/>
              </a:ext>
            </a:extLst>
          </p:cNvPr>
          <p:cNvSpPr>
            <a:spLocks noGrp="1"/>
          </p:cNvSpPr>
          <p:nvPr>
            <p:ph type="pic" sz="quarter" idx="19"/>
          </p:nvPr>
        </p:nvSpPr>
        <p:spPr>
          <a:xfrm>
            <a:off x="7185027" y="416633"/>
            <a:ext cx="2220685" cy="2637900"/>
          </a:xfrm>
        </p:spPr>
        <p:txBody>
          <a:bodyPr/>
          <a:lstStyle/>
          <a:p>
            <a:endParaRPr lang="en-US"/>
          </a:p>
        </p:txBody>
      </p:sp>
      <p:sp>
        <p:nvSpPr>
          <p:cNvPr id="6" name="Picture Placeholder 4">
            <a:extLst>
              <a:ext uri="{FF2B5EF4-FFF2-40B4-BE49-F238E27FC236}">
                <a16:creationId xmlns:a16="http://schemas.microsoft.com/office/drawing/2014/main" id="{C18A1EA7-F689-AE68-2084-689B3C45D765}"/>
              </a:ext>
            </a:extLst>
          </p:cNvPr>
          <p:cNvSpPr>
            <a:spLocks noGrp="1"/>
          </p:cNvSpPr>
          <p:nvPr>
            <p:ph type="pic" sz="quarter" idx="20"/>
          </p:nvPr>
        </p:nvSpPr>
        <p:spPr>
          <a:xfrm>
            <a:off x="9574442" y="416633"/>
            <a:ext cx="2220685" cy="2637900"/>
          </a:xfrm>
        </p:spPr>
        <p:txBody>
          <a:bodyPr/>
          <a:lstStyle/>
          <a:p>
            <a:endParaRPr lang="en-US"/>
          </a:p>
        </p:txBody>
      </p:sp>
      <p:sp>
        <p:nvSpPr>
          <p:cNvPr id="2" name="Picture Placeholder 4">
            <a:extLst>
              <a:ext uri="{FF2B5EF4-FFF2-40B4-BE49-F238E27FC236}">
                <a16:creationId xmlns:a16="http://schemas.microsoft.com/office/drawing/2014/main" id="{554D914E-44E0-C1AE-14D4-843C09829A27}"/>
              </a:ext>
            </a:extLst>
          </p:cNvPr>
          <p:cNvSpPr>
            <a:spLocks noGrp="1"/>
          </p:cNvSpPr>
          <p:nvPr>
            <p:ph type="pic" sz="quarter" idx="17"/>
          </p:nvPr>
        </p:nvSpPr>
        <p:spPr>
          <a:xfrm>
            <a:off x="4865914" y="3206932"/>
            <a:ext cx="6940099" cy="2925281"/>
          </a:xfrm>
        </p:spPr>
        <p:txBody>
          <a:bodyPr/>
          <a:lstStyle/>
          <a:p>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73156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 7 Images">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05C42B-C8C5-451C-A726-855DF2E48625}"/>
              </a:ext>
            </a:extLst>
          </p:cNvPr>
          <p:cNvSpPr>
            <a:spLocks noGrp="1"/>
          </p:cNvSpPr>
          <p:nvPr>
            <p:ph type="pic" sz="quarter" idx="14"/>
          </p:nvPr>
        </p:nvSpPr>
        <p:spPr>
          <a:xfrm>
            <a:off x="396873" y="427519"/>
            <a:ext cx="4469041" cy="2961495"/>
          </a:xfrm>
        </p:spPr>
        <p:txBody>
          <a:bodyPr/>
          <a:lstStyle/>
          <a:p>
            <a:endParaRPr lang="en-US"/>
          </a:p>
        </p:txBody>
      </p:sp>
      <p:sp>
        <p:nvSpPr>
          <p:cNvPr id="10" name="Picture Placeholder 4">
            <a:extLst>
              <a:ext uri="{FF2B5EF4-FFF2-40B4-BE49-F238E27FC236}">
                <a16:creationId xmlns:a16="http://schemas.microsoft.com/office/drawing/2014/main" id="{6F2A46D0-0103-4ABC-91D6-429E06561590}"/>
              </a:ext>
            </a:extLst>
          </p:cNvPr>
          <p:cNvSpPr>
            <a:spLocks noGrp="1"/>
          </p:cNvSpPr>
          <p:nvPr>
            <p:ph type="pic" sz="quarter" idx="15"/>
          </p:nvPr>
        </p:nvSpPr>
        <p:spPr>
          <a:xfrm>
            <a:off x="396873" y="3483429"/>
            <a:ext cx="2150384" cy="2648784"/>
          </a:xfrm>
        </p:spPr>
        <p:txBody>
          <a:bodyPr/>
          <a:lstStyle/>
          <a:p>
            <a:endParaRPr lang="en-US"/>
          </a:p>
        </p:txBody>
      </p:sp>
      <p:sp>
        <p:nvSpPr>
          <p:cNvPr id="11" name="Picture Placeholder 4">
            <a:extLst>
              <a:ext uri="{FF2B5EF4-FFF2-40B4-BE49-F238E27FC236}">
                <a16:creationId xmlns:a16="http://schemas.microsoft.com/office/drawing/2014/main" id="{BFAFE350-DAC2-4FA1-8058-2BB689DE6DEA}"/>
              </a:ext>
            </a:extLst>
          </p:cNvPr>
          <p:cNvSpPr>
            <a:spLocks noGrp="1"/>
          </p:cNvSpPr>
          <p:nvPr>
            <p:ph type="pic" sz="quarter" idx="16"/>
          </p:nvPr>
        </p:nvSpPr>
        <p:spPr>
          <a:xfrm>
            <a:off x="2645229" y="3494314"/>
            <a:ext cx="2220685" cy="2637900"/>
          </a:xfrm>
        </p:spPr>
        <p:txBody>
          <a:bodyPr/>
          <a:lstStyle/>
          <a:p>
            <a:endParaRPr lang="en-US"/>
          </a:p>
        </p:txBody>
      </p:sp>
      <p:sp>
        <p:nvSpPr>
          <p:cNvPr id="2" name="Picture Placeholder 4">
            <a:extLst>
              <a:ext uri="{FF2B5EF4-FFF2-40B4-BE49-F238E27FC236}">
                <a16:creationId xmlns:a16="http://schemas.microsoft.com/office/drawing/2014/main" id="{554D914E-44E0-C1AE-14D4-843C09829A27}"/>
              </a:ext>
            </a:extLst>
          </p:cNvPr>
          <p:cNvSpPr>
            <a:spLocks noGrp="1"/>
          </p:cNvSpPr>
          <p:nvPr>
            <p:ph type="pic" sz="quarter" idx="17"/>
          </p:nvPr>
        </p:nvSpPr>
        <p:spPr>
          <a:xfrm>
            <a:off x="4968240" y="3170718"/>
            <a:ext cx="6785521" cy="2961495"/>
          </a:xfrm>
        </p:spPr>
        <p:txBody>
          <a:bodyPr/>
          <a:lstStyle/>
          <a:p>
            <a:endParaRPr lang="en-US"/>
          </a:p>
        </p:txBody>
      </p:sp>
      <p:sp>
        <p:nvSpPr>
          <p:cNvPr id="3" name="Picture Placeholder 4">
            <a:extLst>
              <a:ext uri="{FF2B5EF4-FFF2-40B4-BE49-F238E27FC236}">
                <a16:creationId xmlns:a16="http://schemas.microsoft.com/office/drawing/2014/main" id="{7B8D5EF3-729C-8199-B5B3-5F9FD2BE26A0}"/>
              </a:ext>
            </a:extLst>
          </p:cNvPr>
          <p:cNvSpPr>
            <a:spLocks noGrp="1"/>
          </p:cNvSpPr>
          <p:nvPr>
            <p:ph type="pic" sz="quarter" idx="18"/>
          </p:nvPr>
        </p:nvSpPr>
        <p:spPr>
          <a:xfrm>
            <a:off x="4968240" y="436228"/>
            <a:ext cx="2150384" cy="2648784"/>
          </a:xfrm>
        </p:spPr>
        <p:txBody>
          <a:bodyPr/>
          <a:lstStyle/>
          <a:p>
            <a:endParaRPr lang="en-US"/>
          </a:p>
        </p:txBody>
      </p:sp>
      <p:sp>
        <p:nvSpPr>
          <p:cNvPr id="4" name="Picture Placeholder 4">
            <a:extLst>
              <a:ext uri="{FF2B5EF4-FFF2-40B4-BE49-F238E27FC236}">
                <a16:creationId xmlns:a16="http://schemas.microsoft.com/office/drawing/2014/main" id="{7E1D1186-C60B-C6DF-548F-B1A3544F867E}"/>
              </a:ext>
            </a:extLst>
          </p:cNvPr>
          <p:cNvSpPr>
            <a:spLocks noGrp="1"/>
          </p:cNvSpPr>
          <p:nvPr>
            <p:ph type="pic" sz="quarter" idx="19"/>
          </p:nvPr>
        </p:nvSpPr>
        <p:spPr>
          <a:xfrm>
            <a:off x="7216596" y="447113"/>
            <a:ext cx="2220685" cy="2637900"/>
          </a:xfrm>
        </p:spPr>
        <p:txBody>
          <a:bodyPr/>
          <a:lstStyle/>
          <a:p>
            <a:endParaRPr lang="en-US"/>
          </a:p>
        </p:txBody>
      </p:sp>
      <p:sp>
        <p:nvSpPr>
          <p:cNvPr id="6" name="Picture Placeholder 4">
            <a:extLst>
              <a:ext uri="{FF2B5EF4-FFF2-40B4-BE49-F238E27FC236}">
                <a16:creationId xmlns:a16="http://schemas.microsoft.com/office/drawing/2014/main" id="{C18A1EA7-F689-AE68-2084-689B3C45D765}"/>
              </a:ext>
            </a:extLst>
          </p:cNvPr>
          <p:cNvSpPr>
            <a:spLocks noGrp="1"/>
          </p:cNvSpPr>
          <p:nvPr>
            <p:ph type="pic" sz="quarter" idx="20"/>
          </p:nvPr>
        </p:nvSpPr>
        <p:spPr>
          <a:xfrm>
            <a:off x="9533076" y="447113"/>
            <a:ext cx="2220685" cy="2637900"/>
          </a:xfrm>
        </p:spPr>
        <p:txBody>
          <a:bodyPr/>
          <a:lstStyle/>
          <a:p>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Tree>
    <p:extLst>
      <p:ext uri="{BB962C8B-B14F-4D97-AF65-F5344CB8AC3E}">
        <p14:creationId xmlns:p14="http://schemas.microsoft.com/office/powerpoint/2010/main" val="323686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93F5652-5F8D-4F3B-BE45-6F2FE0F564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FDEF2A-FDC4-461B-A64A-242E9A04A071}"/>
              </a:ext>
            </a:extLst>
          </p:cNvPr>
          <p:cNvSpPr>
            <a:spLocks noGrp="1"/>
          </p:cNvSpPr>
          <p:nvPr>
            <p:ph type="sldNum" sz="quarter" idx="12"/>
          </p:nvPr>
        </p:nvSpPr>
        <p:spPr/>
        <p:txBody>
          <a:bodyPr/>
          <a:lstStyle/>
          <a:p>
            <a:fld id="{DFA4CD3D-26C8-47FF-8D13-9B32BAAB4735}" type="slidenum">
              <a:rPr lang="en-US" smtClean="0"/>
              <a:t>‹#›</a:t>
            </a:fld>
            <a:endParaRPr lang="en-US"/>
          </a:p>
        </p:txBody>
      </p:sp>
    </p:spTree>
    <p:extLst>
      <p:ext uri="{BB962C8B-B14F-4D97-AF65-F5344CB8AC3E}">
        <p14:creationId xmlns:p14="http://schemas.microsoft.com/office/powerpoint/2010/main" val="229764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88F603-DAEE-420E-95E6-F502567586B3}"/>
              </a:ext>
            </a:extLst>
          </p:cNvPr>
          <p:cNvSpPr>
            <a:spLocks noGrp="1"/>
          </p:cNvSpPr>
          <p:nvPr>
            <p:ph type="sldNum" sz="quarter" idx="4"/>
          </p:nvPr>
        </p:nvSpPr>
        <p:spPr>
          <a:xfrm>
            <a:off x="11297749" y="6304801"/>
            <a:ext cx="497378" cy="365125"/>
          </a:xfrm>
          <a:prstGeom prst="rect">
            <a:avLst/>
          </a:prstGeom>
        </p:spPr>
        <p:txBody>
          <a:bodyPr vert="horz" lIns="91440" tIns="45720" rIns="91440" bIns="45720" rtlCol="0" anchor="ctr"/>
          <a:lstStyle>
            <a:lvl1pPr algn="r">
              <a:defRPr sz="1000" b="0" i="0">
                <a:solidFill>
                  <a:schemeClr val="tx1"/>
                </a:solidFill>
                <a:latin typeface="Buckeye Sans 2" pitchFamily="2" charset="77"/>
              </a:defRPr>
            </a:lvl1pPr>
          </a:lstStyle>
          <a:p>
            <a:fld id="{DFA4CD3D-26C8-47FF-8D13-9B32BAAB4735}" type="slidenum">
              <a:rPr lang="en-US" smtClean="0"/>
              <a:pPr/>
              <a:t>‹#›</a:t>
            </a:fld>
            <a:endParaRPr lang="en-US"/>
          </a:p>
        </p:txBody>
      </p:sp>
      <p:sp>
        <p:nvSpPr>
          <p:cNvPr id="2" name="Title Placeholder 1">
            <a:extLst>
              <a:ext uri="{FF2B5EF4-FFF2-40B4-BE49-F238E27FC236}">
                <a16:creationId xmlns:a16="http://schemas.microsoft.com/office/drawing/2014/main" id="{1FBEA513-5076-4D62-8F85-69A918D7EFA4}"/>
              </a:ext>
            </a:extLst>
          </p:cNvPr>
          <p:cNvSpPr>
            <a:spLocks noGrp="1"/>
          </p:cNvSpPr>
          <p:nvPr>
            <p:ph type="title"/>
          </p:nvPr>
        </p:nvSpPr>
        <p:spPr>
          <a:xfrm>
            <a:off x="407759" y="365125"/>
            <a:ext cx="11387368" cy="1325563"/>
          </a:xfrm>
          <a:prstGeom prst="rect">
            <a:avLst/>
          </a:prstGeom>
        </p:spPr>
        <p:txBody>
          <a:bodyPr vert="horz" lIns="91440" tIns="45720" rIns="91440" bIns="45720" rtlCol="0" anchor="t">
            <a:normAutofit/>
          </a:bodyPr>
          <a:lstStyle/>
          <a:p>
            <a:r>
              <a:rPr lang="en-US"/>
              <a:t>Click to edit master page title</a:t>
            </a:r>
          </a:p>
        </p:txBody>
      </p:sp>
      <p:sp>
        <p:nvSpPr>
          <p:cNvPr id="3" name="Text Placeholder 2">
            <a:extLst>
              <a:ext uri="{FF2B5EF4-FFF2-40B4-BE49-F238E27FC236}">
                <a16:creationId xmlns:a16="http://schemas.microsoft.com/office/drawing/2014/main" id="{BB1855A3-A75E-4A34-A5A1-1B324FA10EF0}"/>
              </a:ext>
            </a:extLst>
          </p:cNvPr>
          <p:cNvSpPr>
            <a:spLocks noGrp="1"/>
          </p:cNvSpPr>
          <p:nvPr>
            <p:ph type="body" idx="1"/>
          </p:nvPr>
        </p:nvSpPr>
        <p:spPr>
          <a:xfrm>
            <a:off x="396873" y="1825625"/>
            <a:ext cx="11387368" cy="4351338"/>
          </a:xfrm>
          <a:prstGeom prst="rect">
            <a:avLst/>
          </a:prstGeom>
        </p:spPr>
        <p:txBody>
          <a:bodyPr vert="horz" lIns="91440" tIns="45720" rIns="91440" bIns="45720" rtlCol="0">
            <a:normAutofit/>
          </a:bodyPr>
          <a:lstStyle/>
          <a:p>
            <a:pPr lvl="0"/>
            <a:r>
              <a:rPr lang="en-US"/>
              <a:t>Click to edit master first level copy</a:t>
            </a:r>
          </a:p>
          <a:p>
            <a:pPr lvl="1"/>
            <a:r>
              <a:rPr lang="en-US"/>
              <a:t>Second level</a:t>
            </a:r>
          </a:p>
          <a:p>
            <a:pPr lvl="2"/>
            <a:r>
              <a:rPr lang="en-US"/>
              <a:t>Third level</a:t>
            </a:r>
          </a:p>
          <a:p>
            <a:pPr lvl="3"/>
            <a:r>
              <a:rPr lang="en-US"/>
              <a:t>Fourth level</a:t>
            </a:r>
          </a:p>
        </p:txBody>
      </p:sp>
      <p:pic>
        <p:nvPicPr>
          <p:cNvPr id="7" name="Picture 6" descr="The Ohio State University">
            <a:extLst>
              <a:ext uri="{FF2B5EF4-FFF2-40B4-BE49-F238E27FC236}">
                <a16:creationId xmlns:a16="http://schemas.microsoft.com/office/drawing/2014/main" id="{F4663FBE-A0D1-4371-8BE2-6E00A4B835A4}"/>
              </a:ext>
            </a:extLst>
          </p:cNvPr>
          <p:cNvPicPr>
            <a:picLocks noChangeAspect="1"/>
          </p:cNvPicPr>
          <p:nvPr userDrawn="1"/>
        </p:nvPicPr>
        <p:blipFill>
          <a:blip r:embed="rId23"/>
          <a:stretch>
            <a:fillRect/>
          </a:stretch>
        </p:blipFill>
        <p:spPr>
          <a:xfrm>
            <a:off x="401676" y="6331563"/>
            <a:ext cx="2382828" cy="341656"/>
          </a:xfrm>
          <a:prstGeom prst="rect">
            <a:avLst/>
          </a:prstGeom>
        </p:spPr>
      </p:pic>
      <p:sp>
        <p:nvSpPr>
          <p:cNvPr id="5" name="Footer Placeholder 4">
            <a:extLst>
              <a:ext uri="{FF2B5EF4-FFF2-40B4-BE49-F238E27FC236}">
                <a16:creationId xmlns:a16="http://schemas.microsoft.com/office/drawing/2014/main" id="{A5A501DD-FBD8-4A19-BD71-AB3CFFDE4DF5}"/>
              </a:ext>
            </a:extLst>
          </p:cNvPr>
          <p:cNvSpPr>
            <a:spLocks noGrp="1"/>
          </p:cNvSpPr>
          <p:nvPr>
            <p:ph type="ftr" sz="quarter" idx="3"/>
          </p:nvPr>
        </p:nvSpPr>
        <p:spPr>
          <a:xfrm>
            <a:off x="4506686" y="6296411"/>
            <a:ext cx="6663152" cy="341657"/>
          </a:xfrm>
          <a:prstGeom prst="rect">
            <a:avLst/>
          </a:prstGeom>
        </p:spPr>
        <p:txBody>
          <a:bodyPr vert="horz" lIns="91440" tIns="45720" rIns="91440" bIns="45720" rtlCol="0" anchor="ctr"/>
          <a:lstStyle>
            <a:lvl1pPr algn="r">
              <a:defRPr sz="1000" b="0" i="0">
                <a:solidFill>
                  <a:schemeClr val="tx1"/>
                </a:solidFill>
                <a:latin typeface="Buckeye Sans 2" pitchFamily="2" charset="77"/>
              </a:defRPr>
            </a:lvl1pPr>
          </a:lstStyle>
          <a:p>
            <a:endParaRPr lang="en-US"/>
          </a:p>
        </p:txBody>
      </p:sp>
    </p:spTree>
    <p:extLst>
      <p:ext uri="{BB962C8B-B14F-4D97-AF65-F5344CB8AC3E}">
        <p14:creationId xmlns:p14="http://schemas.microsoft.com/office/powerpoint/2010/main" val="3392148579"/>
      </p:ext>
    </p:extLst>
  </p:cSld>
  <p:clrMap bg1="lt1" tx1="dk1" bg2="lt2" tx2="dk2" accent1="accent1" accent2="accent2" accent3="accent3" accent4="accent4" accent5="accent5" accent6="accent6" hlink="hlink" folHlink="folHlink"/>
  <p:sldLayoutIdLst>
    <p:sldLayoutId id="2147483649" r:id="rId1"/>
    <p:sldLayoutId id="2147483700" r:id="rId2"/>
    <p:sldLayoutId id="2147483697" r:id="rId3"/>
    <p:sldLayoutId id="2147483658" r:id="rId4"/>
    <p:sldLayoutId id="2147483702" r:id="rId5"/>
    <p:sldLayoutId id="2147483703" r:id="rId6"/>
    <p:sldLayoutId id="2147483650" r:id="rId7"/>
    <p:sldLayoutId id="2147483676" r:id="rId8"/>
    <p:sldLayoutId id="2147483679" r:id="rId9"/>
    <p:sldLayoutId id="2147483701" r:id="rId10"/>
    <p:sldLayoutId id="2147483678" r:id="rId11"/>
    <p:sldLayoutId id="2147483682" r:id="rId12"/>
    <p:sldLayoutId id="2147483698" r:id="rId13"/>
    <p:sldLayoutId id="2147483695" r:id="rId14"/>
    <p:sldLayoutId id="2147483694" r:id="rId15"/>
    <p:sldLayoutId id="2147483662" r:id="rId16"/>
    <p:sldLayoutId id="2147483663" r:id="rId17"/>
    <p:sldLayoutId id="2147483665" r:id="rId18"/>
    <p:sldLayoutId id="2147483696" r:id="rId19"/>
    <p:sldLayoutId id="2147483699" r:id="rId20"/>
    <p:sldLayoutId id="2147483655" r:id="rId21"/>
  </p:sldLayoutIdLst>
  <p:hf hdr="0" dt="0"/>
  <p:txStyles>
    <p:titleStyle>
      <a:lvl1pPr algn="l" defTabSz="914400" rtl="0" eaLnBrk="1" latinLnBrk="0" hangingPunct="1">
        <a:lnSpc>
          <a:spcPct val="90000"/>
        </a:lnSpc>
        <a:spcBef>
          <a:spcPct val="0"/>
        </a:spcBef>
        <a:buNone/>
        <a:defRPr sz="4400" b="1" i="0" kern="1200">
          <a:solidFill>
            <a:schemeClr val="accent1"/>
          </a:solidFill>
          <a:latin typeface="Buckeye Serif 2 Black" pitchFamily="2" charset="77"/>
          <a:ea typeface="Buckeye Serif 2 Black" pitchFamily="2" charset="77"/>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chemeClr val="accent1"/>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chemeClr val="accent1"/>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7.xml"/><Relationship Id="rId5" Type="http://schemas.openxmlformats.org/officeDocument/2006/relationships/image" Target="../media/image4.jpe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C2_DD55AC54.xml"/><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hyperlink" Target="https://doi.org/10.1086/210361" TargetMode="External"/><Relationship Id="rId2" Type="http://schemas.openxmlformats.org/officeDocument/2006/relationships/hyperlink" Target="https://doi.org/10.1108/S0733-558X(2013)0039b020"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25F416-76BD-1BAE-8700-257D1534E1C2}"/>
              </a:ext>
            </a:extLst>
          </p:cNvPr>
          <p:cNvSpPr>
            <a:spLocks noGrp="1"/>
          </p:cNvSpPr>
          <p:nvPr>
            <p:ph type="ctrTitle"/>
          </p:nvPr>
        </p:nvSpPr>
        <p:spPr>
          <a:xfrm>
            <a:off x="2" y="1349829"/>
            <a:ext cx="11795123" cy="2124891"/>
          </a:xfrm>
        </p:spPr>
        <p:txBody>
          <a:bodyPr>
            <a:normAutofit/>
          </a:bodyPr>
          <a:lstStyle/>
          <a:p>
            <a:r>
              <a:rPr lang="en-US" sz="4000" b="1" kern="100">
                <a:effectLst/>
                <a:latin typeface="Buckeye Serif 2 Black" pitchFamily="2" charset="0"/>
                <a:ea typeface="Buckeye Serif 2 Black" pitchFamily="2" charset="0"/>
              </a:rPr>
              <a:t>Qualitative Coding with Hybrid AI </a:t>
            </a:r>
            <a:br>
              <a:rPr lang="en-US" sz="4000" b="1" kern="100">
                <a:effectLst/>
                <a:latin typeface="Buckeye Serif 2 Black" pitchFamily="2" charset="0"/>
                <a:ea typeface="Buckeye Serif 2 Black" pitchFamily="2" charset="0"/>
              </a:rPr>
            </a:br>
            <a:r>
              <a:rPr lang="en-US" sz="4000" b="1" kern="100">
                <a:effectLst/>
                <a:latin typeface="Buckeye Serif 2 Black" pitchFamily="2" charset="0"/>
                <a:ea typeface="Buckeye Serif 2 Black" pitchFamily="2" charset="0"/>
              </a:rPr>
              <a:t>and Human-in-the-Loop</a:t>
            </a:r>
            <a:br>
              <a:rPr lang="en-US" sz="4000" b="1" kern="100">
                <a:effectLst/>
                <a:latin typeface="+mj-lt"/>
                <a:ea typeface="Aptos" panose="020B0004020202020204" pitchFamily="34" charset="0"/>
              </a:rPr>
            </a:br>
            <a:endParaRPr lang="en-US" sz="4000">
              <a:latin typeface="+mj-lt"/>
            </a:endParaRPr>
          </a:p>
        </p:txBody>
      </p:sp>
      <p:sp>
        <p:nvSpPr>
          <p:cNvPr id="4" name="Text Placeholder 3">
            <a:extLst>
              <a:ext uri="{FF2B5EF4-FFF2-40B4-BE49-F238E27FC236}">
                <a16:creationId xmlns:a16="http://schemas.microsoft.com/office/drawing/2014/main" id="{DE9F5440-EF61-A5BC-C090-8ADB70E723D3}"/>
              </a:ext>
            </a:extLst>
          </p:cNvPr>
          <p:cNvSpPr>
            <a:spLocks noGrp="1"/>
          </p:cNvSpPr>
          <p:nvPr>
            <p:ph type="body" idx="1"/>
          </p:nvPr>
        </p:nvSpPr>
        <p:spPr>
          <a:xfrm>
            <a:off x="247973" y="3543544"/>
            <a:ext cx="11547152" cy="496976"/>
          </a:xfrm>
        </p:spPr>
        <p:txBody>
          <a:bodyPr>
            <a:noAutofit/>
          </a:bodyPr>
          <a:lstStyle/>
          <a:p>
            <a:r>
              <a:rPr lang="en-US"/>
              <a:t>Christina M. Dressel, Megan LePere-Schloop, &amp; Lucia Gomez Teijeiro</a:t>
            </a:r>
          </a:p>
        </p:txBody>
      </p:sp>
    </p:spTree>
    <p:extLst>
      <p:ext uri="{BB962C8B-B14F-4D97-AF65-F5344CB8AC3E}">
        <p14:creationId xmlns:p14="http://schemas.microsoft.com/office/powerpoint/2010/main" val="1222054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0A44-403E-4BE5-0291-394276B2C14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714513-1057-7A24-F486-31713AA46044}"/>
              </a:ext>
            </a:extLst>
          </p:cNvPr>
          <p:cNvSpPr>
            <a:spLocks noGrp="1"/>
          </p:cNvSpPr>
          <p:nvPr>
            <p:ph type="sldNum" sz="quarter" idx="12"/>
          </p:nvPr>
        </p:nvSpPr>
        <p:spPr>
          <a:xfrm>
            <a:off x="11297749" y="6304801"/>
            <a:ext cx="497378" cy="365125"/>
          </a:xfrm>
        </p:spPr>
        <p:txBody>
          <a:bodyPr anchor="ctr">
            <a:normAutofit/>
          </a:bodyPr>
          <a:lstStyle/>
          <a:p>
            <a:pPr>
              <a:spcAft>
                <a:spcPts val="600"/>
              </a:spcAft>
            </a:pPr>
            <a:fld id="{DFA4CD3D-26C8-47FF-8D13-9B32BAAB4735}" type="slidenum">
              <a:rPr lang="en-US" smtClean="0"/>
              <a:pPr>
                <a:spcAft>
                  <a:spcPts val="600"/>
                </a:spcAft>
              </a:pPr>
              <a:t>2</a:t>
            </a:fld>
            <a:endParaRPr lang="en-US"/>
          </a:p>
        </p:txBody>
      </p:sp>
      <p:sp>
        <p:nvSpPr>
          <p:cNvPr id="13" name="Title 2">
            <a:extLst>
              <a:ext uri="{FF2B5EF4-FFF2-40B4-BE49-F238E27FC236}">
                <a16:creationId xmlns:a16="http://schemas.microsoft.com/office/drawing/2014/main" id="{CC472C8E-F53B-F40A-98DC-6B217B5A38BB}"/>
              </a:ext>
            </a:extLst>
          </p:cNvPr>
          <p:cNvSpPr>
            <a:spLocks noGrp="1"/>
          </p:cNvSpPr>
          <p:nvPr>
            <p:ph type="title"/>
          </p:nvPr>
        </p:nvSpPr>
        <p:spPr>
          <a:xfrm>
            <a:off x="1101213" y="2582953"/>
            <a:ext cx="5466735" cy="1452953"/>
          </a:xfrm>
        </p:spPr>
        <p:txBody>
          <a:bodyPr/>
          <a:lstStyle/>
          <a:p>
            <a:r>
              <a:rPr lang="en-US"/>
              <a:t>What animal does this eye belong to?</a:t>
            </a:r>
          </a:p>
        </p:txBody>
      </p:sp>
      <p:sp>
        <p:nvSpPr>
          <p:cNvPr id="17" name="Footer Placeholder 5">
            <a:extLst>
              <a:ext uri="{FF2B5EF4-FFF2-40B4-BE49-F238E27FC236}">
                <a16:creationId xmlns:a16="http://schemas.microsoft.com/office/drawing/2014/main" id="{5F4AC6C5-76D2-97B3-A85D-853B3D0FCD87}"/>
              </a:ext>
            </a:extLst>
          </p:cNvPr>
          <p:cNvSpPr>
            <a:spLocks noGrp="1"/>
          </p:cNvSpPr>
          <p:nvPr>
            <p:ph type="ftr" sz="quarter" idx="11"/>
          </p:nvPr>
        </p:nvSpPr>
        <p:spPr>
          <a:xfrm>
            <a:off x="4506686" y="6296411"/>
            <a:ext cx="6663152" cy="341657"/>
          </a:xfrm>
        </p:spPr>
        <p:txBody>
          <a:bodyPr/>
          <a:lstStyle/>
          <a:p>
            <a:endParaRPr lang="en-US"/>
          </a:p>
        </p:txBody>
      </p:sp>
      <p:pic>
        <p:nvPicPr>
          <p:cNvPr id="4" name="Picture 3" descr="A close up of a rabbit&#10;&#10;AI-generated content may be incorrect.">
            <a:extLst>
              <a:ext uri="{FF2B5EF4-FFF2-40B4-BE49-F238E27FC236}">
                <a16:creationId xmlns:a16="http://schemas.microsoft.com/office/drawing/2014/main" id="{7642C6E5-09C7-EB4C-33EB-1DF9AB204B5D}"/>
              </a:ext>
            </a:extLst>
          </p:cNvPr>
          <p:cNvPicPr>
            <a:picLocks noChangeAspect="1"/>
          </p:cNvPicPr>
          <p:nvPr/>
        </p:nvPicPr>
        <p:blipFill>
          <a:blip r:embed="rId3">
            <a:extLst>
              <a:ext uri="{28A0092B-C50C-407E-A947-70E740481C1C}">
                <a14:useLocalDpi xmlns:a14="http://schemas.microsoft.com/office/drawing/2010/main" val="0"/>
              </a:ext>
            </a:extLst>
          </a:blip>
          <a:srcRect l="28440" t="22128" r="42908" b="37872"/>
          <a:stretch>
            <a:fillRect/>
          </a:stretch>
        </p:blipFill>
        <p:spPr>
          <a:xfrm>
            <a:off x="6916648" y="1154847"/>
            <a:ext cx="3951158" cy="4214821"/>
          </a:xfrm>
          <a:prstGeom prst="rect">
            <a:avLst/>
          </a:prstGeom>
        </p:spPr>
      </p:pic>
    </p:spTree>
    <p:extLst>
      <p:ext uri="{BB962C8B-B14F-4D97-AF65-F5344CB8AC3E}">
        <p14:creationId xmlns:p14="http://schemas.microsoft.com/office/powerpoint/2010/main" val="118097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63598-CD1D-3F04-6515-FDB2DF875F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9169D4-4023-CAB7-A76E-776EF9E6E496}"/>
              </a:ext>
            </a:extLst>
          </p:cNvPr>
          <p:cNvSpPr>
            <a:spLocks noGrp="1"/>
          </p:cNvSpPr>
          <p:nvPr>
            <p:ph type="sldNum" sz="quarter" idx="12"/>
          </p:nvPr>
        </p:nvSpPr>
        <p:spPr>
          <a:xfrm>
            <a:off x="11297749" y="6304801"/>
            <a:ext cx="497378" cy="365125"/>
          </a:xfrm>
        </p:spPr>
        <p:txBody>
          <a:bodyPr anchor="ctr">
            <a:normAutofit/>
          </a:bodyPr>
          <a:lstStyle/>
          <a:p>
            <a:pPr>
              <a:spcAft>
                <a:spcPts val="600"/>
              </a:spcAft>
            </a:pPr>
            <a:fld id="{DFA4CD3D-26C8-47FF-8D13-9B32BAAB4735}" type="slidenum">
              <a:rPr lang="en-US" smtClean="0"/>
              <a:pPr>
                <a:spcAft>
                  <a:spcPts val="600"/>
                </a:spcAft>
              </a:pPr>
              <a:t>3</a:t>
            </a:fld>
            <a:endParaRPr lang="en-US"/>
          </a:p>
        </p:txBody>
      </p:sp>
      <p:sp>
        <p:nvSpPr>
          <p:cNvPr id="13" name="Title 2">
            <a:extLst>
              <a:ext uri="{FF2B5EF4-FFF2-40B4-BE49-F238E27FC236}">
                <a16:creationId xmlns:a16="http://schemas.microsoft.com/office/drawing/2014/main" id="{9BF4590E-5503-7D6E-C0E3-CB7FFB9131B5}"/>
              </a:ext>
            </a:extLst>
          </p:cNvPr>
          <p:cNvSpPr>
            <a:spLocks noGrp="1"/>
          </p:cNvSpPr>
          <p:nvPr>
            <p:ph type="title"/>
          </p:nvPr>
        </p:nvSpPr>
        <p:spPr>
          <a:xfrm>
            <a:off x="1101213" y="2582953"/>
            <a:ext cx="5466735" cy="1452953"/>
          </a:xfrm>
        </p:spPr>
        <p:txBody>
          <a:bodyPr/>
          <a:lstStyle/>
          <a:p>
            <a:r>
              <a:rPr lang="en-US"/>
              <a:t>What animal does this eye belong to?</a:t>
            </a:r>
          </a:p>
        </p:txBody>
      </p:sp>
      <p:pic>
        <p:nvPicPr>
          <p:cNvPr id="8" name="Picture 7" descr="Two rabbits sitting on a carpet&#10;&#10;AI-generated content may be incorrect.">
            <a:extLst>
              <a:ext uri="{FF2B5EF4-FFF2-40B4-BE49-F238E27FC236}">
                <a16:creationId xmlns:a16="http://schemas.microsoft.com/office/drawing/2014/main" id="{959A138E-F68B-43E1-23A2-76A15EBDA3BF}"/>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0388"/>
                    </a14:imgEffect>
                  </a14:imgLayer>
                </a14:imgProps>
              </a:ext>
              <a:ext uri="{28A0092B-C50C-407E-A947-70E740481C1C}">
                <a14:useLocalDpi xmlns:a14="http://schemas.microsoft.com/office/drawing/2010/main" val="0"/>
              </a:ext>
            </a:extLst>
          </a:blip>
          <a:srcRect l="75017" t="57450" r="13758" b="28717"/>
          <a:stretch>
            <a:fillRect/>
          </a:stretch>
        </p:blipFill>
        <p:spPr>
          <a:xfrm rot="5400000">
            <a:off x="6776057" y="1318071"/>
            <a:ext cx="4309166" cy="3982719"/>
          </a:xfrm>
          <a:prstGeom prst="rect">
            <a:avLst/>
          </a:prstGeom>
          <a:noFill/>
        </p:spPr>
      </p:pic>
      <p:sp>
        <p:nvSpPr>
          <p:cNvPr id="17" name="Footer Placeholder 5">
            <a:extLst>
              <a:ext uri="{FF2B5EF4-FFF2-40B4-BE49-F238E27FC236}">
                <a16:creationId xmlns:a16="http://schemas.microsoft.com/office/drawing/2014/main" id="{E960E308-0911-4375-799E-899957985FA6}"/>
              </a:ext>
            </a:extLst>
          </p:cNvPr>
          <p:cNvSpPr>
            <a:spLocks noGrp="1"/>
          </p:cNvSpPr>
          <p:nvPr>
            <p:ph type="ftr" sz="quarter" idx="11"/>
          </p:nvPr>
        </p:nvSpPr>
        <p:spPr>
          <a:xfrm>
            <a:off x="4506686" y="6296411"/>
            <a:ext cx="6663152" cy="341657"/>
          </a:xfrm>
        </p:spPr>
        <p:txBody>
          <a:bodyPr/>
          <a:lstStyle/>
          <a:p>
            <a:endParaRPr lang="en-US"/>
          </a:p>
        </p:txBody>
      </p:sp>
      <p:pic>
        <p:nvPicPr>
          <p:cNvPr id="4" name="Picture 3" descr="A rabbit lying on a wood floor&#10;&#10;AI-generated content may be incorrect.">
            <a:extLst>
              <a:ext uri="{FF2B5EF4-FFF2-40B4-BE49-F238E27FC236}">
                <a16:creationId xmlns:a16="http://schemas.microsoft.com/office/drawing/2014/main" id="{C4D82CEB-FE31-FBA1-1658-7D776FC4B02B}"/>
              </a:ext>
            </a:extLst>
          </p:cNvPr>
          <p:cNvPicPr>
            <a:picLocks noChangeAspect="1"/>
          </p:cNvPicPr>
          <p:nvPr/>
        </p:nvPicPr>
        <p:blipFill>
          <a:blip r:embed="rId5">
            <a:extLst>
              <a:ext uri="{28A0092B-C50C-407E-A947-70E740481C1C}">
                <a14:useLocalDpi xmlns:a14="http://schemas.microsoft.com/office/drawing/2010/main" val="0"/>
              </a:ext>
            </a:extLst>
          </a:blip>
          <a:srcRect l="14752" r="8189" b="5619"/>
          <a:stretch>
            <a:fillRect/>
          </a:stretch>
        </p:blipFill>
        <p:spPr>
          <a:xfrm rot="5400000">
            <a:off x="6352833" y="882176"/>
            <a:ext cx="5284736" cy="4854507"/>
          </a:xfrm>
          <a:prstGeom prst="rect">
            <a:avLst/>
          </a:prstGeom>
        </p:spPr>
      </p:pic>
    </p:spTree>
    <p:extLst>
      <p:ext uri="{BB962C8B-B14F-4D97-AF65-F5344CB8AC3E}">
        <p14:creationId xmlns:p14="http://schemas.microsoft.com/office/powerpoint/2010/main" val="2359800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DC405-1FFC-ECC8-72F9-574521DD4B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220997-0D07-0E5F-CD7C-E912B0E2EFD2}"/>
              </a:ext>
            </a:extLst>
          </p:cNvPr>
          <p:cNvSpPr>
            <a:spLocks noGrp="1"/>
          </p:cNvSpPr>
          <p:nvPr>
            <p:ph type="sldNum" sz="quarter" idx="12"/>
          </p:nvPr>
        </p:nvSpPr>
        <p:spPr/>
        <p:txBody>
          <a:bodyPr/>
          <a:lstStyle/>
          <a:p>
            <a:fld id="{DFA4CD3D-26C8-47FF-8D13-9B32BAAB4735}" type="slidenum">
              <a:rPr lang="en-US" smtClean="0"/>
              <a:t>4</a:t>
            </a:fld>
            <a:endParaRPr lang="en-US"/>
          </a:p>
        </p:txBody>
      </p:sp>
      <p:sp>
        <p:nvSpPr>
          <p:cNvPr id="3" name="Title 2">
            <a:extLst>
              <a:ext uri="{FF2B5EF4-FFF2-40B4-BE49-F238E27FC236}">
                <a16:creationId xmlns:a16="http://schemas.microsoft.com/office/drawing/2014/main" id="{AC85BF47-8B69-9EB7-6CA7-534D9DBA4FF5}"/>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078E904B-8053-93D0-FE90-35936148B151}"/>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286607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C4043-317B-CB66-CAF9-3DCA912A03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9499A0-89CC-D1C2-C30F-1AD2A9A3361A}"/>
              </a:ext>
            </a:extLst>
          </p:cNvPr>
          <p:cNvSpPr>
            <a:spLocks noGrp="1"/>
          </p:cNvSpPr>
          <p:nvPr>
            <p:ph type="sldNum" sz="quarter" idx="12"/>
          </p:nvPr>
        </p:nvSpPr>
        <p:spPr/>
        <p:txBody>
          <a:bodyPr/>
          <a:lstStyle/>
          <a:p>
            <a:fld id="{DFA4CD3D-26C8-47FF-8D13-9B32BAAB4735}" type="slidenum">
              <a:rPr lang="en-US" smtClean="0"/>
              <a:t>5</a:t>
            </a:fld>
            <a:endParaRPr lang="en-US"/>
          </a:p>
        </p:txBody>
      </p:sp>
      <p:sp>
        <p:nvSpPr>
          <p:cNvPr id="3" name="Title 2">
            <a:extLst>
              <a:ext uri="{FF2B5EF4-FFF2-40B4-BE49-F238E27FC236}">
                <a16:creationId xmlns:a16="http://schemas.microsoft.com/office/drawing/2014/main" id="{00DA6E29-BAF7-C0E8-C0A4-373FA8F5EEE5}"/>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F1B93F42-33B4-C647-97E7-81F0219A9748}"/>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r>
              <a:rPr lang="en-US"/>
              <a:t>Illustrative case: institutional logics of community foundations (CFs)</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730221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A59B8-21AF-D3AC-5EF8-C336771DFC3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292B33-64B0-8880-4512-EA21C66D1709}"/>
              </a:ext>
            </a:extLst>
          </p:cNvPr>
          <p:cNvSpPr>
            <a:spLocks noGrp="1"/>
          </p:cNvSpPr>
          <p:nvPr>
            <p:ph type="sldNum" sz="quarter" idx="12"/>
          </p:nvPr>
        </p:nvSpPr>
        <p:spPr/>
        <p:txBody>
          <a:bodyPr/>
          <a:lstStyle/>
          <a:p>
            <a:fld id="{DFA4CD3D-26C8-47FF-8D13-9B32BAAB4735}" type="slidenum">
              <a:rPr lang="en-US" smtClean="0"/>
              <a:t>6</a:t>
            </a:fld>
            <a:endParaRPr lang="en-US"/>
          </a:p>
        </p:txBody>
      </p:sp>
      <p:sp>
        <p:nvSpPr>
          <p:cNvPr id="3" name="Title 2">
            <a:extLst>
              <a:ext uri="{FF2B5EF4-FFF2-40B4-BE49-F238E27FC236}">
                <a16:creationId xmlns:a16="http://schemas.microsoft.com/office/drawing/2014/main" id="{57EF11E1-A4D2-9A1A-5E0F-CF47C80C03B9}"/>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EB82D7AF-BC44-E166-BA0E-05805378BD5F}"/>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r>
              <a:rPr lang="en-US"/>
              <a:t>Illustrative case: institutional logics of community foundations (CFs)</a:t>
            </a:r>
          </a:p>
          <a:p>
            <a:pPr marL="342900" indent="-342900">
              <a:buFont typeface="Arial" panose="020B0604020202020204" pitchFamily="34" charset="0"/>
              <a:buChar char="•"/>
            </a:pPr>
            <a:r>
              <a:rPr lang="en-US"/>
              <a:t>Understanding the role of generative AI as a coding partner (Hodges et al., 2025; Katz et al., 2024; Sammon et al, 2024; Sharma &amp; Wallace, 2025; Wiebe et al., 2025; Xiao et al., 2023)</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3680709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1F31E-C1E4-236F-32E7-545AA4C7F0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AE033-EA64-3B63-7639-C60EA1F7FC31}"/>
              </a:ext>
            </a:extLst>
          </p:cNvPr>
          <p:cNvSpPr>
            <a:spLocks noGrp="1"/>
          </p:cNvSpPr>
          <p:nvPr>
            <p:ph type="sldNum" sz="quarter" idx="12"/>
          </p:nvPr>
        </p:nvSpPr>
        <p:spPr/>
        <p:txBody>
          <a:bodyPr/>
          <a:lstStyle/>
          <a:p>
            <a:fld id="{DFA4CD3D-26C8-47FF-8D13-9B32BAAB4735}" type="slidenum">
              <a:rPr lang="en-US" smtClean="0"/>
              <a:t>7</a:t>
            </a:fld>
            <a:endParaRPr lang="en-US"/>
          </a:p>
        </p:txBody>
      </p:sp>
      <p:sp>
        <p:nvSpPr>
          <p:cNvPr id="3" name="Title 2">
            <a:extLst>
              <a:ext uri="{FF2B5EF4-FFF2-40B4-BE49-F238E27FC236}">
                <a16:creationId xmlns:a16="http://schemas.microsoft.com/office/drawing/2014/main" id="{0F3EF823-D6B3-EA06-E173-B287CC86355B}"/>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B04DC6A1-118F-EBB3-455E-288B4182A0CB}"/>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r>
              <a:rPr lang="en-US"/>
              <a:t>Illustrative case: institutional logics of community foundations (CFs)</a:t>
            </a:r>
          </a:p>
          <a:p>
            <a:pPr marL="342900" indent="-342900">
              <a:buFont typeface="Arial" panose="020B0604020202020204" pitchFamily="34" charset="0"/>
              <a:buChar char="•"/>
            </a:pPr>
            <a:r>
              <a:rPr lang="en-US"/>
              <a:t>Understanding the role of generative AI as a coding partner (Hodges et al., 2025; Katz et al., 2024; Sammon et al, 2024; Sharma &amp; Wallace, 2025; Wiebe et al., 2025; Xiao et al., 2023)</a:t>
            </a:r>
          </a:p>
          <a:p>
            <a:pPr marL="342900" indent="-342900">
              <a:buFont typeface="Arial" panose="020B0604020202020204" pitchFamily="34" charset="0"/>
              <a:buChar char="•"/>
            </a:pPr>
            <a:r>
              <a:rPr lang="en-US"/>
              <a:t>Theory-driven as opposed to post-hoc meaning making</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3365405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D429A-DDE9-A055-07F3-D07B1C707D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B9BA1D-7807-C270-D6BA-0153B362CDFC}"/>
              </a:ext>
            </a:extLst>
          </p:cNvPr>
          <p:cNvSpPr>
            <a:spLocks noGrp="1"/>
          </p:cNvSpPr>
          <p:nvPr>
            <p:ph type="sldNum" sz="quarter" idx="12"/>
          </p:nvPr>
        </p:nvSpPr>
        <p:spPr/>
        <p:txBody>
          <a:bodyPr/>
          <a:lstStyle/>
          <a:p>
            <a:fld id="{DFA4CD3D-26C8-47FF-8D13-9B32BAAB4735}" type="slidenum">
              <a:rPr lang="en-US" smtClean="0"/>
              <a:t>8</a:t>
            </a:fld>
            <a:endParaRPr lang="en-US"/>
          </a:p>
        </p:txBody>
      </p:sp>
      <p:sp>
        <p:nvSpPr>
          <p:cNvPr id="3" name="Title 2">
            <a:extLst>
              <a:ext uri="{FF2B5EF4-FFF2-40B4-BE49-F238E27FC236}">
                <a16:creationId xmlns:a16="http://schemas.microsoft.com/office/drawing/2014/main" id="{CC42DA6B-26FE-7416-DD36-5CF2C583532D}"/>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3EEDCC59-DA6C-A529-F5BE-1B0C6AA1771D}"/>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r>
              <a:rPr lang="en-US"/>
              <a:t>Illustrative case: institutional logics of community foundations (CFs)</a:t>
            </a:r>
          </a:p>
          <a:p>
            <a:pPr marL="342900" indent="-342900">
              <a:buFont typeface="Arial" panose="020B0604020202020204" pitchFamily="34" charset="0"/>
              <a:buChar char="•"/>
            </a:pPr>
            <a:r>
              <a:rPr lang="en-US"/>
              <a:t>Understanding the role of generative AI as a coding partner (Hodges et al., 2025; Katz et al., 2024; Sammon et al, 2024; Sharma &amp; Wallace, 2025; Wiebe et al., 2025; Xiao et al., 2023)</a:t>
            </a:r>
          </a:p>
          <a:p>
            <a:pPr marL="342900" indent="-342900">
              <a:buFont typeface="Arial" panose="020B0604020202020204" pitchFamily="34" charset="0"/>
              <a:buChar char="•"/>
            </a:pPr>
            <a:r>
              <a:rPr lang="en-US"/>
              <a:t>Theory-driven as opposed to post-hoc meaning making</a:t>
            </a:r>
          </a:p>
          <a:p>
            <a:pPr marL="342900" indent="-342900">
              <a:buFont typeface="Arial" panose="020B0604020202020204" pitchFamily="34" charset="0"/>
              <a:buChar char="•"/>
            </a:pPr>
            <a:r>
              <a:rPr lang="en-US"/>
              <a:t>Applications for the study of organizations and management</a:t>
            </a:r>
          </a:p>
          <a:p>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638053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2D1A-6332-85E8-5E60-8B4A5F2298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EB8190-E9DA-4B69-9583-9331FECA3844}"/>
              </a:ext>
            </a:extLst>
          </p:cNvPr>
          <p:cNvSpPr>
            <a:spLocks noGrp="1"/>
          </p:cNvSpPr>
          <p:nvPr>
            <p:ph type="sldNum" sz="quarter" idx="12"/>
          </p:nvPr>
        </p:nvSpPr>
        <p:spPr/>
        <p:txBody>
          <a:bodyPr/>
          <a:lstStyle/>
          <a:p>
            <a:fld id="{DFA4CD3D-26C8-47FF-8D13-9B32BAAB4735}" type="slidenum">
              <a:rPr lang="en-US" smtClean="0"/>
              <a:t>9</a:t>
            </a:fld>
            <a:endParaRPr lang="en-US"/>
          </a:p>
        </p:txBody>
      </p:sp>
      <p:sp>
        <p:nvSpPr>
          <p:cNvPr id="3" name="Title 2">
            <a:extLst>
              <a:ext uri="{FF2B5EF4-FFF2-40B4-BE49-F238E27FC236}">
                <a16:creationId xmlns:a16="http://schemas.microsoft.com/office/drawing/2014/main" id="{1A98037D-26CB-507B-7589-6BD33FF7D9EC}"/>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63BC3D09-79A3-9D1A-B4D5-75977B4B1F2B}"/>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r>
              <a:rPr lang="en-US"/>
              <a:t>Illustrative case: institutional logics of community foundations (CFs)</a:t>
            </a:r>
          </a:p>
          <a:p>
            <a:pPr marL="342900" indent="-342900">
              <a:buFont typeface="Arial" panose="020B0604020202020204" pitchFamily="34" charset="0"/>
              <a:buChar char="•"/>
            </a:pPr>
            <a:r>
              <a:rPr lang="en-US"/>
              <a:t>Understanding the role of generative AI as a coding partner (Hodges et al., 2025; Katz et al., 2024; Sammon et al, 2024; Sharma &amp; Wallace, 2025; Wiebe et al., 2025; Xiao et al., 2023)</a:t>
            </a:r>
          </a:p>
          <a:p>
            <a:pPr marL="342900" indent="-342900">
              <a:buFont typeface="Arial" panose="020B0604020202020204" pitchFamily="34" charset="0"/>
              <a:buChar char="•"/>
            </a:pPr>
            <a:r>
              <a:rPr lang="en-US"/>
              <a:t>Theory-driven as opposed to post-hoc meaning making</a:t>
            </a:r>
          </a:p>
          <a:p>
            <a:pPr marL="342900" indent="-342900">
              <a:buFont typeface="Arial" panose="020B0604020202020204" pitchFamily="34" charset="0"/>
              <a:buChar char="•"/>
            </a:pPr>
            <a:r>
              <a:rPr lang="en-US"/>
              <a:t>Applications for the study of organizations and management</a:t>
            </a:r>
          </a:p>
          <a:p>
            <a:pPr marL="342900" indent="-342900">
              <a:buFont typeface="Arial" panose="020B0604020202020204" pitchFamily="34" charset="0"/>
              <a:buChar char="•"/>
            </a:pPr>
            <a:r>
              <a:rPr lang="en-US"/>
              <a:t>Multiple classes, not mutually exclusive</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683377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02DD2-B3A0-1018-6A5A-4EFC6D023B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33E709-30FE-3A37-1774-3C08BF115FBE}"/>
              </a:ext>
            </a:extLst>
          </p:cNvPr>
          <p:cNvSpPr>
            <a:spLocks noGrp="1"/>
          </p:cNvSpPr>
          <p:nvPr>
            <p:ph type="sldNum" sz="quarter" idx="12"/>
          </p:nvPr>
        </p:nvSpPr>
        <p:spPr/>
        <p:txBody>
          <a:bodyPr/>
          <a:lstStyle/>
          <a:p>
            <a:fld id="{DFA4CD3D-26C8-47FF-8D13-9B32BAAB4735}" type="slidenum">
              <a:rPr lang="en-US" smtClean="0"/>
              <a:t>10</a:t>
            </a:fld>
            <a:endParaRPr lang="en-US"/>
          </a:p>
        </p:txBody>
      </p:sp>
      <p:sp>
        <p:nvSpPr>
          <p:cNvPr id="3" name="Title 2">
            <a:extLst>
              <a:ext uri="{FF2B5EF4-FFF2-40B4-BE49-F238E27FC236}">
                <a16:creationId xmlns:a16="http://schemas.microsoft.com/office/drawing/2014/main" id="{9FAD7A32-C886-CB27-7DAF-B09206EB2A78}"/>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71BE7FA2-C571-5F72-DDD6-6549DDD23B38}"/>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r>
              <a:rPr lang="en-US"/>
              <a:t>Illustrative case: institutional logics of community foundations (CFs)</a:t>
            </a:r>
          </a:p>
          <a:p>
            <a:pPr marL="342900" indent="-342900">
              <a:buFont typeface="Arial" panose="020B0604020202020204" pitchFamily="34" charset="0"/>
              <a:buChar char="•"/>
            </a:pPr>
            <a:r>
              <a:rPr lang="en-US"/>
              <a:t>Understanding the role of generative AI as a coding partner (Hodges et al., 2025; Katz et al., 2024; Sammon et al, 2024; Sharma &amp; Wallace, 2025; Wiebe et al., 2025; Xiao et al., 2023)</a:t>
            </a:r>
          </a:p>
          <a:p>
            <a:pPr marL="342900" indent="-342900">
              <a:buFont typeface="Arial" panose="020B0604020202020204" pitchFamily="34" charset="0"/>
              <a:buChar char="•"/>
            </a:pPr>
            <a:r>
              <a:rPr lang="en-US"/>
              <a:t>Theory-driven as opposed to post-hoc meaning making</a:t>
            </a:r>
          </a:p>
          <a:p>
            <a:pPr marL="342900" indent="-342900">
              <a:buFont typeface="Arial" panose="020B0604020202020204" pitchFamily="34" charset="0"/>
              <a:buChar char="•"/>
            </a:pPr>
            <a:r>
              <a:rPr lang="en-US"/>
              <a:t>Applications for the study of organizations and management</a:t>
            </a:r>
          </a:p>
          <a:p>
            <a:pPr marL="342900" indent="-342900">
              <a:buFont typeface="Arial" panose="020B0604020202020204" pitchFamily="34" charset="0"/>
              <a:buChar char="•"/>
            </a:pPr>
            <a:r>
              <a:rPr lang="en-US"/>
              <a:t>Multiple classes, not mutually exclusive</a:t>
            </a:r>
          </a:p>
          <a:p>
            <a:pPr marL="342900" indent="-342900">
              <a:buFont typeface="Arial" panose="020B0604020202020204" pitchFamily="34" charset="0"/>
              <a:buChar char="•"/>
            </a:pPr>
            <a:r>
              <a:rPr lang="en-US"/>
              <a:t>Refining and scaling qualitative coding</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3697828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BBEA9-1A26-F8D0-CF5B-2160E59746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76FFD5-A50E-7793-2E57-631F68B41A78}"/>
              </a:ext>
            </a:extLst>
          </p:cNvPr>
          <p:cNvSpPr>
            <a:spLocks noGrp="1"/>
          </p:cNvSpPr>
          <p:nvPr>
            <p:ph type="sldNum" sz="quarter" idx="12"/>
          </p:nvPr>
        </p:nvSpPr>
        <p:spPr/>
        <p:txBody>
          <a:bodyPr/>
          <a:lstStyle/>
          <a:p>
            <a:fld id="{DFA4CD3D-26C8-47FF-8D13-9B32BAAB4735}" type="slidenum">
              <a:rPr lang="en-US" smtClean="0"/>
              <a:t>11</a:t>
            </a:fld>
            <a:endParaRPr lang="en-US"/>
          </a:p>
        </p:txBody>
      </p:sp>
      <p:sp>
        <p:nvSpPr>
          <p:cNvPr id="3" name="Title 2">
            <a:extLst>
              <a:ext uri="{FF2B5EF4-FFF2-40B4-BE49-F238E27FC236}">
                <a16:creationId xmlns:a16="http://schemas.microsoft.com/office/drawing/2014/main" id="{2A6AE59D-D529-88B7-F283-5013AF105496}"/>
              </a:ext>
            </a:extLst>
          </p:cNvPr>
          <p:cNvSpPr>
            <a:spLocks noGrp="1"/>
          </p:cNvSpPr>
          <p:nvPr>
            <p:ph type="title"/>
          </p:nvPr>
        </p:nvSpPr>
        <p:spPr>
          <a:xfrm>
            <a:off x="396429" y="466335"/>
            <a:ext cx="11398253" cy="838854"/>
          </a:xfrm>
        </p:spPr>
        <p:txBody>
          <a:bodyPr>
            <a:normAutofit/>
          </a:bodyPr>
          <a:lstStyle/>
          <a:p>
            <a:r>
              <a:rPr lang="en-US" sz="3600"/>
              <a:t>Focus &amp; Contributions</a:t>
            </a:r>
          </a:p>
        </p:txBody>
      </p:sp>
      <p:sp>
        <p:nvSpPr>
          <p:cNvPr id="5" name="Content Placeholder 4">
            <a:extLst>
              <a:ext uri="{FF2B5EF4-FFF2-40B4-BE49-F238E27FC236}">
                <a16:creationId xmlns:a16="http://schemas.microsoft.com/office/drawing/2014/main" id="{EB433ADB-147C-6EBE-9B58-B353E6DDB013}"/>
              </a:ext>
            </a:extLst>
          </p:cNvPr>
          <p:cNvSpPr>
            <a:spLocks noGrp="1"/>
          </p:cNvSpPr>
          <p:nvPr>
            <p:ph idx="1"/>
          </p:nvPr>
        </p:nvSpPr>
        <p:spPr>
          <a:xfrm>
            <a:off x="396429" y="1305189"/>
            <a:ext cx="11398254" cy="4015454"/>
          </a:xfrm>
        </p:spPr>
        <p:txBody>
          <a:bodyPr>
            <a:normAutofit/>
          </a:bodyPr>
          <a:lstStyle/>
          <a:p>
            <a:pPr marL="342900" indent="-342900">
              <a:buFont typeface="Arial" panose="020B0604020202020204" pitchFamily="34" charset="0"/>
              <a:buChar char="•"/>
            </a:pPr>
            <a:r>
              <a:rPr lang="en-US"/>
              <a:t>Illustrative case: institutional logics of community foundations (CFs)</a:t>
            </a:r>
          </a:p>
          <a:p>
            <a:pPr marL="342900" indent="-342900">
              <a:buFont typeface="Arial" panose="020B0604020202020204" pitchFamily="34" charset="0"/>
              <a:buChar char="•"/>
            </a:pPr>
            <a:r>
              <a:rPr lang="en-US"/>
              <a:t>Understanding the role of generative AI as a coding partner (Hodges et al., 2025; Katz et al., 2024; Sammon et al, 2024; Sharma &amp; Wallace, 2025; Wiebe et al., 2025; Xiao et al., 2023)</a:t>
            </a:r>
          </a:p>
          <a:p>
            <a:pPr marL="342900" indent="-342900">
              <a:buFont typeface="Arial" panose="020B0604020202020204" pitchFamily="34" charset="0"/>
              <a:buChar char="•"/>
            </a:pPr>
            <a:r>
              <a:rPr lang="en-US"/>
              <a:t>Theory-driven as opposed to post-hoc meaning making</a:t>
            </a:r>
          </a:p>
          <a:p>
            <a:pPr marL="342900" indent="-342900">
              <a:buFont typeface="Arial" panose="020B0604020202020204" pitchFamily="34" charset="0"/>
              <a:buChar char="•"/>
            </a:pPr>
            <a:r>
              <a:rPr lang="en-US"/>
              <a:t>Applications for the study of organizations and management</a:t>
            </a:r>
          </a:p>
          <a:p>
            <a:pPr marL="342900" indent="-342900">
              <a:buFont typeface="Arial" panose="020B0604020202020204" pitchFamily="34" charset="0"/>
              <a:buChar char="•"/>
            </a:pPr>
            <a:r>
              <a:rPr lang="en-US"/>
              <a:t>Multiple classes, not mutually exclusive</a:t>
            </a:r>
          </a:p>
          <a:p>
            <a:pPr marL="342900" indent="-342900">
              <a:buFont typeface="Arial" panose="020B0604020202020204" pitchFamily="34" charset="0"/>
              <a:buChar char="•"/>
            </a:pPr>
            <a:r>
              <a:rPr lang="en-US"/>
              <a:t>Refining and scaling qualitative coding</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
        <p:nvSpPr>
          <p:cNvPr id="4" name="TextBox 3">
            <a:extLst>
              <a:ext uri="{FF2B5EF4-FFF2-40B4-BE49-F238E27FC236}">
                <a16:creationId xmlns:a16="http://schemas.microsoft.com/office/drawing/2014/main" id="{4D6F336F-C03A-0279-D675-13439CD321F0}"/>
              </a:ext>
            </a:extLst>
          </p:cNvPr>
          <p:cNvSpPr txBox="1"/>
          <p:nvPr/>
        </p:nvSpPr>
        <p:spPr>
          <a:xfrm>
            <a:off x="396429" y="4904543"/>
            <a:ext cx="11307097" cy="1077218"/>
          </a:xfrm>
          <a:prstGeom prst="rect">
            <a:avLst/>
          </a:prstGeom>
          <a:noFill/>
        </p:spPr>
        <p:txBody>
          <a:bodyPr wrap="square">
            <a:spAutoFit/>
          </a:bodyPr>
          <a:lstStyle/>
          <a:p>
            <a:r>
              <a:rPr kumimoji="0" lang="en-US" sz="3200" b="1" i="0" u="none" strike="noStrike" kern="1200" cap="none" spc="0" normalizeH="0" baseline="0" noProof="0">
                <a:ln>
                  <a:noFill/>
                </a:ln>
                <a:solidFill>
                  <a:srgbClr val="BA0C2F"/>
                </a:solidFill>
                <a:effectLst/>
                <a:uLnTx/>
                <a:uFillTx/>
                <a:latin typeface="Buckeye Serif 2 Black" pitchFamily="2" charset="77"/>
                <a:ea typeface="Buckeye Serif 2 Black" pitchFamily="2" charset="77"/>
                <a:cs typeface="+mj-cs"/>
              </a:rPr>
              <a:t>Can GenAI be used to refine and apply theory-driven qualitative coding with multiple, overlapping classes?</a:t>
            </a:r>
            <a:endParaRPr lang="en-US" sz="3200"/>
          </a:p>
        </p:txBody>
      </p:sp>
    </p:spTree>
    <p:extLst>
      <p:ext uri="{BB962C8B-B14F-4D97-AF65-F5344CB8AC3E}">
        <p14:creationId xmlns:p14="http://schemas.microsoft.com/office/powerpoint/2010/main" val="1644850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F9461-997B-4901-291E-73B0D062B3DD}"/>
              </a:ext>
            </a:extLst>
          </p:cNvPr>
          <p:cNvSpPr>
            <a:spLocks noGrp="1"/>
          </p:cNvSpPr>
          <p:nvPr>
            <p:ph type="sldNum" sz="quarter" idx="12"/>
          </p:nvPr>
        </p:nvSpPr>
        <p:spPr/>
        <p:txBody>
          <a:bodyPr/>
          <a:lstStyle/>
          <a:p>
            <a:fld id="{DFA4CD3D-26C8-47FF-8D13-9B32BAAB4735}" type="slidenum">
              <a:rPr lang="en-US" smtClean="0"/>
              <a:t>12</a:t>
            </a:fld>
            <a:endParaRPr lang="en-US"/>
          </a:p>
        </p:txBody>
      </p:sp>
      <p:sp>
        <p:nvSpPr>
          <p:cNvPr id="3" name="Title 2">
            <a:extLst>
              <a:ext uri="{FF2B5EF4-FFF2-40B4-BE49-F238E27FC236}">
                <a16:creationId xmlns:a16="http://schemas.microsoft.com/office/drawing/2014/main" id="{8F6B3568-CC2F-CC35-D8B4-D8220D68897F}"/>
              </a:ext>
            </a:extLst>
          </p:cNvPr>
          <p:cNvSpPr>
            <a:spLocks noGrp="1"/>
          </p:cNvSpPr>
          <p:nvPr>
            <p:ph type="title"/>
          </p:nvPr>
        </p:nvSpPr>
        <p:spPr>
          <a:xfrm>
            <a:off x="396873" y="505660"/>
            <a:ext cx="11706637" cy="838854"/>
          </a:xfrm>
        </p:spPr>
        <p:txBody>
          <a:bodyPr>
            <a:noAutofit/>
          </a:bodyPr>
          <a:lstStyle/>
          <a:p>
            <a:r>
              <a:rPr lang="en-US" sz="3600"/>
              <a:t>Case: ILs of Community Foundations (CFs)</a:t>
            </a:r>
          </a:p>
        </p:txBody>
      </p:sp>
      <p:sp>
        <p:nvSpPr>
          <p:cNvPr id="7" name="Content Placeholder 4">
            <a:extLst>
              <a:ext uri="{FF2B5EF4-FFF2-40B4-BE49-F238E27FC236}">
                <a16:creationId xmlns:a16="http://schemas.microsoft.com/office/drawing/2014/main" id="{76ADA002-2C87-74D9-3F51-7541B1E7028D}"/>
              </a:ext>
            </a:extLst>
          </p:cNvPr>
          <p:cNvSpPr txBox="1">
            <a:spLocks/>
          </p:cNvSpPr>
          <p:nvPr/>
        </p:nvSpPr>
        <p:spPr>
          <a:xfrm>
            <a:off x="396873" y="1421273"/>
            <a:ext cx="11398254" cy="401545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a:t>Community foundations are</a:t>
            </a:r>
          </a:p>
          <a:p>
            <a:pPr marL="1028700" lvl="1" indent="-342900"/>
            <a:r>
              <a:rPr lang="en-US">
                <a:latin typeface="Buckeye Sans 2" pitchFamily="2" charset="0"/>
              </a:rPr>
              <a:t>place-based grantmaking public charities that c</a:t>
            </a:r>
            <a:r>
              <a:rPr lang="en-US"/>
              <a:t>ollect donations from a broad base of individuals and distribute funds</a:t>
            </a:r>
          </a:p>
          <a:p>
            <a:pPr marL="342900" indent="-342900">
              <a:buFont typeface="Arial" panose="020B0604020202020204" pitchFamily="34" charset="0"/>
              <a:buChar char="•"/>
            </a:pPr>
            <a:r>
              <a:rPr lang="en-US"/>
              <a:t>Ideal CF logics (Paarlberg, 2023)</a:t>
            </a:r>
          </a:p>
          <a:p>
            <a:pPr marL="1028700" lvl="1" indent="-342900"/>
            <a:r>
              <a:rPr lang="en-US"/>
              <a:t>Philanthropic Community Trust (PCT)</a:t>
            </a:r>
          </a:p>
          <a:p>
            <a:pPr marL="1028700" lvl="1" indent="-342900"/>
            <a:r>
              <a:rPr lang="en-US"/>
              <a:t>Donor Services (DS)</a:t>
            </a:r>
          </a:p>
          <a:p>
            <a:pPr marL="1028700" lvl="1" indent="-342900"/>
            <a:r>
              <a:rPr lang="en-US"/>
              <a:t>Public-Private Governance (PPG)</a:t>
            </a:r>
          </a:p>
          <a:p>
            <a:pPr marL="1028700" lvl="1" indent="-342900"/>
            <a:r>
              <a:rPr lang="en-US"/>
              <a:t>Social Change (SC)</a:t>
            </a:r>
          </a:p>
          <a:p>
            <a:pPr marL="342900" indent="-342900">
              <a:buFont typeface="Arial" panose="020B0604020202020204" pitchFamily="34" charset="0"/>
              <a:buChar char="•"/>
            </a:pPr>
            <a:r>
              <a:rPr lang="en-US">
                <a:latin typeface="Buckeye Sans 2" pitchFamily="2" charset="0"/>
                <a:ea typeface="Buckeye Serif 2 Black" pitchFamily="2" charset="0"/>
              </a:rPr>
              <a:t>Annual reports for the years 2005-2023 for all 900 CFs across the US</a:t>
            </a:r>
          </a:p>
          <a:p>
            <a:pPr marL="1028700" lvl="1" indent="-342900"/>
            <a:r>
              <a:rPr lang="en-US">
                <a:latin typeface="Buckeye Sans 2" pitchFamily="2" charset="0"/>
                <a:ea typeface="Buckeye Serif 2 Black" pitchFamily="2" charset="0"/>
              </a:rPr>
              <a:t>Working with a sample </a:t>
            </a:r>
            <a:endParaRPr lang="en-US"/>
          </a:p>
          <a:p>
            <a:pPr marL="342900" indent="-342900"/>
            <a:endParaRPr lang="en-US"/>
          </a:p>
        </p:txBody>
      </p:sp>
    </p:spTree>
    <p:extLst>
      <p:ext uri="{BB962C8B-B14F-4D97-AF65-F5344CB8AC3E}">
        <p14:creationId xmlns:p14="http://schemas.microsoft.com/office/powerpoint/2010/main" val="2772309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F9461-997B-4901-291E-73B0D062B3DD}"/>
              </a:ext>
            </a:extLst>
          </p:cNvPr>
          <p:cNvSpPr>
            <a:spLocks noGrp="1"/>
          </p:cNvSpPr>
          <p:nvPr>
            <p:ph type="sldNum" sz="quarter" idx="12"/>
          </p:nvPr>
        </p:nvSpPr>
        <p:spPr/>
        <p:txBody>
          <a:bodyPr/>
          <a:lstStyle/>
          <a:p>
            <a:fld id="{DFA4CD3D-26C8-47FF-8D13-9B32BAAB4735}" type="slidenum">
              <a:rPr lang="en-US" smtClean="0"/>
              <a:t>13</a:t>
            </a:fld>
            <a:endParaRPr lang="en-US"/>
          </a:p>
        </p:txBody>
      </p:sp>
      <p:sp>
        <p:nvSpPr>
          <p:cNvPr id="6" name="Footer Placeholder 5">
            <a:extLst>
              <a:ext uri="{FF2B5EF4-FFF2-40B4-BE49-F238E27FC236}">
                <a16:creationId xmlns:a16="http://schemas.microsoft.com/office/drawing/2014/main" id="{DF744C69-0FF0-9A53-40ED-59C21046EB93}"/>
              </a:ext>
            </a:extLst>
          </p:cNvPr>
          <p:cNvSpPr>
            <a:spLocks noGrp="1"/>
          </p:cNvSpPr>
          <p:nvPr>
            <p:ph type="ftr" sz="quarter" idx="11"/>
          </p:nvPr>
        </p:nvSpPr>
        <p:spPr/>
        <p:txBody>
          <a:bodyPr/>
          <a:lstStyle/>
          <a:p>
            <a:endParaRPr lang="en-US"/>
          </a:p>
        </p:txBody>
      </p:sp>
      <p:graphicFrame>
        <p:nvGraphicFramePr>
          <p:cNvPr id="11" name="Table 10">
            <a:extLst>
              <a:ext uri="{FF2B5EF4-FFF2-40B4-BE49-F238E27FC236}">
                <a16:creationId xmlns:a16="http://schemas.microsoft.com/office/drawing/2014/main" id="{59FBBE1E-D887-A939-AEFA-B98F74F9BE91}"/>
              </a:ext>
            </a:extLst>
          </p:cNvPr>
          <p:cNvGraphicFramePr>
            <a:graphicFrameLocks noGrp="1"/>
          </p:cNvGraphicFramePr>
          <p:nvPr>
            <p:extLst>
              <p:ext uri="{D42A27DB-BD31-4B8C-83A1-F6EECF244321}">
                <p14:modId xmlns:p14="http://schemas.microsoft.com/office/powerpoint/2010/main" val="4129183186"/>
              </p:ext>
            </p:extLst>
          </p:nvPr>
        </p:nvGraphicFramePr>
        <p:xfrm>
          <a:off x="304800" y="-11892"/>
          <a:ext cx="11582400" cy="6840395"/>
        </p:xfrm>
        <a:graphic>
          <a:graphicData uri="http://schemas.openxmlformats.org/drawingml/2006/table">
            <a:tbl>
              <a:tblPr firstRow="1" firstCol="1" bandRow="1">
                <a:tableStyleId>{5C22544A-7EE6-4342-B048-85BDC9FD1C3A}</a:tableStyleId>
              </a:tblPr>
              <a:tblGrid>
                <a:gridCol w="2059849">
                  <a:extLst>
                    <a:ext uri="{9D8B030D-6E8A-4147-A177-3AD203B41FA5}">
                      <a16:colId xmlns:a16="http://schemas.microsoft.com/office/drawing/2014/main" val="1703916882"/>
                    </a:ext>
                  </a:extLst>
                </a:gridCol>
                <a:gridCol w="2414194">
                  <a:extLst>
                    <a:ext uri="{9D8B030D-6E8A-4147-A177-3AD203B41FA5}">
                      <a16:colId xmlns:a16="http://schemas.microsoft.com/office/drawing/2014/main" val="2487640800"/>
                    </a:ext>
                  </a:extLst>
                </a:gridCol>
                <a:gridCol w="2335449">
                  <a:extLst>
                    <a:ext uri="{9D8B030D-6E8A-4147-A177-3AD203B41FA5}">
                      <a16:colId xmlns:a16="http://schemas.microsoft.com/office/drawing/2014/main" val="4293996158"/>
                    </a:ext>
                  </a:extLst>
                </a:gridCol>
                <a:gridCol w="2713059">
                  <a:extLst>
                    <a:ext uri="{9D8B030D-6E8A-4147-A177-3AD203B41FA5}">
                      <a16:colId xmlns:a16="http://schemas.microsoft.com/office/drawing/2014/main" val="596788145"/>
                    </a:ext>
                  </a:extLst>
                </a:gridCol>
                <a:gridCol w="2059849">
                  <a:extLst>
                    <a:ext uri="{9D8B030D-6E8A-4147-A177-3AD203B41FA5}">
                      <a16:colId xmlns:a16="http://schemas.microsoft.com/office/drawing/2014/main" val="3478328217"/>
                    </a:ext>
                  </a:extLst>
                </a:gridCol>
              </a:tblGrid>
              <a:tr h="263509">
                <a:tc>
                  <a:txBody>
                    <a:bodyPr/>
                    <a:lstStyle/>
                    <a:p>
                      <a:pPr>
                        <a:lnSpc>
                          <a:spcPct val="107000"/>
                        </a:lnSpc>
                      </a:pPr>
                      <a:endParaRPr lang="en-US" sz="1400" kern="100">
                        <a:effectLst/>
                        <a:latin typeface="Aptos" panose="020B00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Philanthropic Community Trust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Donor Services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Public-Private Governance Logic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Social Change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496500205"/>
                  </a:ext>
                </a:extLst>
              </a:tr>
              <a:tr h="262981">
                <a:tc gridSpan="5">
                  <a:txBody>
                    <a:bodyPr/>
                    <a:lstStyle/>
                    <a:p>
                      <a:pPr marL="0" marR="0" algn="ctr">
                        <a:lnSpc>
                          <a:spcPct val="107000"/>
                        </a:lnSpc>
                        <a:spcBef>
                          <a:spcPts val="0"/>
                        </a:spcBef>
                        <a:spcAft>
                          <a:spcPts val="0"/>
                        </a:spcAft>
                      </a:pPr>
                      <a:r>
                        <a:rPr lang="en-US" sz="1400" kern="100">
                          <a:effectLst/>
                        </a:rPr>
                        <a:t>Taken for Granted Ideational Elements </a:t>
                      </a:r>
                      <a:r>
                        <a:rPr lang="en-US" sz="1400" kern="0">
                          <a:effectLst/>
                        </a:rPr>
                        <a:t>(norms, values, schemas)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26130"/>
                  </a:ext>
                </a:extLst>
              </a:tr>
              <a:tr h="619854">
                <a:tc>
                  <a:txBody>
                    <a:bodyPr/>
                    <a:lstStyle/>
                    <a:p>
                      <a:pPr marL="0" marR="0">
                        <a:lnSpc>
                          <a:spcPct val="107000"/>
                        </a:lnSpc>
                        <a:spcBef>
                          <a:spcPts val="0"/>
                        </a:spcBef>
                        <a:spcAft>
                          <a:spcPts val="0"/>
                        </a:spcAft>
                      </a:pPr>
                      <a:r>
                        <a:rPr lang="en-US" sz="1400" kern="0">
                          <a:effectLst/>
                        </a:rPr>
                        <a:t>How community is defined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Shared sense of identity, values, and traditions of people from a geographic place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The interests, values, and identities of individual donors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Interdependence and shared fate of people in a geographic place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Socially constructed and contested process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1881047851"/>
                  </a:ext>
                </a:extLst>
              </a:tr>
              <a:tr h="1202427">
                <a:tc>
                  <a:txBody>
                    <a:bodyPr/>
                    <a:lstStyle/>
                    <a:p>
                      <a:pPr marL="0" marR="0">
                        <a:lnSpc>
                          <a:spcPct val="107000"/>
                        </a:lnSpc>
                        <a:spcBef>
                          <a:spcPts val="0"/>
                        </a:spcBef>
                        <a:spcAft>
                          <a:spcPts val="0"/>
                        </a:spcAft>
                      </a:pPr>
                      <a:r>
                        <a:rPr lang="en-US" sz="1400" kern="0">
                          <a:effectLst/>
                        </a:rPr>
                        <a:t>Basis of ideal of community philanthropy: Roles and responsibilities of those with privilege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Social Darwinism and civic culture produce an obligation for those who have benefitted from a place to give back.</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Philanthropy is an individual expressive act.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Scientific philanthropy, welfare capitalism, and neoliberalism regard private action as the preferred solution to social problems.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All people have inalienable rights to basic needs. The privileged have a moral obligation to right wrongs and stand up for those who are marginalized.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4212335463"/>
                  </a:ext>
                </a:extLst>
              </a:tr>
              <a:tr h="1011033">
                <a:tc>
                  <a:txBody>
                    <a:bodyPr/>
                    <a:lstStyle/>
                    <a:p>
                      <a:pPr marL="0" marR="0">
                        <a:lnSpc>
                          <a:spcPct val="107000"/>
                        </a:lnSpc>
                        <a:spcBef>
                          <a:spcPts val="0"/>
                        </a:spcBef>
                        <a:spcAft>
                          <a:spcPts val="0"/>
                        </a:spcAft>
                      </a:pPr>
                      <a:r>
                        <a:rPr lang="en-US" sz="1400" kern="0">
                          <a:effectLst/>
                        </a:rPr>
                        <a:t>Why the CF exists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Growing and preserving capital, building community legacy, giving back to maintain a sense of place, and responding to the community's emerging needs.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Mobilize donors and “steward” funds so donors can leave a personal legacy.</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Provide private solutions to public issues. It emphasizes cross-sector collaboration and strategic investment based on community needs.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Dismantle barriers that perpetuate disparity and inequality.</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202235717"/>
                  </a:ext>
                </a:extLst>
              </a:tr>
              <a:tr h="262981">
                <a:tc>
                  <a:txBody>
                    <a:bodyPr/>
                    <a:lstStyle/>
                    <a:p>
                      <a:pPr marL="0" marR="0">
                        <a:lnSpc>
                          <a:spcPct val="107000"/>
                        </a:lnSpc>
                        <a:spcBef>
                          <a:spcPts val="0"/>
                        </a:spcBef>
                        <a:spcAft>
                          <a:spcPts val="0"/>
                        </a:spcAft>
                      </a:pPr>
                      <a:r>
                        <a:rPr lang="en-US" sz="1400" kern="0">
                          <a:effectLst/>
                        </a:rPr>
                        <a:t>Basis of CF identity</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Charitable Bank</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Philanthropic Wealth Advisor</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Leader, Convener</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Advocate for Marginalized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1777127036"/>
                  </a:ext>
                </a:extLst>
              </a:tr>
              <a:tr h="262981">
                <a:tc gridSpan="5">
                  <a:txBody>
                    <a:bodyPr/>
                    <a:lstStyle/>
                    <a:p>
                      <a:pPr marL="0" marR="0" algn="ctr">
                        <a:lnSpc>
                          <a:spcPct val="107000"/>
                        </a:lnSpc>
                        <a:spcBef>
                          <a:spcPts val="0"/>
                        </a:spcBef>
                        <a:spcAft>
                          <a:spcPts val="0"/>
                        </a:spcAft>
                      </a:pPr>
                      <a:r>
                        <a:rPr lang="en-US" sz="1400" kern="0">
                          <a:effectLst/>
                        </a:rPr>
                        <a:t>Material Elements (practices, behaviors)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07326011"/>
                  </a:ext>
                </a:extLst>
              </a:tr>
              <a:tr h="1008236">
                <a:tc>
                  <a:txBody>
                    <a:bodyPr/>
                    <a:lstStyle/>
                    <a:p>
                      <a:pPr marL="0" marR="0">
                        <a:lnSpc>
                          <a:spcPct val="107000"/>
                        </a:lnSpc>
                        <a:spcBef>
                          <a:spcPts val="0"/>
                        </a:spcBef>
                        <a:spcAft>
                          <a:spcPts val="0"/>
                        </a:spcAft>
                      </a:pPr>
                      <a:r>
                        <a:rPr lang="en-US" sz="1400" kern="0">
                          <a:effectLst/>
                        </a:rPr>
                        <a:t>Who is centered in grantmaking processes and decisions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Reactive grantmaking that centers community betterment as understood by elites and established grantees and applicants.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Grantmaking preference for scholarships and charities— regardless of place. It centers the interests, values and identities of donors.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Research-based grantmaking that centers long-term community interests as understood by experts, professionals, and formal leaders.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Participatory, trust-based grantmaking that centers the lived experiences and insights of marginalized residents.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171826038"/>
                  </a:ext>
                </a:extLst>
              </a:tr>
              <a:tr h="619854">
                <a:tc>
                  <a:txBody>
                    <a:bodyPr/>
                    <a:lstStyle/>
                    <a:p>
                      <a:pPr marL="0" marR="0">
                        <a:lnSpc>
                          <a:spcPct val="107000"/>
                        </a:lnSpc>
                        <a:spcBef>
                          <a:spcPts val="0"/>
                        </a:spcBef>
                        <a:spcAft>
                          <a:spcPts val="0"/>
                        </a:spcAft>
                      </a:pPr>
                      <a:r>
                        <a:rPr lang="en-US" sz="1400" kern="0">
                          <a:effectLst/>
                        </a:rPr>
                        <a:t>Resource base for grantmaking and operational expenses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Unrestricted endowments, bequests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Management fees from donor-advised funds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Diversified funding including program-related investments, grants to the CF, public contracting</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Democratized donor base, giving circles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994654935"/>
                  </a:ext>
                </a:extLst>
              </a:tr>
              <a:tr h="425664">
                <a:tc>
                  <a:txBody>
                    <a:bodyPr/>
                    <a:lstStyle/>
                    <a:p>
                      <a:pPr marL="0" marR="0">
                        <a:lnSpc>
                          <a:spcPct val="107000"/>
                        </a:lnSpc>
                        <a:spcBef>
                          <a:spcPts val="0"/>
                        </a:spcBef>
                        <a:spcAft>
                          <a:spcPts val="0"/>
                        </a:spcAft>
                      </a:pPr>
                      <a:r>
                        <a:rPr lang="en-US" sz="1400" kern="0">
                          <a:effectLst/>
                        </a:rPr>
                        <a:t>Donors’ Relationship to CF</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Legacy Resource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Transactional Client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Impact Investors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Allies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686932961"/>
                  </a:ext>
                </a:extLst>
              </a:tr>
            </a:tbl>
          </a:graphicData>
        </a:graphic>
      </p:graphicFrame>
    </p:spTree>
    <p:extLst>
      <p:ext uri="{BB962C8B-B14F-4D97-AF65-F5344CB8AC3E}">
        <p14:creationId xmlns:p14="http://schemas.microsoft.com/office/powerpoint/2010/main" val="3099707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561EB-51BC-57F4-A7A3-9F8C7D012A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020265-F640-15BA-B16F-5C5104BBB3CD}"/>
              </a:ext>
            </a:extLst>
          </p:cNvPr>
          <p:cNvSpPr>
            <a:spLocks noGrp="1"/>
          </p:cNvSpPr>
          <p:nvPr>
            <p:ph type="sldNum" sz="quarter" idx="12"/>
          </p:nvPr>
        </p:nvSpPr>
        <p:spPr>
          <a:xfrm>
            <a:off x="11297749" y="6304801"/>
            <a:ext cx="497378" cy="365125"/>
          </a:xfrm>
        </p:spPr>
        <p:txBody>
          <a:bodyPr anchor="ctr">
            <a:normAutofit/>
          </a:bodyPr>
          <a:lstStyle/>
          <a:p>
            <a:pPr>
              <a:spcAft>
                <a:spcPts val="600"/>
              </a:spcAft>
            </a:pPr>
            <a:fld id="{DFA4CD3D-26C8-47FF-8D13-9B32BAAB4735}" type="slidenum">
              <a:rPr lang="en-US" smtClean="0"/>
              <a:pPr>
                <a:spcAft>
                  <a:spcPts val="600"/>
                </a:spcAft>
              </a:pPr>
              <a:t>14</a:t>
            </a:fld>
            <a:endParaRPr lang="en-US"/>
          </a:p>
        </p:txBody>
      </p:sp>
      <p:sp>
        <p:nvSpPr>
          <p:cNvPr id="3" name="Title 2">
            <a:extLst>
              <a:ext uri="{FF2B5EF4-FFF2-40B4-BE49-F238E27FC236}">
                <a16:creationId xmlns:a16="http://schemas.microsoft.com/office/drawing/2014/main" id="{C08134E1-69EF-D666-AE27-924FEF2ED5C5}"/>
              </a:ext>
            </a:extLst>
          </p:cNvPr>
          <p:cNvSpPr>
            <a:spLocks noGrp="1"/>
          </p:cNvSpPr>
          <p:nvPr>
            <p:ph type="title"/>
          </p:nvPr>
        </p:nvSpPr>
        <p:spPr>
          <a:xfrm>
            <a:off x="396874" y="1214845"/>
            <a:ext cx="4175126" cy="2057636"/>
          </a:xfrm>
        </p:spPr>
        <p:txBody>
          <a:bodyPr anchor="b">
            <a:normAutofit/>
          </a:bodyPr>
          <a:lstStyle/>
          <a:p>
            <a:r>
              <a:rPr lang="en-US"/>
              <a:t>Community Foundation Logics</a:t>
            </a:r>
          </a:p>
        </p:txBody>
      </p:sp>
      <p:pic>
        <p:nvPicPr>
          <p:cNvPr id="8" name="Picture 7" descr="A diagram of a diagram&#10;&#10;AI-generated content may be incorrect.">
            <a:extLst>
              <a:ext uri="{FF2B5EF4-FFF2-40B4-BE49-F238E27FC236}">
                <a16:creationId xmlns:a16="http://schemas.microsoft.com/office/drawing/2014/main" id="{48493DA0-CD68-EEA0-E052-F1131F3FE01E}"/>
              </a:ext>
            </a:extLst>
          </p:cNvPr>
          <p:cNvPicPr>
            <a:picLocks noChangeAspect="1"/>
          </p:cNvPicPr>
          <p:nvPr/>
        </p:nvPicPr>
        <p:blipFill>
          <a:blip r:embed="rId3">
            <a:extLst>
              <a:ext uri="{28A0092B-C50C-407E-A947-70E740481C1C}">
                <a14:useLocalDpi xmlns:a14="http://schemas.microsoft.com/office/drawing/2010/main" val="0"/>
              </a:ext>
            </a:extLst>
          </a:blip>
          <a:srcRect l="13459" t="8788" r="12040" b="10152"/>
          <a:stretch>
            <a:fillRect/>
          </a:stretch>
        </p:blipFill>
        <p:spPr>
          <a:xfrm>
            <a:off x="5086887" y="116733"/>
            <a:ext cx="6476381" cy="6031148"/>
          </a:xfrm>
          <a:prstGeom prst="rect">
            <a:avLst/>
          </a:prstGeom>
          <a:noFill/>
        </p:spPr>
      </p:pic>
      <p:sp>
        <p:nvSpPr>
          <p:cNvPr id="15" name="Footer Placeholder 5">
            <a:extLst>
              <a:ext uri="{FF2B5EF4-FFF2-40B4-BE49-F238E27FC236}">
                <a16:creationId xmlns:a16="http://schemas.microsoft.com/office/drawing/2014/main" id="{4F94CB84-03EE-2C2E-5ED7-B8D48C36884B}"/>
              </a:ext>
            </a:extLst>
          </p:cNvPr>
          <p:cNvSpPr>
            <a:spLocks noGrp="1"/>
          </p:cNvSpPr>
          <p:nvPr>
            <p:ph type="ftr" sz="quarter" idx="11"/>
          </p:nvPr>
        </p:nvSpPr>
        <p:spPr>
          <a:xfrm>
            <a:off x="4506686" y="6296411"/>
            <a:ext cx="6663152" cy="341657"/>
          </a:xfrm>
        </p:spPr>
        <p:txBody>
          <a:bodyPr/>
          <a:lstStyle/>
          <a:p>
            <a:endParaRPr lang="en-US"/>
          </a:p>
        </p:txBody>
      </p:sp>
      <p:sp>
        <p:nvSpPr>
          <p:cNvPr id="4" name="TextBox 3">
            <a:extLst>
              <a:ext uri="{FF2B5EF4-FFF2-40B4-BE49-F238E27FC236}">
                <a16:creationId xmlns:a16="http://schemas.microsoft.com/office/drawing/2014/main" id="{FE0E4256-6935-A704-E1EA-EA40D8BBA612}"/>
              </a:ext>
            </a:extLst>
          </p:cNvPr>
          <p:cNvSpPr txBox="1"/>
          <p:nvPr/>
        </p:nvSpPr>
        <p:spPr>
          <a:xfrm>
            <a:off x="6096000" y="1811216"/>
            <a:ext cx="633046" cy="400110"/>
          </a:xfrm>
          <a:prstGeom prst="rect">
            <a:avLst/>
          </a:prstGeom>
          <a:noFill/>
        </p:spPr>
        <p:txBody>
          <a:bodyPr wrap="square" rtlCol="0">
            <a:spAutoFit/>
          </a:bodyPr>
          <a:lstStyle/>
          <a:p>
            <a:r>
              <a:rPr lang="en-US" sz="2000"/>
              <a:t>(DS)</a:t>
            </a:r>
          </a:p>
        </p:txBody>
      </p:sp>
      <p:sp>
        <p:nvSpPr>
          <p:cNvPr id="6" name="TextBox 5">
            <a:extLst>
              <a:ext uri="{FF2B5EF4-FFF2-40B4-BE49-F238E27FC236}">
                <a16:creationId xmlns:a16="http://schemas.microsoft.com/office/drawing/2014/main" id="{01787AFE-9A4B-2A93-4116-8E23246F7684}"/>
              </a:ext>
            </a:extLst>
          </p:cNvPr>
          <p:cNvSpPr txBox="1"/>
          <p:nvPr/>
        </p:nvSpPr>
        <p:spPr>
          <a:xfrm>
            <a:off x="9616587" y="1874331"/>
            <a:ext cx="687998" cy="369332"/>
          </a:xfrm>
          <a:prstGeom prst="rect">
            <a:avLst/>
          </a:prstGeom>
          <a:noFill/>
        </p:spPr>
        <p:txBody>
          <a:bodyPr wrap="square">
            <a:spAutoFit/>
          </a:bodyPr>
          <a:lstStyle/>
          <a:p>
            <a:r>
              <a:rPr lang="en-US" sz="1800"/>
              <a:t>(</a:t>
            </a:r>
            <a:r>
              <a:rPr lang="en-US"/>
              <a:t>SC</a:t>
            </a:r>
            <a:r>
              <a:rPr lang="en-US" sz="1800"/>
              <a:t>)</a:t>
            </a:r>
          </a:p>
        </p:txBody>
      </p:sp>
      <p:sp>
        <p:nvSpPr>
          <p:cNvPr id="9" name="TextBox 8">
            <a:extLst>
              <a:ext uri="{FF2B5EF4-FFF2-40B4-BE49-F238E27FC236}">
                <a16:creationId xmlns:a16="http://schemas.microsoft.com/office/drawing/2014/main" id="{3D61C1A1-8898-1EFC-1659-C90E37D9E3C8}"/>
              </a:ext>
            </a:extLst>
          </p:cNvPr>
          <p:cNvSpPr txBox="1"/>
          <p:nvPr/>
        </p:nvSpPr>
        <p:spPr>
          <a:xfrm>
            <a:off x="6170003" y="4950042"/>
            <a:ext cx="863844" cy="369332"/>
          </a:xfrm>
          <a:prstGeom prst="rect">
            <a:avLst/>
          </a:prstGeom>
          <a:noFill/>
        </p:spPr>
        <p:txBody>
          <a:bodyPr wrap="square">
            <a:spAutoFit/>
          </a:bodyPr>
          <a:lstStyle/>
          <a:p>
            <a:r>
              <a:rPr lang="en-US" sz="1800"/>
              <a:t>(</a:t>
            </a:r>
            <a:r>
              <a:rPr lang="en-US"/>
              <a:t>PCT</a:t>
            </a:r>
            <a:r>
              <a:rPr lang="en-US" sz="1800"/>
              <a:t>)</a:t>
            </a:r>
          </a:p>
        </p:txBody>
      </p:sp>
      <p:sp>
        <p:nvSpPr>
          <p:cNvPr id="11" name="TextBox 10">
            <a:extLst>
              <a:ext uri="{FF2B5EF4-FFF2-40B4-BE49-F238E27FC236}">
                <a16:creationId xmlns:a16="http://schemas.microsoft.com/office/drawing/2014/main" id="{5ABF72D5-7173-7729-69B3-A755DAD2C7F9}"/>
              </a:ext>
            </a:extLst>
          </p:cNvPr>
          <p:cNvSpPr txBox="1"/>
          <p:nvPr/>
        </p:nvSpPr>
        <p:spPr>
          <a:xfrm>
            <a:off x="9467118" y="4950042"/>
            <a:ext cx="837467" cy="369332"/>
          </a:xfrm>
          <a:prstGeom prst="rect">
            <a:avLst/>
          </a:prstGeom>
          <a:noFill/>
        </p:spPr>
        <p:txBody>
          <a:bodyPr wrap="square">
            <a:spAutoFit/>
          </a:bodyPr>
          <a:lstStyle/>
          <a:p>
            <a:r>
              <a:rPr lang="en-US" sz="1800"/>
              <a:t>(</a:t>
            </a:r>
            <a:r>
              <a:rPr lang="en-US"/>
              <a:t>PPG</a:t>
            </a:r>
            <a:r>
              <a:rPr lang="en-US" sz="1800"/>
              <a:t>)</a:t>
            </a:r>
          </a:p>
        </p:txBody>
      </p:sp>
    </p:spTree>
    <p:extLst>
      <p:ext uri="{BB962C8B-B14F-4D97-AF65-F5344CB8AC3E}">
        <p14:creationId xmlns:p14="http://schemas.microsoft.com/office/powerpoint/2010/main" val="3402467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0B0E03-3740-BC23-E6BF-DB958972982A}"/>
              </a:ext>
            </a:extLst>
          </p:cNvPr>
          <p:cNvSpPr>
            <a:spLocks noGrp="1"/>
          </p:cNvSpPr>
          <p:nvPr>
            <p:ph type="sldNum" sz="quarter" idx="12"/>
          </p:nvPr>
        </p:nvSpPr>
        <p:spPr/>
        <p:txBody>
          <a:bodyPr/>
          <a:lstStyle/>
          <a:p>
            <a:fld id="{DFA4CD3D-26C8-47FF-8D13-9B32BAAB4735}" type="slidenum">
              <a:rPr lang="en-US" smtClean="0"/>
              <a:t>15</a:t>
            </a:fld>
            <a:endParaRPr lang="en-US"/>
          </a:p>
        </p:txBody>
      </p:sp>
      <p:sp>
        <p:nvSpPr>
          <p:cNvPr id="3" name="Title 2">
            <a:extLst>
              <a:ext uri="{FF2B5EF4-FFF2-40B4-BE49-F238E27FC236}">
                <a16:creationId xmlns:a16="http://schemas.microsoft.com/office/drawing/2014/main" id="{7348B85C-24FD-ADEA-B843-5D81E6B78067}"/>
              </a:ext>
            </a:extLst>
          </p:cNvPr>
          <p:cNvSpPr>
            <a:spLocks noGrp="1"/>
          </p:cNvSpPr>
          <p:nvPr>
            <p:ph type="title"/>
          </p:nvPr>
        </p:nvSpPr>
        <p:spPr>
          <a:xfrm>
            <a:off x="690332" y="2327448"/>
            <a:ext cx="10515600" cy="1796143"/>
          </a:xfrm>
        </p:spPr>
        <p:txBody>
          <a:bodyPr>
            <a:normAutofit fontScale="90000"/>
          </a:bodyPr>
          <a:lstStyle/>
          <a:p>
            <a:r>
              <a:rPr lang="en-US"/>
              <a:t>What do you find most interesting our helpful about our process?</a:t>
            </a:r>
          </a:p>
        </p:txBody>
      </p:sp>
      <p:sp>
        <p:nvSpPr>
          <p:cNvPr id="5" name="Footer Placeholder 4">
            <a:extLst>
              <a:ext uri="{FF2B5EF4-FFF2-40B4-BE49-F238E27FC236}">
                <a16:creationId xmlns:a16="http://schemas.microsoft.com/office/drawing/2014/main" id="{8B229A9E-4E9E-51BD-FC52-39B8EDBAF05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87018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276A9-19DE-0A3B-FF9A-0814B98D75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5A72AE-D973-52FF-793B-CD549DC7713A}"/>
              </a:ext>
            </a:extLst>
          </p:cNvPr>
          <p:cNvSpPr>
            <a:spLocks noGrp="1"/>
          </p:cNvSpPr>
          <p:nvPr>
            <p:ph type="sldNum" sz="quarter" idx="12"/>
          </p:nvPr>
        </p:nvSpPr>
        <p:spPr/>
        <p:txBody>
          <a:bodyPr/>
          <a:lstStyle/>
          <a:p>
            <a:fld id="{DFA4CD3D-26C8-47FF-8D13-9B32BAAB4735}" type="slidenum">
              <a:rPr lang="en-US" smtClean="0"/>
              <a:t>16</a:t>
            </a:fld>
            <a:endParaRPr lang="en-US"/>
          </a:p>
        </p:txBody>
      </p:sp>
      <p:sp>
        <p:nvSpPr>
          <p:cNvPr id="3" name="Title 2">
            <a:extLst>
              <a:ext uri="{FF2B5EF4-FFF2-40B4-BE49-F238E27FC236}">
                <a16:creationId xmlns:a16="http://schemas.microsoft.com/office/drawing/2014/main" id="{FB07A5E9-E2AC-D49A-16DA-9EB1615D066A}"/>
              </a:ext>
            </a:extLst>
          </p:cNvPr>
          <p:cNvSpPr>
            <a:spLocks noGrp="1"/>
          </p:cNvSpPr>
          <p:nvPr>
            <p:ph type="title"/>
          </p:nvPr>
        </p:nvSpPr>
        <p:spPr>
          <a:xfrm>
            <a:off x="396429" y="466335"/>
            <a:ext cx="11398253" cy="838854"/>
          </a:xfrm>
        </p:spPr>
        <p:txBody>
          <a:bodyPr>
            <a:normAutofit/>
          </a:bodyPr>
          <a:lstStyle/>
          <a:p>
            <a:r>
              <a:rPr lang="en-US" sz="3600"/>
              <a:t>AI Approaches</a:t>
            </a:r>
          </a:p>
        </p:txBody>
      </p:sp>
    </p:spTree>
    <p:extLst>
      <p:ext uri="{BB962C8B-B14F-4D97-AF65-F5344CB8AC3E}">
        <p14:creationId xmlns:p14="http://schemas.microsoft.com/office/powerpoint/2010/main" val="3079187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DBFC-C31D-1176-67C3-A31732B815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A1CC34-56C0-438D-D018-D86F0C49DEC1}"/>
              </a:ext>
            </a:extLst>
          </p:cNvPr>
          <p:cNvSpPr>
            <a:spLocks noGrp="1"/>
          </p:cNvSpPr>
          <p:nvPr>
            <p:ph type="sldNum" sz="quarter" idx="12"/>
          </p:nvPr>
        </p:nvSpPr>
        <p:spPr/>
        <p:txBody>
          <a:bodyPr/>
          <a:lstStyle/>
          <a:p>
            <a:fld id="{DFA4CD3D-26C8-47FF-8D13-9B32BAAB4735}" type="slidenum">
              <a:rPr lang="en-US" smtClean="0"/>
              <a:t>17</a:t>
            </a:fld>
            <a:endParaRPr lang="en-US"/>
          </a:p>
        </p:txBody>
      </p:sp>
      <p:sp>
        <p:nvSpPr>
          <p:cNvPr id="3" name="Title 2">
            <a:extLst>
              <a:ext uri="{FF2B5EF4-FFF2-40B4-BE49-F238E27FC236}">
                <a16:creationId xmlns:a16="http://schemas.microsoft.com/office/drawing/2014/main" id="{C4BCD471-F957-CD92-33FA-2A240D05CC22}"/>
              </a:ext>
            </a:extLst>
          </p:cNvPr>
          <p:cNvSpPr>
            <a:spLocks noGrp="1"/>
          </p:cNvSpPr>
          <p:nvPr>
            <p:ph type="title"/>
          </p:nvPr>
        </p:nvSpPr>
        <p:spPr>
          <a:xfrm>
            <a:off x="396429" y="466335"/>
            <a:ext cx="11398253" cy="838854"/>
          </a:xfrm>
        </p:spPr>
        <p:txBody>
          <a:bodyPr>
            <a:normAutofit/>
          </a:bodyPr>
          <a:lstStyle/>
          <a:p>
            <a:r>
              <a:rPr lang="en-US" sz="3600"/>
              <a:t>AI Approaches</a:t>
            </a:r>
          </a:p>
        </p:txBody>
      </p:sp>
      <p:sp>
        <p:nvSpPr>
          <p:cNvPr id="4" name="Arrow: Pentagon 3">
            <a:extLst>
              <a:ext uri="{FF2B5EF4-FFF2-40B4-BE49-F238E27FC236}">
                <a16:creationId xmlns:a16="http://schemas.microsoft.com/office/drawing/2014/main" id="{82FDB9B3-1DAA-A98A-A556-F5952C192758}"/>
              </a:ext>
            </a:extLst>
          </p:cNvPr>
          <p:cNvSpPr/>
          <p:nvPr/>
        </p:nvSpPr>
        <p:spPr>
          <a:xfrm>
            <a:off x="426903" y="1305189"/>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Text Embeddings</a:t>
            </a:r>
          </a:p>
        </p:txBody>
      </p:sp>
    </p:spTree>
    <p:extLst>
      <p:ext uri="{BB962C8B-B14F-4D97-AF65-F5344CB8AC3E}">
        <p14:creationId xmlns:p14="http://schemas.microsoft.com/office/powerpoint/2010/main" val="1839557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48B4B-94C3-7C0B-1323-75387AF0EE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900C23-540E-8BCC-16A8-BF428707BF64}"/>
              </a:ext>
            </a:extLst>
          </p:cNvPr>
          <p:cNvSpPr>
            <a:spLocks noGrp="1"/>
          </p:cNvSpPr>
          <p:nvPr>
            <p:ph type="sldNum" sz="quarter" idx="12"/>
          </p:nvPr>
        </p:nvSpPr>
        <p:spPr/>
        <p:txBody>
          <a:bodyPr/>
          <a:lstStyle/>
          <a:p>
            <a:fld id="{DFA4CD3D-26C8-47FF-8D13-9B32BAAB4735}" type="slidenum">
              <a:rPr lang="en-US" smtClean="0"/>
              <a:t>18</a:t>
            </a:fld>
            <a:endParaRPr lang="en-US"/>
          </a:p>
        </p:txBody>
      </p:sp>
      <p:sp>
        <p:nvSpPr>
          <p:cNvPr id="3" name="Title 2">
            <a:extLst>
              <a:ext uri="{FF2B5EF4-FFF2-40B4-BE49-F238E27FC236}">
                <a16:creationId xmlns:a16="http://schemas.microsoft.com/office/drawing/2014/main" id="{43634FB0-33BF-B668-152C-A15F88028A81}"/>
              </a:ext>
            </a:extLst>
          </p:cNvPr>
          <p:cNvSpPr>
            <a:spLocks noGrp="1"/>
          </p:cNvSpPr>
          <p:nvPr>
            <p:ph type="title"/>
          </p:nvPr>
        </p:nvSpPr>
        <p:spPr>
          <a:xfrm>
            <a:off x="396429" y="466335"/>
            <a:ext cx="11398253" cy="838854"/>
          </a:xfrm>
        </p:spPr>
        <p:txBody>
          <a:bodyPr>
            <a:normAutofit/>
          </a:bodyPr>
          <a:lstStyle/>
          <a:p>
            <a:r>
              <a:rPr lang="en-US" sz="3600"/>
              <a:t>AI Approaches</a:t>
            </a:r>
          </a:p>
        </p:txBody>
      </p:sp>
      <p:sp>
        <p:nvSpPr>
          <p:cNvPr id="6" name="Rectangle: Rounded Corners 5">
            <a:extLst>
              <a:ext uri="{FF2B5EF4-FFF2-40B4-BE49-F238E27FC236}">
                <a16:creationId xmlns:a16="http://schemas.microsoft.com/office/drawing/2014/main" id="{E81FF63E-8C6A-C3CF-FF08-D01226340EC4}"/>
              </a:ext>
            </a:extLst>
          </p:cNvPr>
          <p:cNvSpPr/>
          <p:nvPr/>
        </p:nvSpPr>
        <p:spPr>
          <a:xfrm>
            <a:off x="4976547" y="1006485"/>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Understand what is distinct about the logics</a:t>
            </a:r>
          </a:p>
        </p:txBody>
      </p:sp>
      <p:sp>
        <p:nvSpPr>
          <p:cNvPr id="4" name="Arrow: Pentagon 3">
            <a:extLst>
              <a:ext uri="{FF2B5EF4-FFF2-40B4-BE49-F238E27FC236}">
                <a16:creationId xmlns:a16="http://schemas.microsoft.com/office/drawing/2014/main" id="{25E587BA-1F84-15F9-A1C9-C7B98167FDF2}"/>
              </a:ext>
            </a:extLst>
          </p:cNvPr>
          <p:cNvSpPr/>
          <p:nvPr/>
        </p:nvSpPr>
        <p:spPr>
          <a:xfrm>
            <a:off x="426903" y="1305189"/>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Text Embeddings</a:t>
            </a:r>
          </a:p>
        </p:txBody>
      </p:sp>
    </p:spTree>
    <p:extLst>
      <p:ext uri="{BB962C8B-B14F-4D97-AF65-F5344CB8AC3E}">
        <p14:creationId xmlns:p14="http://schemas.microsoft.com/office/powerpoint/2010/main" val="579640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31C93-A59A-ECE0-9FF1-16D3E62682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4E322C-86B6-DDE5-B255-C256C3DB086A}"/>
              </a:ext>
            </a:extLst>
          </p:cNvPr>
          <p:cNvSpPr>
            <a:spLocks noGrp="1"/>
          </p:cNvSpPr>
          <p:nvPr>
            <p:ph type="sldNum" sz="quarter" idx="12"/>
          </p:nvPr>
        </p:nvSpPr>
        <p:spPr/>
        <p:txBody>
          <a:bodyPr/>
          <a:lstStyle/>
          <a:p>
            <a:fld id="{DFA4CD3D-26C8-47FF-8D13-9B32BAAB4735}" type="slidenum">
              <a:rPr lang="en-US" smtClean="0"/>
              <a:t>19</a:t>
            </a:fld>
            <a:endParaRPr lang="en-US"/>
          </a:p>
        </p:txBody>
      </p:sp>
      <p:sp>
        <p:nvSpPr>
          <p:cNvPr id="3" name="Title 2">
            <a:extLst>
              <a:ext uri="{FF2B5EF4-FFF2-40B4-BE49-F238E27FC236}">
                <a16:creationId xmlns:a16="http://schemas.microsoft.com/office/drawing/2014/main" id="{22198198-5440-AF9F-902F-121DDE8CF91C}"/>
              </a:ext>
            </a:extLst>
          </p:cNvPr>
          <p:cNvSpPr>
            <a:spLocks noGrp="1"/>
          </p:cNvSpPr>
          <p:nvPr>
            <p:ph type="title"/>
          </p:nvPr>
        </p:nvSpPr>
        <p:spPr>
          <a:xfrm>
            <a:off x="396429" y="466335"/>
            <a:ext cx="11398253" cy="838854"/>
          </a:xfrm>
        </p:spPr>
        <p:txBody>
          <a:bodyPr>
            <a:normAutofit/>
          </a:bodyPr>
          <a:lstStyle/>
          <a:p>
            <a:r>
              <a:rPr lang="en-US" sz="3600"/>
              <a:t>AI Approaches</a:t>
            </a:r>
          </a:p>
        </p:txBody>
      </p:sp>
      <p:sp>
        <p:nvSpPr>
          <p:cNvPr id="6" name="Rectangle: Rounded Corners 5">
            <a:extLst>
              <a:ext uri="{FF2B5EF4-FFF2-40B4-BE49-F238E27FC236}">
                <a16:creationId xmlns:a16="http://schemas.microsoft.com/office/drawing/2014/main" id="{BBF7B1E5-0937-141B-55D9-A52096F7713F}"/>
              </a:ext>
            </a:extLst>
          </p:cNvPr>
          <p:cNvSpPr/>
          <p:nvPr/>
        </p:nvSpPr>
        <p:spPr>
          <a:xfrm>
            <a:off x="4976547" y="1006485"/>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Understand what is distinct about the logics</a:t>
            </a:r>
          </a:p>
        </p:txBody>
      </p:sp>
      <p:sp>
        <p:nvSpPr>
          <p:cNvPr id="4" name="Arrow: Pentagon 3">
            <a:extLst>
              <a:ext uri="{FF2B5EF4-FFF2-40B4-BE49-F238E27FC236}">
                <a16:creationId xmlns:a16="http://schemas.microsoft.com/office/drawing/2014/main" id="{3D9D19B0-7DFD-9FC2-3239-B6CB219DB398}"/>
              </a:ext>
            </a:extLst>
          </p:cNvPr>
          <p:cNvSpPr/>
          <p:nvPr/>
        </p:nvSpPr>
        <p:spPr>
          <a:xfrm>
            <a:off x="426903" y="1305189"/>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Text Embeddings</a:t>
            </a:r>
          </a:p>
        </p:txBody>
      </p:sp>
      <p:sp>
        <p:nvSpPr>
          <p:cNvPr id="5" name="Arrow: Pentagon 4">
            <a:extLst>
              <a:ext uri="{FF2B5EF4-FFF2-40B4-BE49-F238E27FC236}">
                <a16:creationId xmlns:a16="http://schemas.microsoft.com/office/drawing/2014/main" id="{544C74D3-4A53-574B-2EB6-08114B8CE410}"/>
              </a:ext>
            </a:extLst>
          </p:cNvPr>
          <p:cNvSpPr/>
          <p:nvPr/>
        </p:nvSpPr>
        <p:spPr>
          <a:xfrm>
            <a:off x="426903" y="3149883"/>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TF-IDF Narratives</a:t>
            </a:r>
          </a:p>
        </p:txBody>
      </p:sp>
    </p:spTree>
    <p:extLst>
      <p:ext uri="{BB962C8B-B14F-4D97-AF65-F5344CB8AC3E}">
        <p14:creationId xmlns:p14="http://schemas.microsoft.com/office/powerpoint/2010/main" val="573625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2DCD1-0042-74B9-2F95-8D7D92FCDB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C9E6A7-06CC-AB0B-EA7E-6C5AABDB448F}"/>
              </a:ext>
            </a:extLst>
          </p:cNvPr>
          <p:cNvSpPr>
            <a:spLocks noGrp="1"/>
          </p:cNvSpPr>
          <p:nvPr>
            <p:ph type="sldNum" sz="quarter" idx="12"/>
          </p:nvPr>
        </p:nvSpPr>
        <p:spPr/>
        <p:txBody>
          <a:bodyPr/>
          <a:lstStyle/>
          <a:p>
            <a:fld id="{DFA4CD3D-26C8-47FF-8D13-9B32BAAB4735}" type="slidenum">
              <a:rPr lang="en-US" smtClean="0"/>
              <a:t>20</a:t>
            </a:fld>
            <a:endParaRPr lang="en-US"/>
          </a:p>
        </p:txBody>
      </p:sp>
      <p:sp>
        <p:nvSpPr>
          <p:cNvPr id="3" name="Title 2">
            <a:extLst>
              <a:ext uri="{FF2B5EF4-FFF2-40B4-BE49-F238E27FC236}">
                <a16:creationId xmlns:a16="http://schemas.microsoft.com/office/drawing/2014/main" id="{DC2FAD7F-C94F-BBF2-27C8-C05346E096D3}"/>
              </a:ext>
            </a:extLst>
          </p:cNvPr>
          <p:cNvSpPr>
            <a:spLocks noGrp="1"/>
          </p:cNvSpPr>
          <p:nvPr>
            <p:ph type="title"/>
          </p:nvPr>
        </p:nvSpPr>
        <p:spPr>
          <a:xfrm>
            <a:off x="396429" y="466335"/>
            <a:ext cx="11398253" cy="838854"/>
          </a:xfrm>
        </p:spPr>
        <p:txBody>
          <a:bodyPr>
            <a:normAutofit/>
          </a:bodyPr>
          <a:lstStyle/>
          <a:p>
            <a:r>
              <a:rPr lang="en-US" sz="3600"/>
              <a:t>AI Approaches</a:t>
            </a:r>
          </a:p>
        </p:txBody>
      </p:sp>
      <p:sp>
        <p:nvSpPr>
          <p:cNvPr id="6" name="Rectangle: Rounded Corners 5">
            <a:extLst>
              <a:ext uri="{FF2B5EF4-FFF2-40B4-BE49-F238E27FC236}">
                <a16:creationId xmlns:a16="http://schemas.microsoft.com/office/drawing/2014/main" id="{C8AAB9E6-47BF-4BF0-C291-2F337E51DCF2}"/>
              </a:ext>
            </a:extLst>
          </p:cNvPr>
          <p:cNvSpPr/>
          <p:nvPr/>
        </p:nvSpPr>
        <p:spPr>
          <a:xfrm>
            <a:off x="4976547" y="1006485"/>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Understand what is distinct about the logics</a:t>
            </a:r>
          </a:p>
        </p:txBody>
      </p:sp>
      <p:sp>
        <p:nvSpPr>
          <p:cNvPr id="4" name="Arrow: Pentagon 3">
            <a:extLst>
              <a:ext uri="{FF2B5EF4-FFF2-40B4-BE49-F238E27FC236}">
                <a16:creationId xmlns:a16="http://schemas.microsoft.com/office/drawing/2014/main" id="{C68B030C-31EA-B16B-1DA7-3FEF08DF7258}"/>
              </a:ext>
            </a:extLst>
          </p:cNvPr>
          <p:cNvSpPr/>
          <p:nvPr/>
        </p:nvSpPr>
        <p:spPr>
          <a:xfrm>
            <a:off x="426903" y="1305189"/>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Text Embeddings</a:t>
            </a:r>
          </a:p>
        </p:txBody>
      </p:sp>
      <p:sp>
        <p:nvSpPr>
          <p:cNvPr id="5" name="Arrow: Pentagon 4">
            <a:extLst>
              <a:ext uri="{FF2B5EF4-FFF2-40B4-BE49-F238E27FC236}">
                <a16:creationId xmlns:a16="http://schemas.microsoft.com/office/drawing/2014/main" id="{1637F406-F65B-8071-48A2-615EB06DAB37}"/>
              </a:ext>
            </a:extLst>
          </p:cNvPr>
          <p:cNvSpPr/>
          <p:nvPr/>
        </p:nvSpPr>
        <p:spPr>
          <a:xfrm>
            <a:off x="426903" y="3149883"/>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TF-IDF Narratives</a:t>
            </a:r>
          </a:p>
        </p:txBody>
      </p:sp>
      <p:sp>
        <p:nvSpPr>
          <p:cNvPr id="14" name="Rectangle: Rounded Corners 13">
            <a:extLst>
              <a:ext uri="{FF2B5EF4-FFF2-40B4-BE49-F238E27FC236}">
                <a16:creationId xmlns:a16="http://schemas.microsoft.com/office/drawing/2014/main" id="{5B2653F1-98ED-7211-9470-EF5C46253595}"/>
              </a:ext>
            </a:extLst>
          </p:cNvPr>
          <p:cNvSpPr/>
          <p:nvPr/>
        </p:nvSpPr>
        <p:spPr>
          <a:xfrm>
            <a:off x="4976547" y="2851179"/>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Codebook refinement and further understanding of similarities and distinctions</a:t>
            </a:r>
          </a:p>
        </p:txBody>
      </p:sp>
    </p:spTree>
    <p:extLst>
      <p:ext uri="{BB962C8B-B14F-4D97-AF65-F5344CB8AC3E}">
        <p14:creationId xmlns:p14="http://schemas.microsoft.com/office/powerpoint/2010/main" val="3769152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A7B2D-21B3-69E7-E72B-5EFB73D72B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F16E1-B962-04B6-A6C6-2F78158CC0F1}"/>
              </a:ext>
            </a:extLst>
          </p:cNvPr>
          <p:cNvSpPr>
            <a:spLocks noGrp="1"/>
          </p:cNvSpPr>
          <p:nvPr>
            <p:ph type="sldNum" sz="quarter" idx="12"/>
          </p:nvPr>
        </p:nvSpPr>
        <p:spPr/>
        <p:txBody>
          <a:bodyPr/>
          <a:lstStyle/>
          <a:p>
            <a:fld id="{DFA4CD3D-26C8-47FF-8D13-9B32BAAB4735}" type="slidenum">
              <a:rPr lang="en-US" smtClean="0"/>
              <a:t>21</a:t>
            </a:fld>
            <a:endParaRPr lang="en-US"/>
          </a:p>
        </p:txBody>
      </p:sp>
      <p:sp>
        <p:nvSpPr>
          <p:cNvPr id="3" name="Title 2">
            <a:extLst>
              <a:ext uri="{FF2B5EF4-FFF2-40B4-BE49-F238E27FC236}">
                <a16:creationId xmlns:a16="http://schemas.microsoft.com/office/drawing/2014/main" id="{B8CC5D63-5203-41D6-8C93-5E2DF1A1586B}"/>
              </a:ext>
            </a:extLst>
          </p:cNvPr>
          <p:cNvSpPr>
            <a:spLocks noGrp="1"/>
          </p:cNvSpPr>
          <p:nvPr>
            <p:ph type="title"/>
          </p:nvPr>
        </p:nvSpPr>
        <p:spPr>
          <a:xfrm>
            <a:off x="396429" y="466335"/>
            <a:ext cx="11398253" cy="838854"/>
          </a:xfrm>
        </p:spPr>
        <p:txBody>
          <a:bodyPr>
            <a:normAutofit/>
          </a:bodyPr>
          <a:lstStyle/>
          <a:p>
            <a:r>
              <a:rPr lang="en-US" sz="3600"/>
              <a:t>AI Approaches</a:t>
            </a:r>
          </a:p>
        </p:txBody>
      </p:sp>
      <p:sp>
        <p:nvSpPr>
          <p:cNvPr id="6" name="Rectangle: Rounded Corners 5">
            <a:extLst>
              <a:ext uri="{FF2B5EF4-FFF2-40B4-BE49-F238E27FC236}">
                <a16:creationId xmlns:a16="http://schemas.microsoft.com/office/drawing/2014/main" id="{803B1940-0B5F-5C7A-B33D-E5BC1FF50780}"/>
              </a:ext>
            </a:extLst>
          </p:cNvPr>
          <p:cNvSpPr/>
          <p:nvPr/>
        </p:nvSpPr>
        <p:spPr>
          <a:xfrm>
            <a:off x="4976547" y="1006485"/>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Understand what is distinct about the logics</a:t>
            </a:r>
          </a:p>
        </p:txBody>
      </p:sp>
      <p:sp>
        <p:nvSpPr>
          <p:cNvPr id="4" name="Arrow: Pentagon 3">
            <a:extLst>
              <a:ext uri="{FF2B5EF4-FFF2-40B4-BE49-F238E27FC236}">
                <a16:creationId xmlns:a16="http://schemas.microsoft.com/office/drawing/2014/main" id="{49321DD9-A174-1814-4261-98A36C26F351}"/>
              </a:ext>
            </a:extLst>
          </p:cNvPr>
          <p:cNvSpPr/>
          <p:nvPr/>
        </p:nvSpPr>
        <p:spPr>
          <a:xfrm>
            <a:off x="426903" y="1305189"/>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Text Embeddings</a:t>
            </a:r>
          </a:p>
        </p:txBody>
      </p:sp>
      <p:sp>
        <p:nvSpPr>
          <p:cNvPr id="5" name="Arrow: Pentagon 4">
            <a:extLst>
              <a:ext uri="{FF2B5EF4-FFF2-40B4-BE49-F238E27FC236}">
                <a16:creationId xmlns:a16="http://schemas.microsoft.com/office/drawing/2014/main" id="{17370F58-D1A9-6638-7BF8-F8F82722C82B}"/>
              </a:ext>
            </a:extLst>
          </p:cNvPr>
          <p:cNvSpPr/>
          <p:nvPr/>
        </p:nvSpPr>
        <p:spPr>
          <a:xfrm>
            <a:off x="426903" y="3149883"/>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TF-IDF Narratives</a:t>
            </a:r>
          </a:p>
        </p:txBody>
      </p:sp>
      <p:sp>
        <p:nvSpPr>
          <p:cNvPr id="12" name="Arrow: Pentagon 11">
            <a:extLst>
              <a:ext uri="{FF2B5EF4-FFF2-40B4-BE49-F238E27FC236}">
                <a16:creationId xmlns:a16="http://schemas.microsoft.com/office/drawing/2014/main" id="{A445A11B-731A-A459-EC92-B42F317BF5CE}"/>
              </a:ext>
            </a:extLst>
          </p:cNvPr>
          <p:cNvSpPr/>
          <p:nvPr/>
        </p:nvSpPr>
        <p:spPr>
          <a:xfrm>
            <a:off x="426903" y="4994577"/>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Prompt Refinement</a:t>
            </a:r>
          </a:p>
        </p:txBody>
      </p:sp>
      <p:sp>
        <p:nvSpPr>
          <p:cNvPr id="14" name="Rectangle: Rounded Corners 13">
            <a:extLst>
              <a:ext uri="{FF2B5EF4-FFF2-40B4-BE49-F238E27FC236}">
                <a16:creationId xmlns:a16="http://schemas.microsoft.com/office/drawing/2014/main" id="{A30CEDF9-2CC1-4BBA-84B1-04B09F1793DC}"/>
              </a:ext>
            </a:extLst>
          </p:cNvPr>
          <p:cNvSpPr/>
          <p:nvPr/>
        </p:nvSpPr>
        <p:spPr>
          <a:xfrm>
            <a:off x="4976547" y="2851179"/>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Codebook refinement and further understanding of similarities and distinctions</a:t>
            </a:r>
          </a:p>
        </p:txBody>
      </p:sp>
    </p:spTree>
    <p:extLst>
      <p:ext uri="{BB962C8B-B14F-4D97-AF65-F5344CB8AC3E}">
        <p14:creationId xmlns:p14="http://schemas.microsoft.com/office/powerpoint/2010/main" val="2088687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8B625-EC2B-8915-EB54-A79BD7782D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8F4F02-F5AF-4388-4017-5D7E2ED48C2B}"/>
              </a:ext>
            </a:extLst>
          </p:cNvPr>
          <p:cNvSpPr>
            <a:spLocks noGrp="1"/>
          </p:cNvSpPr>
          <p:nvPr>
            <p:ph type="sldNum" sz="quarter" idx="12"/>
          </p:nvPr>
        </p:nvSpPr>
        <p:spPr/>
        <p:txBody>
          <a:bodyPr/>
          <a:lstStyle/>
          <a:p>
            <a:fld id="{DFA4CD3D-26C8-47FF-8D13-9B32BAAB4735}" type="slidenum">
              <a:rPr lang="en-US" smtClean="0"/>
              <a:t>22</a:t>
            </a:fld>
            <a:endParaRPr lang="en-US"/>
          </a:p>
        </p:txBody>
      </p:sp>
      <p:sp>
        <p:nvSpPr>
          <p:cNvPr id="3" name="Title 2">
            <a:extLst>
              <a:ext uri="{FF2B5EF4-FFF2-40B4-BE49-F238E27FC236}">
                <a16:creationId xmlns:a16="http://schemas.microsoft.com/office/drawing/2014/main" id="{7D5B12BB-9CC3-3CE6-EEB6-4FE3AC534D34}"/>
              </a:ext>
            </a:extLst>
          </p:cNvPr>
          <p:cNvSpPr>
            <a:spLocks noGrp="1"/>
          </p:cNvSpPr>
          <p:nvPr>
            <p:ph type="title"/>
          </p:nvPr>
        </p:nvSpPr>
        <p:spPr>
          <a:xfrm>
            <a:off x="396429" y="466335"/>
            <a:ext cx="11398253" cy="838854"/>
          </a:xfrm>
        </p:spPr>
        <p:txBody>
          <a:bodyPr>
            <a:normAutofit/>
          </a:bodyPr>
          <a:lstStyle/>
          <a:p>
            <a:r>
              <a:rPr lang="en-US" sz="3600"/>
              <a:t>AI Approaches</a:t>
            </a:r>
          </a:p>
        </p:txBody>
      </p:sp>
      <p:sp>
        <p:nvSpPr>
          <p:cNvPr id="6" name="Rectangle: Rounded Corners 5">
            <a:extLst>
              <a:ext uri="{FF2B5EF4-FFF2-40B4-BE49-F238E27FC236}">
                <a16:creationId xmlns:a16="http://schemas.microsoft.com/office/drawing/2014/main" id="{0AE57EFA-C7DD-CF5B-6BC8-DBF3D824CAF0}"/>
              </a:ext>
            </a:extLst>
          </p:cNvPr>
          <p:cNvSpPr/>
          <p:nvPr/>
        </p:nvSpPr>
        <p:spPr>
          <a:xfrm>
            <a:off x="4976547" y="1006485"/>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Understand what is distinct about the logics</a:t>
            </a:r>
          </a:p>
        </p:txBody>
      </p:sp>
      <p:sp>
        <p:nvSpPr>
          <p:cNvPr id="4" name="Arrow: Pentagon 3">
            <a:extLst>
              <a:ext uri="{FF2B5EF4-FFF2-40B4-BE49-F238E27FC236}">
                <a16:creationId xmlns:a16="http://schemas.microsoft.com/office/drawing/2014/main" id="{F19A77CE-2D48-93CC-B7E7-7DB3DA32580D}"/>
              </a:ext>
            </a:extLst>
          </p:cNvPr>
          <p:cNvSpPr/>
          <p:nvPr/>
        </p:nvSpPr>
        <p:spPr>
          <a:xfrm>
            <a:off x="426903" y="1305189"/>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Text Embeddings</a:t>
            </a:r>
          </a:p>
        </p:txBody>
      </p:sp>
      <p:sp>
        <p:nvSpPr>
          <p:cNvPr id="5" name="Arrow: Pentagon 4">
            <a:extLst>
              <a:ext uri="{FF2B5EF4-FFF2-40B4-BE49-F238E27FC236}">
                <a16:creationId xmlns:a16="http://schemas.microsoft.com/office/drawing/2014/main" id="{060D4C19-922B-3184-14B0-A0602A524A6F}"/>
              </a:ext>
            </a:extLst>
          </p:cNvPr>
          <p:cNvSpPr/>
          <p:nvPr/>
        </p:nvSpPr>
        <p:spPr>
          <a:xfrm>
            <a:off x="426903" y="3149883"/>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TF-IDF Narratives</a:t>
            </a:r>
          </a:p>
        </p:txBody>
      </p:sp>
      <p:sp>
        <p:nvSpPr>
          <p:cNvPr id="12" name="Arrow: Pentagon 11">
            <a:extLst>
              <a:ext uri="{FF2B5EF4-FFF2-40B4-BE49-F238E27FC236}">
                <a16:creationId xmlns:a16="http://schemas.microsoft.com/office/drawing/2014/main" id="{EE5421D6-6AF0-2032-66B3-60A92AC23241}"/>
              </a:ext>
            </a:extLst>
          </p:cNvPr>
          <p:cNvSpPr/>
          <p:nvPr/>
        </p:nvSpPr>
        <p:spPr>
          <a:xfrm>
            <a:off x="426903" y="4994577"/>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Prompt Refinement</a:t>
            </a:r>
          </a:p>
        </p:txBody>
      </p:sp>
      <p:sp>
        <p:nvSpPr>
          <p:cNvPr id="14" name="Rectangle: Rounded Corners 13">
            <a:extLst>
              <a:ext uri="{FF2B5EF4-FFF2-40B4-BE49-F238E27FC236}">
                <a16:creationId xmlns:a16="http://schemas.microsoft.com/office/drawing/2014/main" id="{7AFD4A0E-1023-25C5-3D28-695090C03DED}"/>
              </a:ext>
            </a:extLst>
          </p:cNvPr>
          <p:cNvSpPr/>
          <p:nvPr/>
        </p:nvSpPr>
        <p:spPr>
          <a:xfrm>
            <a:off x="4976547" y="2851179"/>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Codebook refinement and further understanding of similarities and distinctions</a:t>
            </a:r>
          </a:p>
        </p:txBody>
      </p:sp>
      <p:sp>
        <p:nvSpPr>
          <p:cNvPr id="15" name="Rectangle: Rounded Corners 14">
            <a:extLst>
              <a:ext uri="{FF2B5EF4-FFF2-40B4-BE49-F238E27FC236}">
                <a16:creationId xmlns:a16="http://schemas.microsoft.com/office/drawing/2014/main" id="{74DFFAC2-F372-2501-6307-EE89796E7E78}"/>
              </a:ext>
            </a:extLst>
          </p:cNvPr>
          <p:cNvSpPr/>
          <p:nvPr/>
        </p:nvSpPr>
        <p:spPr>
          <a:xfrm>
            <a:off x="4976547" y="4695873"/>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GenAI shows potential for continuous classification</a:t>
            </a:r>
          </a:p>
        </p:txBody>
      </p:sp>
    </p:spTree>
    <p:extLst>
      <p:ext uri="{BB962C8B-B14F-4D97-AF65-F5344CB8AC3E}">
        <p14:creationId xmlns:p14="http://schemas.microsoft.com/office/powerpoint/2010/main" val="2487678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2C1F9-5B36-E821-934F-92E7686E0D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B95945-3EA1-E294-D0B7-1660DFACA2BF}"/>
              </a:ext>
            </a:extLst>
          </p:cNvPr>
          <p:cNvSpPr>
            <a:spLocks noGrp="1"/>
          </p:cNvSpPr>
          <p:nvPr>
            <p:ph type="sldNum" sz="quarter" idx="12"/>
          </p:nvPr>
        </p:nvSpPr>
        <p:spPr/>
        <p:txBody>
          <a:bodyPr/>
          <a:lstStyle/>
          <a:p>
            <a:fld id="{DFA4CD3D-26C8-47FF-8D13-9B32BAAB4735}" type="slidenum">
              <a:rPr lang="en-US" smtClean="0"/>
              <a:t>23</a:t>
            </a:fld>
            <a:endParaRPr lang="en-US"/>
          </a:p>
        </p:txBody>
      </p:sp>
      <p:sp>
        <p:nvSpPr>
          <p:cNvPr id="3" name="Title 2">
            <a:extLst>
              <a:ext uri="{FF2B5EF4-FFF2-40B4-BE49-F238E27FC236}">
                <a16:creationId xmlns:a16="http://schemas.microsoft.com/office/drawing/2014/main" id="{387370E0-7F07-2473-59AE-F45536F64DCE}"/>
              </a:ext>
            </a:extLst>
          </p:cNvPr>
          <p:cNvSpPr>
            <a:spLocks noGrp="1"/>
          </p:cNvSpPr>
          <p:nvPr>
            <p:ph type="title"/>
          </p:nvPr>
        </p:nvSpPr>
        <p:spPr>
          <a:xfrm>
            <a:off x="396429" y="466335"/>
            <a:ext cx="11398253" cy="838854"/>
          </a:xfrm>
        </p:spPr>
        <p:txBody>
          <a:bodyPr>
            <a:normAutofit/>
          </a:bodyPr>
          <a:lstStyle/>
          <a:p>
            <a:r>
              <a:rPr lang="en-US" sz="3600"/>
              <a:t>AI Approaches</a:t>
            </a:r>
          </a:p>
        </p:txBody>
      </p:sp>
      <p:sp>
        <p:nvSpPr>
          <p:cNvPr id="6" name="Rectangle: Rounded Corners 5">
            <a:extLst>
              <a:ext uri="{FF2B5EF4-FFF2-40B4-BE49-F238E27FC236}">
                <a16:creationId xmlns:a16="http://schemas.microsoft.com/office/drawing/2014/main" id="{ECB5C170-94E2-0B47-02B8-DE52C11C6644}"/>
              </a:ext>
            </a:extLst>
          </p:cNvPr>
          <p:cNvSpPr/>
          <p:nvPr/>
        </p:nvSpPr>
        <p:spPr>
          <a:xfrm>
            <a:off x="4976547" y="1006485"/>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Understand what is distinct about the logics</a:t>
            </a:r>
          </a:p>
        </p:txBody>
      </p:sp>
      <p:sp>
        <p:nvSpPr>
          <p:cNvPr id="4" name="Arrow: Pentagon 3">
            <a:extLst>
              <a:ext uri="{FF2B5EF4-FFF2-40B4-BE49-F238E27FC236}">
                <a16:creationId xmlns:a16="http://schemas.microsoft.com/office/drawing/2014/main" id="{EA2DF019-74D4-1BBF-3453-81F64911ACC8}"/>
              </a:ext>
            </a:extLst>
          </p:cNvPr>
          <p:cNvSpPr/>
          <p:nvPr/>
        </p:nvSpPr>
        <p:spPr>
          <a:xfrm>
            <a:off x="426903" y="1305189"/>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Text Embeddings</a:t>
            </a:r>
          </a:p>
        </p:txBody>
      </p:sp>
      <p:sp>
        <p:nvSpPr>
          <p:cNvPr id="5" name="Arrow: Pentagon 4">
            <a:extLst>
              <a:ext uri="{FF2B5EF4-FFF2-40B4-BE49-F238E27FC236}">
                <a16:creationId xmlns:a16="http://schemas.microsoft.com/office/drawing/2014/main" id="{515B5A1A-6642-3ABC-6506-1A3749C0E87D}"/>
              </a:ext>
            </a:extLst>
          </p:cNvPr>
          <p:cNvSpPr/>
          <p:nvPr/>
        </p:nvSpPr>
        <p:spPr>
          <a:xfrm>
            <a:off x="426903" y="3149883"/>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TF-IDF Narratives</a:t>
            </a:r>
          </a:p>
        </p:txBody>
      </p:sp>
      <p:sp>
        <p:nvSpPr>
          <p:cNvPr id="12" name="Arrow: Pentagon 11">
            <a:extLst>
              <a:ext uri="{FF2B5EF4-FFF2-40B4-BE49-F238E27FC236}">
                <a16:creationId xmlns:a16="http://schemas.microsoft.com/office/drawing/2014/main" id="{1CEDB027-35B8-4F18-7682-DE4807589FE2}"/>
              </a:ext>
            </a:extLst>
          </p:cNvPr>
          <p:cNvSpPr/>
          <p:nvPr/>
        </p:nvSpPr>
        <p:spPr>
          <a:xfrm>
            <a:off x="426903" y="4994577"/>
            <a:ext cx="4404870" cy="1005840"/>
          </a:xfrm>
          <a:prstGeom prst="homePlate">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Prompt Refinement</a:t>
            </a:r>
          </a:p>
        </p:txBody>
      </p:sp>
      <p:sp>
        <p:nvSpPr>
          <p:cNvPr id="14" name="Rectangle: Rounded Corners 13">
            <a:extLst>
              <a:ext uri="{FF2B5EF4-FFF2-40B4-BE49-F238E27FC236}">
                <a16:creationId xmlns:a16="http://schemas.microsoft.com/office/drawing/2014/main" id="{0C907DA7-C50C-EA56-E773-06C0B2542BBB}"/>
              </a:ext>
            </a:extLst>
          </p:cNvPr>
          <p:cNvSpPr/>
          <p:nvPr/>
        </p:nvSpPr>
        <p:spPr>
          <a:xfrm>
            <a:off x="4976547" y="2851179"/>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Codebook refinement and further understanding of similarities and distinctions</a:t>
            </a:r>
          </a:p>
        </p:txBody>
      </p:sp>
      <p:sp>
        <p:nvSpPr>
          <p:cNvPr id="15" name="Rectangle: Rounded Corners 14">
            <a:extLst>
              <a:ext uri="{FF2B5EF4-FFF2-40B4-BE49-F238E27FC236}">
                <a16:creationId xmlns:a16="http://schemas.microsoft.com/office/drawing/2014/main" id="{4287BE1A-4E2D-F58B-2815-2162BFCCE873}"/>
              </a:ext>
            </a:extLst>
          </p:cNvPr>
          <p:cNvSpPr/>
          <p:nvPr/>
        </p:nvSpPr>
        <p:spPr>
          <a:xfrm>
            <a:off x="4976547" y="4695873"/>
            <a:ext cx="3758184" cy="1603248"/>
          </a:xfrm>
          <a:prstGeom prst="roundRect">
            <a:avLst/>
          </a:prstGeom>
          <a:solidFill>
            <a:schemeClr val="tx1">
              <a:lumMod val="10000"/>
              <a:lumOff val="9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GenAI shows potential for continuous classification</a:t>
            </a:r>
          </a:p>
        </p:txBody>
      </p:sp>
      <p:grpSp>
        <p:nvGrpSpPr>
          <p:cNvPr id="45" name="Group 44">
            <a:extLst>
              <a:ext uri="{FF2B5EF4-FFF2-40B4-BE49-F238E27FC236}">
                <a16:creationId xmlns:a16="http://schemas.microsoft.com/office/drawing/2014/main" id="{B9A5EC66-D6DA-3B8D-A62D-9A8EF26424A5}"/>
              </a:ext>
            </a:extLst>
          </p:cNvPr>
          <p:cNvGrpSpPr/>
          <p:nvPr/>
        </p:nvGrpSpPr>
        <p:grpSpPr>
          <a:xfrm>
            <a:off x="9024862" y="1595528"/>
            <a:ext cx="2670489" cy="4114549"/>
            <a:chOff x="9157961" y="1741461"/>
            <a:chExt cx="2670489" cy="4114549"/>
          </a:xfrm>
        </p:grpSpPr>
        <p:pic>
          <p:nvPicPr>
            <p:cNvPr id="17" name="Graphic 16" descr="Female Profile with solid fill">
              <a:extLst>
                <a:ext uri="{FF2B5EF4-FFF2-40B4-BE49-F238E27FC236}">
                  <a16:creationId xmlns:a16="http://schemas.microsoft.com/office/drawing/2014/main" id="{C46DFD46-DDC8-1939-67B1-148CDA5206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82118" y="1741461"/>
              <a:ext cx="1175685" cy="1175685"/>
            </a:xfrm>
            <a:prstGeom prst="rect">
              <a:avLst/>
            </a:prstGeom>
          </p:spPr>
        </p:pic>
        <p:pic>
          <p:nvPicPr>
            <p:cNvPr id="19" name="Graphic 18" descr="Male profile with solid fill">
              <a:extLst>
                <a:ext uri="{FF2B5EF4-FFF2-40B4-BE49-F238E27FC236}">
                  <a16:creationId xmlns:a16="http://schemas.microsoft.com/office/drawing/2014/main" id="{A640C7E2-7EAE-5519-A27C-5DE45F8AE2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97990" y="1859578"/>
              <a:ext cx="1175685" cy="1175685"/>
            </a:xfrm>
            <a:prstGeom prst="rect">
              <a:avLst/>
            </a:prstGeom>
          </p:spPr>
        </p:pic>
        <p:pic>
          <p:nvPicPr>
            <p:cNvPr id="23" name="Graphic 22" descr="Cloud outline">
              <a:extLst>
                <a:ext uri="{FF2B5EF4-FFF2-40B4-BE49-F238E27FC236}">
                  <a16:creationId xmlns:a16="http://schemas.microsoft.com/office/drawing/2014/main" id="{0E8FCB1A-C581-8937-ACB6-0C5328A58D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95926" y="3609160"/>
              <a:ext cx="2632524" cy="2246850"/>
            </a:xfrm>
            <a:prstGeom prst="rect">
              <a:avLst/>
            </a:prstGeom>
          </p:spPr>
        </p:pic>
        <p:grpSp>
          <p:nvGrpSpPr>
            <p:cNvPr id="33" name="Group 32">
              <a:extLst>
                <a:ext uri="{FF2B5EF4-FFF2-40B4-BE49-F238E27FC236}">
                  <a16:creationId xmlns:a16="http://schemas.microsoft.com/office/drawing/2014/main" id="{6D7EC3B2-D339-4481-D5E7-84EF437903AE}"/>
                </a:ext>
              </a:extLst>
            </p:cNvPr>
            <p:cNvGrpSpPr/>
            <p:nvPr/>
          </p:nvGrpSpPr>
          <p:grpSpPr>
            <a:xfrm>
              <a:off x="10054988" y="4417753"/>
              <a:ext cx="914400" cy="914400"/>
              <a:chOff x="9905919" y="4753325"/>
              <a:chExt cx="914400" cy="914400"/>
            </a:xfrm>
          </p:grpSpPr>
          <p:pic>
            <p:nvPicPr>
              <p:cNvPr id="25" name="Graphic 24" descr="Connections with solid fill">
                <a:extLst>
                  <a:ext uri="{FF2B5EF4-FFF2-40B4-BE49-F238E27FC236}">
                    <a16:creationId xmlns:a16="http://schemas.microsoft.com/office/drawing/2014/main" id="{05CFF2D7-D545-259F-D658-AC2B87F1EDA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9738745" flipH="1">
                <a:off x="9905919" y="4753325"/>
                <a:ext cx="914400" cy="914400"/>
              </a:xfrm>
              <a:prstGeom prst="rect">
                <a:avLst/>
              </a:prstGeom>
            </p:spPr>
          </p:pic>
          <p:grpSp>
            <p:nvGrpSpPr>
              <p:cNvPr id="32" name="Group 31">
                <a:extLst>
                  <a:ext uri="{FF2B5EF4-FFF2-40B4-BE49-F238E27FC236}">
                    <a16:creationId xmlns:a16="http://schemas.microsoft.com/office/drawing/2014/main" id="{A6E64731-C4AE-AF47-2E13-F27D1BCDCCCE}"/>
                  </a:ext>
                </a:extLst>
              </p:cNvPr>
              <p:cNvGrpSpPr/>
              <p:nvPr/>
            </p:nvGrpSpPr>
            <p:grpSpPr>
              <a:xfrm>
                <a:off x="9948333" y="4876712"/>
                <a:ext cx="822061" cy="568744"/>
                <a:chOff x="9948333" y="4876712"/>
                <a:chExt cx="822061" cy="568744"/>
              </a:xfrm>
            </p:grpSpPr>
            <p:sp>
              <p:nvSpPr>
                <p:cNvPr id="26" name="Flowchart: Connector 25">
                  <a:extLst>
                    <a:ext uri="{FF2B5EF4-FFF2-40B4-BE49-F238E27FC236}">
                      <a16:creationId xmlns:a16="http://schemas.microsoft.com/office/drawing/2014/main" id="{484DC9F1-1093-61DE-00FD-FBB80D0BBDE9}"/>
                    </a:ext>
                  </a:extLst>
                </p:cNvPr>
                <p:cNvSpPr/>
                <p:nvPr/>
              </p:nvSpPr>
              <p:spPr>
                <a:xfrm>
                  <a:off x="9948333" y="5037667"/>
                  <a:ext cx="181506" cy="169333"/>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a:extLst>
                    <a:ext uri="{FF2B5EF4-FFF2-40B4-BE49-F238E27FC236}">
                      <a16:creationId xmlns:a16="http://schemas.microsoft.com/office/drawing/2014/main" id="{D7E43B2C-3865-98BA-08A4-83F7FA4620F3}"/>
                    </a:ext>
                  </a:extLst>
                </p:cNvPr>
                <p:cNvSpPr/>
                <p:nvPr/>
              </p:nvSpPr>
              <p:spPr>
                <a:xfrm>
                  <a:off x="10283794" y="5207000"/>
                  <a:ext cx="228394" cy="238456"/>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a:extLst>
                    <a:ext uri="{FF2B5EF4-FFF2-40B4-BE49-F238E27FC236}">
                      <a16:creationId xmlns:a16="http://schemas.microsoft.com/office/drawing/2014/main" id="{7F699304-EB81-E99B-9CF4-5DDDCC63ED2D}"/>
                    </a:ext>
                  </a:extLst>
                </p:cNvPr>
                <p:cNvSpPr/>
                <p:nvPr/>
              </p:nvSpPr>
              <p:spPr>
                <a:xfrm>
                  <a:off x="10025143" y="5326228"/>
                  <a:ext cx="104696" cy="119228"/>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lowchart: Connector 28">
                  <a:extLst>
                    <a:ext uri="{FF2B5EF4-FFF2-40B4-BE49-F238E27FC236}">
                      <a16:creationId xmlns:a16="http://schemas.microsoft.com/office/drawing/2014/main" id="{C0D13AFD-8B56-D4F5-1228-E38D872CD656}"/>
                    </a:ext>
                  </a:extLst>
                </p:cNvPr>
                <p:cNvSpPr/>
                <p:nvPr/>
              </p:nvSpPr>
              <p:spPr>
                <a:xfrm>
                  <a:off x="10201275" y="4876712"/>
                  <a:ext cx="119063" cy="138201"/>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a:extLst>
                    <a:ext uri="{FF2B5EF4-FFF2-40B4-BE49-F238E27FC236}">
                      <a16:creationId xmlns:a16="http://schemas.microsoft.com/office/drawing/2014/main" id="{8E55A3F0-D8C1-8361-4ADC-8F2AF5829A27}"/>
                    </a:ext>
                  </a:extLst>
                </p:cNvPr>
                <p:cNvSpPr/>
                <p:nvPr/>
              </p:nvSpPr>
              <p:spPr>
                <a:xfrm>
                  <a:off x="10471598" y="4941623"/>
                  <a:ext cx="203546" cy="169333"/>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a:extLst>
                    <a:ext uri="{FF2B5EF4-FFF2-40B4-BE49-F238E27FC236}">
                      <a16:creationId xmlns:a16="http://schemas.microsoft.com/office/drawing/2014/main" id="{3E8E151F-9301-961B-DEA3-77AEEBC20D39}"/>
                    </a:ext>
                  </a:extLst>
                </p:cNvPr>
                <p:cNvSpPr/>
                <p:nvPr/>
              </p:nvSpPr>
              <p:spPr>
                <a:xfrm>
                  <a:off x="10657803" y="5288755"/>
                  <a:ext cx="112591" cy="10477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4" name="TextBox 33">
              <a:extLst>
                <a:ext uri="{FF2B5EF4-FFF2-40B4-BE49-F238E27FC236}">
                  <a16:creationId xmlns:a16="http://schemas.microsoft.com/office/drawing/2014/main" id="{4F336257-3774-7011-14C7-947AA8384D82}"/>
                </a:ext>
              </a:extLst>
            </p:cNvPr>
            <p:cNvSpPr txBox="1"/>
            <p:nvPr/>
          </p:nvSpPr>
          <p:spPr>
            <a:xfrm>
              <a:off x="9519766" y="2852453"/>
              <a:ext cx="2054587" cy="461665"/>
            </a:xfrm>
            <a:prstGeom prst="rect">
              <a:avLst/>
            </a:prstGeom>
            <a:noFill/>
          </p:spPr>
          <p:txBody>
            <a:bodyPr wrap="square" rtlCol="0">
              <a:spAutoFit/>
            </a:bodyPr>
            <a:lstStyle/>
            <a:p>
              <a:r>
                <a:rPr lang="en-US" sz="2400" b="1"/>
                <a:t>Human Coders</a:t>
              </a:r>
            </a:p>
          </p:txBody>
        </p:sp>
        <p:sp>
          <p:nvSpPr>
            <p:cNvPr id="35" name="TextBox 34">
              <a:extLst>
                <a:ext uri="{FF2B5EF4-FFF2-40B4-BE49-F238E27FC236}">
                  <a16:creationId xmlns:a16="http://schemas.microsoft.com/office/drawing/2014/main" id="{02DFFC6E-E73D-C065-FAB8-B21BEABEDFA7}"/>
                </a:ext>
              </a:extLst>
            </p:cNvPr>
            <p:cNvSpPr txBox="1"/>
            <p:nvPr/>
          </p:nvSpPr>
          <p:spPr>
            <a:xfrm>
              <a:off x="9992245" y="5313739"/>
              <a:ext cx="1160297" cy="461665"/>
            </a:xfrm>
            <a:prstGeom prst="rect">
              <a:avLst/>
            </a:prstGeom>
            <a:noFill/>
          </p:spPr>
          <p:txBody>
            <a:bodyPr wrap="square" rtlCol="0">
              <a:spAutoFit/>
            </a:bodyPr>
            <a:lstStyle/>
            <a:p>
              <a:r>
                <a:rPr lang="en-US" sz="2400" b="1"/>
                <a:t>GenAI</a:t>
              </a:r>
            </a:p>
          </p:txBody>
        </p:sp>
        <p:sp>
          <p:nvSpPr>
            <p:cNvPr id="36" name="Arrow: Left-Right 35">
              <a:extLst>
                <a:ext uri="{FF2B5EF4-FFF2-40B4-BE49-F238E27FC236}">
                  <a16:creationId xmlns:a16="http://schemas.microsoft.com/office/drawing/2014/main" id="{21FD5B3D-07C7-99F1-0AF8-1762E5C80718}"/>
                </a:ext>
              </a:extLst>
            </p:cNvPr>
            <p:cNvSpPr/>
            <p:nvPr/>
          </p:nvSpPr>
          <p:spPr>
            <a:xfrm>
              <a:off x="10350344" y="2163778"/>
              <a:ext cx="378012" cy="192757"/>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c 38" descr="Line arrow: Counter-clockwise curve with solid fill">
              <a:extLst>
                <a:ext uri="{FF2B5EF4-FFF2-40B4-BE49-F238E27FC236}">
                  <a16:creationId xmlns:a16="http://schemas.microsoft.com/office/drawing/2014/main" id="{CE0A2AC1-8DF8-EC65-D097-9A535D63C05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a:off x="9157961" y="2809291"/>
              <a:ext cx="914400" cy="1531283"/>
            </a:xfrm>
            <a:prstGeom prst="rect">
              <a:avLst/>
            </a:prstGeom>
          </p:spPr>
        </p:pic>
      </p:grpSp>
      <p:pic>
        <p:nvPicPr>
          <p:cNvPr id="40" name="Graphic 39" descr="Line arrow: Counter-clockwise curve with solid fill">
            <a:extLst>
              <a:ext uri="{FF2B5EF4-FFF2-40B4-BE49-F238E27FC236}">
                <a16:creationId xmlns:a16="http://schemas.microsoft.com/office/drawing/2014/main" id="{C686AB05-253F-0905-8D62-11B52195B63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930498">
            <a:off x="10979031" y="2746573"/>
            <a:ext cx="914400" cy="1520584"/>
          </a:xfrm>
          <a:prstGeom prst="rect">
            <a:avLst/>
          </a:prstGeom>
        </p:spPr>
      </p:pic>
    </p:spTree>
    <p:extLst>
      <p:ext uri="{BB962C8B-B14F-4D97-AF65-F5344CB8AC3E}">
        <p14:creationId xmlns:p14="http://schemas.microsoft.com/office/powerpoint/2010/main" val="1526640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E0724-B893-9AE1-B1C2-C0A2D03DC5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17A5D1-21D9-FE68-80F0-DE32BC760FFA}"/>
              </a:ext>
            </a:extLst>
          </p:cNvPr>
          <p:cNvSpPr>
            <a:spLocks noGrp="1"/>
          </p:cNvSpPr>
          <p:nvPr>
            <p:ph type="sldNum" sz="quarter" idx="12"/>
          </p:nvPr>
        </p:nvSpPr>
        <p:spPr/>
        <p:txBody>
          <a:bodyPr/>
          <a:lstStyle/>
          <a:p>
            <a:fld id="{DFA4CD3D-26C8-47FF-8D13-9B32BAAB4735}" type="slidenum">
              <a:rPr lang="en-US" smtClean="0"/>
              <a:t>24</a:t>
            </a:fld>
            <a:endParaRPr lang="en-US"/>
          </a:p>
        </p:txBody>
      </p:sp>
      <p:sp>
        <p:nvSpPr>
          <p:cNvPr id="3" name="Title 2">
            <a:extLst>
              <a:ext uri="{FF2B5EF4-FFF2-40B4-BE49-F238E27FC236}">
                <a16:creationId xmlns:a16="http://schemas.microsoft.com/office/drawing/2014/main" id="{AAD19F4D-7562-C30D-68CA-D3AC4F58C713}"/>
              </a:ext>
            </a:extLst>
          </p:cNvPr>
          <p:cNvSpPr>
            <a:spLocks noGrp="1"/>
          </p:cNvSpPr>
          <p:nvPr>
            <p:ph type="title"/>
          </p:nvPr>
        </p:nvSpPr>
        <p:spPr>
          <a:xfrm>
            <a:off x="396429" y="466335"/>
            <a:ext cx="11398253" cy="838854"/>
          </a:xfrm>
        </p:spPr>
        <p:txBody>
          <a:bodyPr>
            <a:normAutofit/>
          </a:bodyPr>
          <a:lstStyle/>
          <a:p>
            <a:r>
              <a:rPr lang="en-US" sz="3600"/>
              <a:t>Text Embeddings</a:t>
            </a:r>
          </a:p>
        </p:txBody>
      </p:sp>
      <p:sp>
        <p:nvSpPr>
          <p:cNvPr id="5" name="Content Placeholder 4">
            <a:extLst>
              <a:ext uri="{FF2B5EF4-FFF2-40B4-BE49-F238E27FC236}">
                <a16:creationId xmlns:a16="http://schemas.microsoft.com/office/drawing/2014/main" id="{2FC589EA-A9A8-FA94-C5D9-58565E86067F}"/>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r>
              <a:rPr lang="en-US"/>
              <a:t>Text Embeddings</a:t>
            </a:r>
          </a:p>
          <a:p>
            <a:pPr marL="1028700" lvl="1" indent="-342900"/>
            <a:r>
              <a:rPr lang="en-US"/>
              <a:t>Vector representations of words in a text</a:t>
            </a:r>
          </a:p>
          <a:p>
            <a:pPr marL="342900" indent="-342900">
              <a:buFont typeface="Arial" panose="020B0604020202020204" pitchFamily="34" charset="0"/>
              <a:buChar char="•"/>
            </a:pPr>
            <a:r>
              <a:rPr lang="en-US"/>
              <a:t>Principal Components Analysis (PCA)</a:t>
            </a:r>
          </a:p>
          <a:p>
            <a:pPr marL="342900" indent="-342900">
              <a:buFont typeface="Arial" panose="020B0604020202020204" pitchFamily="34" charset="0"/>
              <a:buChar char="•"/>
            </a:pPr>
            <a:r>
              <a:rPr lang="en-US"/>
              <a:t>Uniform Manifold Approximation and Projection (UMAP)</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3193177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4E731-295F-C00A-89FC-235746BF96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6F6E9-BE2E-4A53-5404-0A0F2DA48E78}"/>
              </a:ext>
            </a:extLst>
          </p:cNvPr>
          <p:cNvSpPr>
            <a:spLocks noGrp="1"/>
          </p:cNvSpPr>
          <p:nvPr>
            <p:ph type="sldNum" sz="quarter" idx="12"/>
          </p:nvPr>
        </p:nvSpPr>
        <p:spPr/>
        <p:txBody>
          <a:bodyPr/>
          <a:lstStyle/>
          <a:p>
            <a:fld id="{DFA4CD3D-26C8-47FF-8D13-9B32BAAB4735}" type="slidenum">
              <a:rPr lang="en-US" smtClean="0"/>
              <a:t>25</a:t>
            </a:fld>
            <a:endParaRPr lang="en-US"/>
          </a:p>
        </p:txBody>
      </p:sp>
      <p:sp>
        <p:nvSpPr>
          <p:cNvPr id="3" name="Title 2">
            <a:extLst>
              <a:ext uri="{FF2B5EF4-FFF2-40B4-BE49-F238E27FC236}">
                <a16:creationId xmlns:a16="http://schemas.microsoft.com/office/drawing/2014/main" id="{8185D4ED-48AC-7E8F-9286-C99C252C71E8}"/>
              </a:ext>
            </a:extLst>
          </p:cNvPr>
          <p:cNvSpPr>
            <a:spLocks noGrp="1"/>
          </p:cNvSpPr>
          <p:nvPr>
            <p:ph type="title"/>
          </p:nvPr>
        </p:nvSpPr>
        <p:spPr>
          <a:xfrm>
            <a:off x="396429" y="466335"/>
            <a:ext cx="11398253" cy="838854"/>
          </a:xfrm>
        </p:spPr>
        <p:txBody>
          <a:bodyPr>
            <a:normAutofit/>
          </a:bodyPr>
          <a:lstStyle/>
          <a:p>
            <a:r>
              <a:rPr lang="en-US" sz="3600"/>
              <a:t>Text Embeddings</a:t>
            </a:r>
          </a:p>
        </p:txBody>
      </p:sp>
      <p:pic>
        <p:nvPicPr>
          <p:cNvPr id="10" name="Picture 9" descr="A diagram of red and blue dots&#10;&#10;AI-generated content may be incorrect.">
            <a:extLst>
              <a:ext uri="{FF2B5EF4-FFF2-40B4-BE49-F238E27FC236}">
                <a16:creationId xmlns:a16="http://schemas.microsoft.com/office/drawing/2014/main" id="{5EFE2952-EBBF-3DCE-0B24-3E5C51807E3B}"/>
              </a:ext>
            </a:extLst>
          </p:cNvPr>
          <p:cNvPicPr>
            <a:picLocks noChangeAspect="1"/>
          </p:cNvPicPr>
          <p:nvPr/>
        </p:nvPicPr>
        <p:blipFill>
          <a:blip r:embed="rId3">
            <a:extLst>
              <a:ext uri="{28A0092B-C50C-407E-A947-70E740481C1C}">
                <a14:useLocalDpi xmlns:a14="http://schemas.microsoft.com/office/drawing/2010/main" val="0"/>
              </a:ext>
            </a:extLst>
          </a:blip>
          <a:srcRect l="4056" t="9854" r="1365" b="3714"/>
          <a:stretch>
            <a:fillRect/>
          </a:stretch>
        </p:blipFill>
        <p:spPr>
          <a:xfrm>
            <a:off x="396429" y="1026164"/>
            <a:ext cx="8251634" cy="5278637"/>
          </a:xfrm>
          <a:prstGeom prst="rect">
            <a:avLst/>
          </a:prstGeom>
        </p:spPr>
      </p:pic>
      <p:sp>
        <p:nvSpPr>
          <p:cNvPr id="11" name="TextBox 10">
            <a:extLst>
              <a:ext uri="{FF2B5EF4-FFF2-40B4-BE49-F238E27FC236}">
                <a16:creationId xmlns:a16="http://schemas.microsoft.com/office/drawing/2014/main" id="{83BB0190-02FE-14C7-CA09-8A502D54E105}"/>
              </a:ext>
            </a:extLst>
          </p:cNvPr>
          <p:cNvSpPr txBox="1"/>
          <p:nvPr/>
        </p:nvSpPr>
        <p:spPr>
          <a:xfrm rot="16200000">
            <a:off x="-769914" y="2904910"/>
            <a:ext cx="2702020" cy="461665"/>
          </a:xfrm>
          <a:prstGeom prst="rect">
            <a:avLst/>
          </a:prstGeom>
          <a:solidFill>
            <a:schemeClr val="bg1"/>
          </a:solidFill>
        </p:spPr>
        <p:txBody>
          <a:bodyPr wrap="square" rtlCol="0">
            <a:spAutoFit/>
          </a:bodyPr>
          <a:lstStyle/>
          <a:p>
            <a:r>
              <a:rPr lang="en-US" sz="2400"/>
              <a:t>PCA Component 2</a:t>
            </a:r>
          </a:p>
        </p:txBody>
      </p:sp>
      <p:sp>
        <p:nvSpPr>
          <p:cNvPr id="12" name="TextBox 11">
            <a:extLst>
              <a:ext uri="{FF2B5EF4-FFF2-40B4-BE49-F238E27FC236}">
                <a16:creationId xmlns:a16="http://schemas.microsoft.com/office/drawing/2014/main" id="{9CDC338D-5040-FF2A-44FC-D89C971B1ED2}"/>
              </a:ext>
            </a:extLst>
          </p:cNvPr>
          <p:cNvSpPr txBox="1"/>
          <p:nvPr/>
        </p:nvSpPr>
        <p:spPr>
          <a:xfrm>
            <a:off x="3402069" y="6073968"/>
            <a:ext cx="2588090" cy="461665"/>
          </a:xfrm>
          <a:prstGeom prst="rect">
            <a:avLst/>
          </a:prstGeom>
          <a:solidFill>
            <a:schemeClr val="bg1"/>
          </a:solidFill>
        </p:spPr>
        <p:txBody>
          <a:bodyPr wrap="square" rtlCol="0">
            <a:spAutoFit/>
          </a:bodyPr>
          <a:lstStyle/>
          <a:p>
            <a:r>
              <a:rPr lang="en-US" sz="2400"/>
              <a:t>PCA Component 1</a:t>
            </a:r>
          </a:p>
        </p:txBody>
      </p:sp>
      <p:sp>
        <p:nvSpPr>
          <p:cNvPr id="15" name="Rectangle 14">
            <a:extLst>
              <a:ext uri="{FF2B5EF4-FFF2-40B4-BE49-F238E27FC236}">
                <a16:creationId xmlns:a16="http://schemas.microsoft.com/office/drawing/2014/main" id="{824857DC-C15C-EC2A-622F-A6982631C11C}"/>
              </a:ext>
            </a:extLst>
          </p:cNvPr>
          <p:cNvSpPr/>
          <p:nvPr/>
        </p:nvSpPr>
        <p:spPr>
          <a:xfrm>
            <a:off x="1123720" y="1026164"/>
            <a:ext cx="6896560" cy="279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A23AEBC-ACEE-9F43-EC96-4AD2FEDC60E0}"/>
              </a:ext>
            </a:extLst>
          </p:cNvPr>
          <p:cNvSpPr/>
          <p:nvPr/>
        </p:nvSpPr>
        <p:spPr>
          <a:xfrm rot="5400000">
            <a:off x="4325826" y="3523968"/>
            <a:ext cx="6896560" cy="279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F2852BC-C296-D987-38AC-AFF4729FC7B6}"/>
              </a:ext>
            </a:extLst>
          </p:cNvPr>
          <p:cNvSpPr/>
          <p:nvPr/>
        </p:nvSpPr>
        <p:spPr>
          <a:xfrm>
            <a:off x="6858452" y="851517"/>
            <a:ext cx="1972198" cy="12320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B00F025-3FDB-E017-EED8-567D184D323D}"/>
              </a:ext>
            </a:extLst>
          </p:cNvPr>
          <p:cNvSpPr txBox="1"/>
          <p:nvPr/>
        </p:nvSpPr>
        <p:spPr>
          <a:xfrm>
            <a:off x="8137709" y="2213905"/>
            <a:ext cx="4026776" cy="430887"/>
          </a:xfrm>
          <a:prstGeom prst="rect">
            <a:avLst/>
          </a:prstGeom>
          <a:noFill/>
        </p:spPr>
        <p:txBody>
          <a:bodyPr wrap="square" rtlCol="0">
            <a:spAutoFit/>
          </a:bodyPr>
          <a:lstStyle/>
          <a:p>
            <a:r>
              <a:rPr lang="en-US" sz="2200"/>
              <a:t>Public-Private Governance</a:t>
            </a:r>
          </a:p>
        </p:txBody>
      </p:sp>
      <p:sp>
        <p:nvSpPr>
          <p:cNvPr id="25" name="TextBox 24">
            <a:extLst>
              <a:ext uri="{FF2B5EF4-FFF2-40B4-BE49-F238E27FC236}">
                <a16:creationId xmlns:a16="http://schemas.microsoft.com/office/drawing/2014/main" id="{7B39387B-91EA-3E7F-E9F3-912EBEC40B68}"/>
              </a:ext>
            </a:extLst>
          </p:cNvPr>
          <p:cNvSpPr txBox="1"/>
          <p:nvPr/>
        </p:nvSpPr>
        <p:spPr>
          <a:xfrm>
            <a:off x="8137709" y="2774194"/>
            <a:ext cx="4026776" cy="430887"/>
          </a:xfrm>
          <a:prstGeom prst="rect">
            <a:avLst/>
          </a:prstGeom>
          <a:noFill/>
        </p:spPr>
        <p:txBody>
          <a:bodyPr wrap="square" rtlCol="0">
            <a:spAutoFit/>
          </a:bodyPr>
          <a:lstStyle/>
          <a:p>
            <a:r>
              <a:rPr lang="en-US" sz="2200"/>
              <a:t>Social Change</a:t>
            </a:r>
          </a:p>
        </p:txBody>
      </p:sp>
      <p:sp>
        <p:nvSpPr>
          <p:cNvPr id="20" name="TextBox 19">
            <a:extLst>
              <a:ext uri="{FF2B5EF4-FFF2-40B4-BE49-F238E27FC236}">
                <a16:creationId xmlns:a16="http://schemas.microsoft.com/office/drawing/2014/main" id="{71DF1603-194F-F585-C5B5-6E026DD7AC79}"/>
              </a:ext>
            </a:extLst>
          </p:cNvPr>
          <p:cNvSpPr txBox="1"/>
          <p:nvPr/>
        </p:nvSpPr>
        <p:spPr>
          <a:xfrm>
            <a:off x="8137709" y="1114250"/>
            <a:ext cx="4026776" cy="430887"/>
          </a:xfrm>
          <a:prstGeom prst="rect">
            <a:avLst/>
          </a:prstGeom>
          <a:noFill/>
        </p:spPr>
        <p:txBody>
          <a:bodyPr wrap="square" rtlCol="0">
            <a:spAutoFit/>
          </a:bodyPr>
          <a:lstStyle/>
          <a:p>
            <a:r>
              <a:rPr lang="en-US" sz="2200"/>
              <a:t>Philanthropic Community Trust</a:t>
            </a:r>
          </a:p>
        </p:txBody>
      </p:sp>
      <p:sp>
        <p:nvSpPr>
          <p:cNvPr id="23" name="TextBox 22">
            <a:extLst>
              <a:ext uri="{FF2B5EF4-FFF2-40B4-BE49-F238E27FC236}">
                <a16:creationId xmlns:a16="http://schemas.microsoft.com/office/drawing/2014/main" id="{F21E1DA1-248B-0425-3B16-72B274D707CC}"/>
              </a:ext>
            </a:extLst>
          </p:cNvPr>
          <p:cNvSpPr txBox="1"/>
          <p:nvPr/>
        </p:nvSpPr>
        <p:spPr>
          <a:xfrm>
            <a:off x="8137709" y="1686948"/>
            <a:ext cx="4026776" cy="430887"/>
          </a:xfrm>
          <a:prstGeom prst="rect">
            <a:avLst/>
          </a:prstGeom>
          <a:noFill/>
        </p:spPr>
        <p:txBody>
          <a:bodyPr wrap="square" rtlCol="0">
            <a:spAutoFit/>
          </a:bodyPr>
          <a:lstStyle/>
          <a:p>
            <a:r>
              <a:rPr lang="en-US" sz="2200"/>
              <a:t>Donor Services</a:t>
            </a:r>
          </a:p>
        </p:txBody>
      </p:sp>
      <p:grpSp>
        <p:nvGrpSpPr>
          <p:cNvPr id="22" name="Group 21">
            <a:extLst>
              <a:ext uri="{FF2B5EF4-FFF2-40B4-BE49-F238E27FC236}">
                <a16:creationId xmlns:a16="http://schemas.microsoft.com/office/drawing/2014/main" id="{8AF7939C-56B6-35EE-265F-563108F9457C}"/>
              </a:ext>
            </a:extLst>
          </p:cNvPr>
          <p:cNvGrpSpPr/>
          <p:nvPr/>
        </p:nvGrpSpPr>
        <p:grpSpPr>
          <a:xfrm>
            <a:off x="7835957" y="1194207"/>
            <a:ext cx="306049" cy="1941535"/>
            <a:chOff x="9300659" y="1135222"/>
            <a:chExt cx="306049" cy="1941535"/>
          </a:xfrm>
        </p:grpSpPr>
        <p:sp>
          <p:nvSpPr>
            <p:cNvPr id="13" name="Flowchart: Connector 12">
              <a:extLst>
                <a:ext uri="{FF2B5EF4-FFF2-40B4-BE49-F238E27FC236}">
                  <a16:creationId xmlns:a16="http://schemas.microsoft.com/office/drawing/2014/main" id="{3FEEC9AF-5CE7-22B0-9F62-1478F41AED75}"/>
                </a:ext>
              </a:extLst>
            </p:cNvPr>
            <p:cNvSpPr/>
            <p:nvPr/>
          </p:nvSpPr>
          <p:spPr>
            <a:xfrm>
              <a:off x="9309253" y="1693308"/>
              <a:ext cx="297455" cy="297456"/>
            </a:xfrm>
            <a:prstGeom prst="flowChartConnector">
              <a:avLst/>
            </a:prstGeom>
            <a:solidFill>
              <a:srgbClr val="CA002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72EA1A5-5853-7D1C-E950-CF2502AA84B4}"/>
                </a:ext>
              </a:extLst>
            </p:cNvPr>
            <p:cNvSpPr/>
            <p:nvPr/>
          </p:nvSpPr>
          <p:spPr>
            <a:xfrm>
              <a:off x="9304956" y="2221215"/>
              <a:ext cx="297455" cy="301752"/>
            </a:xfrm>
            <a:prstGeom prst="rect">
              <a:avLst/>
            </a:prstGeom>
            <a:solidFill>
              <a:srgbClr val="F4A5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D9917B0E-94BF-7046-392B-937262FBB433}"/>
                </a:ext>
              </a:extLst>
            </p:cNvPr>
            <p:cNvSpPr/>
            <p:nvPr/>
          </p:nvSpPr>
          <p:spPr>
            <a:xfrm>
              <a:off x="9300659" y="2775005"/>
              <a:ext cx="301752" cy="301752"/>
            </a:xfrm>
            <a:prstGeom prst="triangle">
              <a:avLst/>
            </a:prstGeom>
            <a:solidFill>
              <a:srgbClr val="92C5D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EE75C3C9-FBBF-686F-B66F-F8ABAFF65450}"/>
                </a:ext>
              </a:extLst>
            </p:cNvPr>
            <p:cNvSpPr/>
            <p:nvPr/>
          </p:nvSpPr>
          <p:spPr>
            <a:xfrm>
              <a:off x="9304956" y="1135222"/>
              <a:ext cx="301752" cy="301752"/>
            </a:xfrm>
            <a:prstGeom prst="diamond">
              <a:avLst/>
            </a:prstGeom>
            <a:solidFill>
              <a:srgbClr val="0571B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12638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B109A-56FA-783B-F5D0-459DEBA1A3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68999C-6119-054B-ED9A-A483E50A7EE2}"/>
              </a:ext>
            </a:extLst>
          </p:cNvPr>
          <p:cNvSpPr>
            <a:spLocks noGrp="1"/>
          </p:cNvSpPr>
          <p:nvPr>
            <p:ph type="sldNum" sz="quarter" idx="12"/>
          </p:nvPr>
        </p:nvSpPr>
        <p:spPr/>
        <p:txBody>
          <a:bodyPr/>
          <a:lstStyle/>
          <a:p>
            <a:fld id="{DFA4CD3D-26C8-47FF-8D13-9B32BAAB4735}" type="slidenum">
              <a:rPr lang="en-US" smtClean="0"/>
              <a:t>26</a:t>
            </a:fld>
            <a:endParaRPr lang="en-US"/>
          </a:p>
        </p:txBody>
      </p:sp>
      <p:sp>
        <p:nvSpPr>
          <p:cNvPr id="3" name="Title 2">
            <a:extLst>
              <a:ext uri="{FF2B5EF4-FFF2-40B4-BE49-F238E27FC236}">
                <a16:creationId xmlns:a16="http://schemas.microsoft.com/office/drawing/2014/main" id="{A3197920-D7D4-8A2F-8386-2F58F280AF03}"/>
              </a:ext>
            </a:extLst>
          </p:cNvPr>
          <p:cNvSpPr>
            <a:spLocks noGrp="1"/>
          </p:cNvSpPr>
          <p:nvPr>
            <p:ph type="title"/>
          </p:nvPr>
        </p:nvSpPr>
        <p:spPr>
          <a:xfrm>
            <a:off x="396429" y="466335"/>
            <a:ext cx="11398253" cy="838854"/>
          </a:xfrm>
        </p:spPr>
        <p:txBody>
          <a:bodyPr>
            <a:normAutofit/>
          </a:bodyPr>
          <a:lstStyle/>
          <a:p>
            <a:r>
              <a:rPr lang="en-US" sz="3600"/>
              <a:t>Text Embeddings</a:t>
            </a:r>
          </a:p>
        </p:txBody>
      </p:sp>
      <p:pic>
        <p:nvPicPr>
          <p:cNvPr id="10" name="Picture 9" descr="A diagram of red and blue dots&#10;&#10;AI-generated content may be incorrect.">
            <a:extLst>
              <a:ext uri="{FF2B5EF4-FFF2-40B4-BE49-F238E27FC236}">
                <a16:creationId xmlns:a16="http://schemas.microsoft.com/office/drawing/2014/main" id="{BF016C4D-5DED-7658-CE47-9417F8C63EE1}"/>
              </a:ext>
            </a:extLst>
          </p:cNvPr>
          <p:cNvPicPr>
            <a:picLocks noChangeAspect="1"/>
          </p:cNvPicPr>
          <p:nvPr/>
        </p:nvPicPr>
        <p:blipFill>
          <a:blip r:embed="rId3">
            <a:extLst>
              <a:ext uri="{28A0092B-C50C-407E-A947-70E740481C1C}">
                <a14:useLocalDpi xmlns:a14="http://schemas.microsoft.com/office/drawing/2010/main" val="0"/>
              </a:ext>
            </a:extLst>
          </a:blip>
          <a:srcRect l="4056" t="9854" r="1365" b="3714"/>
          <a:stretch>
            <a:fillRect/>
          </a:stretch>
        </p:blipFill>
        <p:spPr>
          <a:xfrm>
            <a:off x="396429" y="1026164"/>
            <a:ext cx="8251634" cy="5278637"/>
          </a:xfrm>
          <a:prstGeom prst="rect">
            <a:avLst/>
          </a:prstGeom>
        </p:spPr>
      </p:pic>
      <p:sp>
        <p:nvSpPr>
          <p:cNvPr id="11" name="TextBox 10">
            <a:extLst>
              <a:ext uri="{FF2B5EF4-FFF2-40B4-BE49-F238E27FC236}">
                <a16:creationId xmlns:a16="http://schemas.microsoft.com/office/drawing/2014/main" id="{5DCB4BEE-46C0-FEFF-649E-BC3C9E7AF06A}"/>
              </a:ext>
            </a:extLst>
          </p:cNvPr>
          <p:cNvSpPr txBox="1"/>
          <p:nvPr/>
        </p:nvSpPr>
        <p:spPr>
          <a:xfrm rot="16200000">
            <a:off x="-769914" y="2904910"/>
            <a:ext cx="2702020" cy="461665"/>
          </a:xfrm>
          <a:prstGeom prst="rect">
            <a:avLst/>
          </a:prstGeom>
          <a:solidFill>
            <a:schemeClr val="bg1"/>
          </a:solidFill>
        </p:spPr>
        <p:txBody>
          <a:bodyPr wrap="square" rtlCol="0">
            <a:spAutoFit/>
          </a:bodyPr>
          <a:lstStyle/>
          <a:p>
            <a:r>
              <a:rPr lang="en-US" sz="2400"/>
              <a:t>PCA Component 2</a:t>
            </a:r>
          </a:p>
        </p:txBody>
      </p:sp>
      <p:sp>
        <p:nvSpPr>
          <p:cNvPr id="12" name="TextBox 11">
            <a:extLst>
              <a:ext uri="{FF2B5EF4-FFF2-40B4-BE49-F238E27FC236}">
                <a16:creationId xmlns:a16="http://schemas.microsoft.com/office/drawing/2014/main" id="{5679080C-98A5-8648-65F8-35A3A6017F1B}"/>
              </a:ext>
            </a:extLst>
          </p:cNvPr>
          <p:cNvSpPr txBox="1"/>
          <p:nvPr/>
        </p:nvSpPr>
        <p:spPr>
          <a:xfrm>
            <a:off x="3402069" y="6073968"/>
            <a:ext cx="2588090" cy="461665"/>
          </a:xfrm>
          <a:prstGeom prst="rect">
            <a:avLst/>
          </a:prstGeom>
          <a:solidFill>
            <a:schemeClr val="bg1"/>
          </a:solidFill>
        </p:spPr>
        <p:txBody>
          <a:bodyPr wrap="square" rtlCol="0">
            <a:spAutoFit/>
          </a:bodyPr>
          <a:lstStyle/>
          <a:p>
            <a:r>
              <a:rPr lang="en-US" sz="2400"/>
              <a:t>PCA Component 1</a:t>
            </a:r>
          </a:p>
        </p:txBody>
      </p:sp>
      <p:sp>
        <p:nvSpPr>
          <p:cNvPr id="15" name="Rectangle 14">
            <a:extLst>
              <a:ext uri="{FF2B5EF4-FFF2-40B4-BE49-F238E27FC236}">
                <a16:creationId xmlns:a16="http://schemas.microsoft.com/office/drawing/2014/main" id="{42983B42-953E-49C2-EB07-93B034DE92B9}"/>
              </a:ext>
            </a:extLst>
          </p:cNvPr>
          <p:cNvSpPr/>
          <p:nvPr/>
        </p:nvSpPr>
        <p:spPr>
          <a:xfrm>
            <a:off x="1123720" y="1026164"/>
            <a:ext cx="6896560" cy="279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1FC224-1D4D-8567-8449-0FA82D002F4C}"/>
              </a:ext>
            </a:extLst>
          </p:cNvPr>
          <p:cNvSpPr/>
          <p:nvPr/>
        </p:nvSpPr>
        <p:spPr>
          <a:xfrm rot="5400000">
            <a:off x="4736638" y="3446806"/>
            <a:ext cx="6272588" cy="3116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0E697E5-657A-7A09-A564-CB9AE1B9B5E2}"/>
              </a:ext>
            </a:extLst>
          </p:cNvPr>
          <p:cNvSpPr/>
          <p:nvPr/>
        </p:nvSpPr>
        <p:spPr>
          <a:xfrm>
            <a:off x="6858452" y="851517"/>
            <a:ext cx="1972198" cy="12320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6BCAB04-B6FB-EDC0-99CB-4FA3735F4ADF}"/>
              </a:ext>
            </a:extLst>
          </p:cNvPr>
          <p:cNvSpPr txBox="1"/>
          <p:nvPr/>
        </p:nvSpPr>
        <p:spPr>
          <a:xfrm>
            <a:off x="8137709" y="2213905"/>
            <a:ext cx="4026776" cy="430887"/>
          </a:xfrm>
          <a:prstGeom prst="rect">
            <a:avLst/>
          </a:prstGeom>
          <a:noFill/>
        </p:spPr>
        <p:txBody>
          <a:bodyPr wrap="square" rtlCol="0">
            <a:spAutoFit/>
          </a:bodyPr>
          <a:lstStyle/>
          <a:p>
            <a:r>
              <a:rPr lang="en-US" sz="2200"/>
              <a:t>Public-Private Governance</a:t>
            </a:r>
          </a:p>
        </p:txBody>
      </p:sp>
      <p:sp>
        <p:nvSpPr>
          <p:cNvPr id="25" name="TextBox 24">
            <a:extLst>
              <a:ext uri="{FF2B5EF4-FFF2-40B4-BE49-F238E27FC236}">
                <a16:creationId xmlns:a16="http://schemas.microsoft.com/office/drawing/2014/main" id="{C7A1C18D-243C-994F-049D-67D66CAA671F}"/>
              </a:ext>
            </a:extLst>
          </p:cNvPr>
          <p:cNvSpPr txBox="1"/>
          <p:nvPr/>
        </p:nvSpPr>
        <p:spPr>
          <a:xfrm>
            <a:off x="8137709" y="2774194"/>
            <a:ext cx="4026776" cy="430887"/>
          </a:xfrm>
          <a:prstGeom prst="rect">
            <a:avLst/>
          </a:prstGeom>
          <a:noFill/>
        </p:spPr>
        <p:txBody>
          <a:bodyPr wrap="square" rtlCol="0">
            <a:spAutoFit/>
          </a:bodyPr>
          <a:lstStyle/>
          <a:p>
            <a:r>
              <a:rPr lang="en-US" sz="2200"/>
              <a:t>Social Change</a:t>
            </a:r>
          </a:p>
        </p:txBody>
      </p:sp>
      <p:sp>
        <p:nvSpPr>
          <p:cNvPr id="20" name="TextBox 19">
            <a:extLst>
              <a:ext uri="{FF2B5EF4-FFF2-40B4-BE49-F238E27FC236}">
                <a16:creationId xmlns:a16="http://schemas.microsoft.com/office/drawing/2014/main" id="{8B60C872-FDB4-84E0-DDF9-061B0DFDD3CB}"/>
              </a:ext>
            </a:extLst>
          </p:cNvPr>
          <p:cNvSpPr txBox="1"/>
          <p:nvPr/>
        </p:nvSpPr>
        <p:spPr>
          <a:xfrm>
            <a:off x="8137709" y="1114250"/>
            <a:ext cx="4026776" cy="430887"/>
          </a:xfrm>
          <a:prstGeom prst="rect">
            <a:avLst/>
          </a:prstGeom>
          <a:noFill/>
        </p:spPr>
        <p:txBody>
          <a:bodyPr wrap="square" rtlCol="0">
            <a:spAutoFit/>
          </a:bodyPr>
          <a:lstStyle/>
          <a:p>
            <a:r>
              <a:rPr lang="en-US" sz="2200"/>
              <a:t>Philanthropic Community Trust</a:t>
            </a:r>
          </a:p>
        </p:txBody>
      </p:sp>
      <p:sp>
        <p:nvSpPr>
          <p:cNvPr id="23" name="TextBox 22">
            <a:extLst>
              <a:ext uri="{FF2B5EF4-FFF2-40B4-BE49-F238E27FC236}">
                <a16:creationId xmlns:a16="http://schemas.microsoft.com/office/drawing/2014/main" id="{5892AA30-EBFF-0F40-1FAB-50314C7825A7}"/>
              </a:ext>
            </a:extLst>
          </p:cNvPr>
          <p:cNvSpPr txBox="1"/>
          <p:nvPr/>
        </p:nvSpPr>
        <p:spPr>
          <a:xfrm>
            <a:off x="8137709" y="1686948"/>
            <a:ext cx="4026776" cy="430887"/>
          </a:xfrm>
          <a:prstGeom prst="rect">
            <a:avLst/>
          </a:prstGeom>
          <a:noFill/>
        </p:spPr>
        <p:txBody>
          <a:bodyPr wrap="square" rtlCol="0">
            <a:spAutoFit/>
          </a:bodyPr>
          <a:lstStyle/>
          <a:p>
            <a:r>
              <a:rPr lang="en-US" sz="2200"/>
              <a:t>Donor Services</a:t>
            </a:r>
          </a:p>
        </p:txBody>
      </p:sp>
      <p:grpSp>
        <p:nvGrpSpPr>
          <p:cNvPr id="22" name="Group 21">
            <a:extLst>
              <a:ext uri="{FF2B5EF4-FFF2-40B4-BE49-F238E27FC236}">
                <a16:creationId xmlns:a16="http://schemas.microsoft.com/office/drawing/2014/main" id="{4033DFF1-CF05-B7E9-909D-6E962DFE2619}"/>
              </a:ext>
            </a:extLst>
          </p:cNvPr>
          <p:cNvGrpSpPr/>
          <p:nvPr/>
        </p:nvGrpSpPr>
        <p:grpSpPr>
          <a:xfrm>
            <a:off x="7835957" y="1194207"/>
            <a:ext cx="306049" cy="1941535"/>
            <a:chOff x="9300659" y="1135222"/>
            <a:chExt cx="306049" cy="1941535"/>
          </a:xfrm>
        </p:grpSpPr>
        <p:sp>
          <p:nvSpPr>
            <p:cNvPr id="13" name="Flowchart: Connector 12">
              <a:extLst>
                <a:ext uri="{FF2B5EF4-FFF2-40B4-BE49-F238E27FC236}">
                  <a16:creationId xmlns:a16="http://schemas.microsoft.com/office/drawing/2014/main" id="{66205A10-0243-F5A6-AC98-BC9922282343}"/>
                </a:ext>
              </a:extLst>
            </p:cNvPr>
            <p:cNvSpPr/>
            <p:nvPr/>
          </p:nvSpPr>
          <p:spPr>
            <a:xfrm>
              <a:off x="9309253" y="1693308"/>
              <a:ext cx="297455" cy="297456"/>
            </a:xfrm>
            <a:prstGeom prst="flowChartConnector">
              <a:avLst/>
            </a:prstGeom>
            <a:solidFill>
              <a:srgbClr val="CA002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64F30DD-46BF-BC17-F1D8-42DDD710375E}"/>
                </a:ext>
              </a:extLst>
            </p:cNvPr>
            <p:cNvSpPr/>
            <p:nvPr/>
          </p:nvSpPr>
          <p:spPr>
            <a:xfrm>
              <a:off x="9304956" y="2221215"/>
              <a:ext cx="297455" cy="301752"/>
            </a:xfrm>
            <a:prstGeom prst="rect">
              <a:avLst/>
            </a:prstGeom>
            <a:solidFill>
              <a:srgbClr val="F4A5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5FCE6B72-FCB5-1433-2707-8DBFEEE89743}"/>
                </a:ext>
              </a:extLst>
            </p:cNvPr>
            <p:cNvSpPr/>
            <p:nvPr/>
          </p:nvSpPr>
          <p:spPr>
            <a:xfrm>
              <a:off x="9300659" y="2775005"/>
              <a:ext cx="301752" cy="301752"/>
            </a:xfrm>
            <a:prstGeom prst="triangle">
              <a:avLst/>
            </a:prstGeom>
            <a:solidFill>
              <a:srgbClr val="92C5D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77199EF8-D64E-9607-A776-6B6D6DE4FC9C}"/>
                </a:ext>
              </a:extLst>
            </p:cNvPr>
            <p:cNvSpPr/>
            <p:nvPr/>
          </p:nvSpPr>
          <p:spPr>
            <a:xfrm>
              <a:off x="9304956" y="1135222"/>
              <a:ext cx="301752" cy="301752"/>
            </a:xfrm>
            <a:prstGeom prst="diamond">
              <a:avLst/>
            </a:prstGeom>
            <a:solidFill>
              <a:srgbClr val="0571B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 name="Straight Connector 4">
            <a:extLst>
              <a:ext uri="{FF2B5EF4-FFF2-40B4-BE49-F238E27FC236}">
                <a16:creationId xmlns:a16="http://schemas.microsoft.com/office/drawing/2014/main" id="{95EAD71A-4382-7F88-2A8C-6CAB3C07500F}"/>
              </a:ext>
            </a:extLst>
          </p:cNvPr>
          <p:cNvCxnSpPr/>
          <p:nvPr/>
        </p:nvCxnSpPr>
        <p:spPr>
          <a:xfrm flipV="1">
            <a:off x="2721166" y="1305189"/>
            <a:ext cx="0" cy="4500700"/>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42DB515-FE54-522D-1557-23FDCD49BD79}"/>
              </a:ext>
            </a:extLst>
          </p:cNvPr>
          <p:cNvCxnSpPr/>
          <p:nvPr/>
        </p:nvCxnSpPr>
        <p:spPr>
          <a:xfrm flipV="1">
            <a:off x="7159128" y="1305189"/>
            <a:ext cx="0" cy="4500700"/>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252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1D4FB-798E-D687-4CE6-0D7AB86FF6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E9169D-8968-5B94-DAF7-E945B021E615}"/>
              </a:ext>
            </a:extLst>
          </p:cNvPr>
          <p:cNvSpPr>
            <a:spLocks noGrp="1"/>
          </p:cNvSpPr>
          <p:nvPr>
            <p:ph type="sldNum" sz="quarter" idx="12"/>
          </p:nvPr>
        </p:nvSpPr>
        <p:spPr>
          <a:xfrm>
            <a:off x="11267412" y="6304801"/>
            <a:ext cx="497378" cy="365125"/>
          </a:xfrm>
        </p:spPr>
        <p:txBody>
          <a:bodyPr/>
          <a:lstStyle/>
          <a:p>
            <a:fld id="{DFA4CD3D-26C8-47FF-8D13-9B32BAAB4735}" type="slidenum">
              <a:rPr lang="en-US" smtClean="0"/>
              <a:t>27</a:t>
            </a:fld>
            <a:endParaRPr lang="en-US"/>
          </a:p>
        </p:txBody>
      </p:sp>
      <p:sp>
        <p:nvSpPr>
          <p:cNvPr id="3" name="Title 2">
            <a:extLst>
              <a:ext uri="{FF2B5EF4-FFF2-40B4-BE49-F238E27FC236}">
                <a16:creationId xmlns:a16="http://schemas.microsoft.com/office/drawing/2014/main" id="{F92BD54A-6060-6A57-CA6D-90F8D13C3888}"/>
              </a:ext>
            </a:extLst>
          </p:cNvPr>
          <p:cNvSpPr>
            <a:spLocks noGrp="1"/>
          </p:cNvSpPr>
          <p:nvPr>
            <p:ph type="title"/>
          </p:nvPr>
        </p:nvSpPr>
        <p:spPr>
          <a:xfrm>
            <a:off x="396429" y="466335"/>
            <a:ext cx="11398253" cy="838854"/>
          </a:xfrm>
        </p:spPr>
        <p:txBody>
          <a:bodyPr>
            <a:normAutofit/>
          </a:bodyPr>
          <a:lstStyle/>
          <a:p>
            <a:r>
              <a:rPr lang="en-US" sz="3600"/>
              <a:t>TF-IDF Narratives</a:t>
            </a:r>
          </a:p>
        </p:txBody>
      </p:sp>
      <p:pic>
        <p:nvPicPr>
          <p:cNvPr id="10" name="Picture 9" descr="A diagram of red and blue dots&#10;&#10;AI-generated content may be incorrect.">
            <a:extLst>
              <a:ext uri="{FF2B5EF4-FFF2-40B4-BE49-F238E27FC236}">
                <a16:creationId xmlns:a16="http://schemas.microsoft.com/office/drawing/2014/main" id="{E3DAECE0-8F86-23BB-FC31-CB8356838EA5}"/>
              </a:ext>
            </a:extLst>
          </p:cNvPr>
          <p:cNvPicPr>
            <a:picLocks noChangeAspect="1"/>
          </p:cNvPicPr>
          <p:nvPr/>
        </p:nvPicPr>
        <p:blipFill>
          <a:blip r:embed="rId3">
            <a:extLst>
              <a:ext uri="{28A0092B-C50C-407E-A947-70E740481C1C}">
                <a14:useLocalDpi xmlns:a14="http://schemas.microsoft.com/office/drawing/2010/main" val="0"/>
              </a:ext>
            </a:extLst>
          </a:blip>
          <a:srcRect l="4056" t="9854" r="1365" b="3714"/>
          <a:stretch>
            <a:fillRect/>
          </a:stretch>
        </p:blipFill>
        <p:spPr>
          <a:xfrm>
            <a:off x="356228" y="1026164"/>
            <a:ext cx="8251634" cy="5278637"/>
          </a:xfrm>
          <a:prstGeom prst="rect">
            <a:avLst/>
          </a:prstGeom>
        </p:spPr>
      </p:pic>
      <p:sp>
        <p:nvSpPr>
          <p:cNvPr id="11" name="TextBox 10">
            <a:extLst>
              <a:ext uri="{FF2B5EF4-FFF2-40B4-BE49-F238E27FC236}">
                <a16:creationId xmlns:a16="http://schemas.microsoft.com/office/drawing/2014/main" id="{1CC0A4F2-AC7D-D8EC-6075-7FA4C4DA7282}"/>
              </a:ext>
            </a:extLst>
          </p:cNvPr>
          <p:cNvSpPr txBox="1"/>
          <p:nvPr/>
        </p:nvSpPr>
        <p:spPr>
          <a:xfrm rot="16200000">
            <a:off x="-769914" y="2904910"/>
            <a:ext cx="2702020" cy="461665"/>
          </a:xfrm>
          <a:prstGeom prst="rect">
            <a:avLst/>
          </a:prstGeom>
          <a:solidFill>
            <a:schemeClr val="bg1"/>
          </a:solidFill>
        </p:spPr>
        <p:txBody>
          <a:bodyPr wrap="square" rtlCol="0">
            <a:spAutoFit/>
          </a:bodyPr>
          <a:lstStyle/>
          <a:p>
            <a:r>
              <a:rPr lang="en-US" sz="2400"/>
              <a:t>PCA Component 2</a:t>
            </a:r>
          </a:p>
        </p:txBody>
      </p:sp>
      <p:sp>
        <p:nvSpPr>
          <p:cNvPr id="12" name="TextBox 11">
            <a:extLst>
              <a:ext uri="{FF2B5EF4-FFF2-40B4-BE49-F238E27FC236}">
                <a16:creationId xmlns:a16="http://schemas.microsoft.com/office/drawing/2014/main" id="{B8F5258D-6980-E587-D38C-3A1407640890}"/>
              </a:ext>
            </a:extLst>
          </p:cNvPr>
          <p:cNvSpPr txBox="1"/>
          <p:nvPr/>
        </p:nvSpPr>
        <p:spPr>
          <a:xfrm>
            <a:off x="3402069" y="6073968"/>
            <a:ext cx="2588090" cy="461665"/>
          </a:xfrm>
          <a:prstGeom prst="rect">
            <a:avLst/>
          </a:prstGeom>
          <a:solidFill>
            <a:schemeClr val="bg1"/>
          </a:solidFill>
        </p:spPr>
        <p:txBody>
          <a:bodyPr wrap="square" rtlCol="0">
            <a:spAutoFit/>
          </a:bodyPr>
          <a:lstStyle/>
          <a:p>
            <a:r>
              <a:rPr lang="en-US" sz="2400"/>
              <a:t>PCA Component 1</a:t>
            </a:r>
          </a:p>
        </p:txBody>
      </p:sp>
      <p:sp>
        <p:nvSpPr>
          <p:cNvPr id="15" name="Rectangle 14">
            <a:extLst>
              <a:ext uri="{FF2B5EF4-FFF2-40B4-BE49-F238E27FC236}">
                <a16:creationId xmlns:a16="http://schemas.microsoft.com/office/drawing/2014/main" id="{D12BBD06-7BF9-FEC7-C280-F02A26EAF17D}"/>
              </a:ext>
            </a:extLst>
          </p:cNvPr>
          <p:cNvSpPr/>
          <p:nvPr/>
        </p:nvSpPr>
        <p:spPr>
          <a:xfrm>
            <a:off x="1123720" y="1026164"/>
            <a:ext cx="6896560" cy="279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F30205-89BA-4744-E9E3-A2670D404AE8}"/>
              </a:ext>
            </a:extLst>
          </p:cNvPr>
          <p:cNvSpPr/>
          <p:nvPr/>
        </p:nvSpPr>
        <p:spPr>
          <a:xfrm rot="5400000">
            <a:off x="4798109" y="3344762"/>
            <a:ext cx="6102720" cy="279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C950D06-01D6-DB9D-F736-A7352EC744A7}"/>
              </a:ext>
            </a:extLst>
          </p:cNvPr>
          <p:cNvSpPr/>
          <p:nvPr/>
        </p:nvSpPr>
        <p:spPr>
          <a:xfrm>
            <a:off x="6858452" y="851517"/>
            <a:ext cx="1972198" cy="12320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78C4898F-DB6B-6CE3-B48D-26795F63D2AE}"/>
              </a:ext>
            </a:extLst>
          </p:cNvPr>
          <p:cNvCxnSpPr/>
          <p:nvPr/>
        </p:nvCxnSpPr>
        <p:spPr>
          <a:xfrm flipV="1">
            <a:off x="2721166" y="1305189"/>
            <a:ext cx="0" cy="4500700"/>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A072D5-4C5C-DE43-1C07-647874739621}"/>
              </a:ext>
            </a:extLst>
          </p:cNvPr>
          <p:cNvCxnSpPr/>
          <p:nvPr/>
        </p:nvCxnSpPr>
        <p:spPr>
          <a:xfrm flipV="1">
            <a:off x="7159128" y="1305189"/>
            <a:ext cx="0" cy="4500700"/>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640D5DA-0084-679F-E35D-16EDF4DFD554}"/>
              </a:ext>
            </a:extLst>
          </p:cNvPr>
          <p:cNvSpPr txBox="1"/>
          <p:nvPr/>
        </p:nvSpPr>
        <p:spPr>
          <a:xfrm>
            <a:off x="620179" y="1071246"/>
            <a:ext cx="889653"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fund</a:t>
            </a:r>
            <a:endParaRPr lang="en-US" sz="2400"/>
          </a:p>
        </p:txBody>
      </p:sp>
      <p:sp>
        <p:nvSpPr>
          <p:cNvPr id="8" name="TextBox 7">
            <a:extLst>
              <a:ext uri="{FF2B5EF4-FFF2-40B4-BE49-F238E27FC236}">
                <a16:creationId xmlns:a16="http://schemas.microsoft.com/office/drawing/2014/main" id="{281568FF-9B52-4831-720A-A7D6BB089D12}"/>
              </a:ext>
            </a:extLst>
          </p:cNvPr>
          <p:cNvSpPr txBox="1"/>
          <p:nvPr/>
        </p:nvSpPr>
        <p:spPr>
          <a:xfrm>
            <a:off x="1556099" y="1655878"/>
            <a:ext cx="889653"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funds</a:t>
            </a:r>
            <a:endParaRPr lang="en-US" sz="2400"/>
          </a:p>
        </p:txBody>
      </p:sp>
      <p:sp>
        <p:nvSpPr>
          <p:cNvPr id="9" name="TextBox 8">
            <a:extLst>
              <a:ext uri="{FF2B5EF4-FFF2-40B4-BE49-F238E27FC236}">
                <a16:creationId xmlns:a16="http://schemas.microsoft.com/office/drawing/2014/main" id="{047A3846-2F9A-C810-BC52-12463E0BC4DB}"/>
              </a:ext>
            </a:extLst>
          </p:cNvPr>
          <p:cNvSpPr txBox="1"/>
          <p:nvPr/>
        </p:nvSpPr>
        <p:spPr>
          <a:xfrm>
            <a:off x="858095" y="2470877"/>
            <a:ext cx="1587655"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foundation</a:t>
            </a:r>
            <a:endParaRPr lang="en-US" sz="2400"/>
          </a:p>
        </p:txBody>
      </p:sp>
      <p:sp>
        <p:nvSpPr>
          <p:cNvPr id="14" name="TextBox 13">
            <a:extLst>
              <a:ext uri="{FF2B5EF4-FFF2-40B4-BE49-F238E27FC236}">
                <a16:creationId xmlns:a16="http://schemas.microsoft.com/office/drawing/2014/main" id="{6155F6AC-4CC6-2020-8BA1-F8CF47FD32C2}"/>
              </a:ext>
            </a:extLst>
          </p:cNvPr>
          <p:cNvSpPr txBox="1"/>
          <p:nvPr/>
        </p:nvSpPr>
        <p:spPr>
          <a:xfrm>
            <a:off x="1509832" y="3043125"/>
            <a:ext cx="1105333"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donor</a:t>
            </a:r>
            <a:endParaRPr lang="en-US" sz="2400"/>
          </a:p>
        </p:txBody>
      </p:sp>
      <p:sp>
        <p:nvSpPr>
          <p:cNvPr id="21" name="TextBox 20">
            <a:extLst>
              <a:ext uri="{FF2B5EF4-FFF2-40B4-BE49-F238E27FC236}">
                <a16:creationId xmlns:a16="http://schemas.microsoft.com/office/drawing/2014/main" id="{B4993352-38D7-95A9-2465-513F04DAED1F}"/>
              </a:ext>
            </a:extLst>
          </p:cNvPr>
          <p:cNvSpPr txBox="1"/>
          <p:nvPr/>
        </p:nvSpPr>
        <p:spPr>
          <a:xfrm>
            <a:off x="900940" y="3665482"/>
            <a:ext cx="1524985"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charitable</a:t>
            </a:r>
            <a:endParaRPr lang="en-US" sz="2400"/>
          </a:p>
        </p:txBody>
      </p:sp>
      <p:sp>
        <p:nvSpPr>
          <p:cNvPr id="27" name="TextBox 26">
            <a:extLst>
              <a:ext uri="{FF2B5EF4-FFF2-40B4-BE49-F238E27FC236}">
                <a16:creationId xmlns:a16="http://schemas.microsoft.com/office/drawing/2014/main" id="{AFE816C5-92AE-854A-B72A-178CDE2C37BA}"/>
              </a:ext>
            </a:extLst>
          </p:cNvPr>
          <p:cNvSpPr txBox="1"/>
          <p:nvPr/>
        </p:nvSpPr>
        <p:spPr>
          <a:xfrm>
            <a:off x="1455496" y="4237730"/>
            <a:ext cx="1159669"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advised</a:t>
            </a:r>
            <a:endParaRPr lang="en-US" sz="2400"/>
          </a:p>
        </p:txBody>
      </p:sp>
      <p:sp>
        <p:nvSpPr>
          <p:cNvPr id="28" name="TextBox 27">
            <a:extLst>
              <a:ext uri="{FF2B5EF4-FFF2-40B4-BE49-F238E27FC236}">
                <a16:creationId xmlns:a16="http://schemas.microsoft.com/office/drawing/2014/main" id="{C462FFE4-AA47-22B0-72DE-B8021739BE91}"/>
              </a:ext>
            </a:extLst>
          </p:cNvPr>
          <p:cNvSpPr txBox="1"/>
          <p:nvPr/>
        </p:nvSpPr>
        <p:spPr>
          <a:xfrm>
            <a:off x="350263" y="4781061"/>
            <a:ext cx="1220484"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donors</a:t>
            </a:r>
            <a:endParaRPr lang="en-US" sz="2400"/>
          </a:p>
        </p:txBody>
      </p:sp>
      <p:sp>
        <p:nvSpPr>
          <p:cNvPr id="29" name="TextBox 28">
            <a:extLst>
              <a:ext uri="{FF2B5EF4-FFF2-40B4-BE49-F238E27FC236}">
                <a16:creationId xmlns:a16="http://schemas.microsoft.com/office/drawing/2014/main" id="{45C89B60-AC51-C30E-86D7-CF6AF4C87578}"/>
              </a:ext>
            </a:extLst>
          </p:cNvPr>
          <p:cNvSpPr txBox="1"/>
          <p:nvPr/>
        </p:nvSpPr>
        <p:spPr>
          <a:xfrm>
            <a:off x="727924" y="1752293"/>
            <a:ext cx="753812"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gift</a:t>
            </a:r>
            <a:endParaRPr lang="en-US" sz="2400"/>
          </a:p>
        </p:txBody>
      </p:sp>
      <p:sp>
        <p:nvSpPr>
          <p:cNvPr id="30" name="TextBox 29">
            <a:extLst>
              <a:ext uri="{FF2B5EF4-FFF2-40B4-BE49-F238E27FC236}">
                <a16:creationId xmlns:a16="http://schemas.microsoft.com/office/drawing/2014/main" id="{EB5E0694-6FEC-76C3-C4B4-0DEEA3CCDB41}"/>
              </a:ext>
            </a:extLst>
          </p:cNvPr>
          <p:cNvSpPr txBox="1"/>
          <p:nvPr/>
        </p:nvSpPr>
        <p:spPr>
          <a:xfrm>
            <a:off x="331288" y="5485102"/>
            <a:ext cx="1548210"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designated</a:t>
            </a:r>
            <a:endParaRPr lang="en-US" sz="2400"/>
          </a:p>
        </p:txBody>
      </p:sp>
      <p:sp>
        <p:nvSpPr>
          <p:cNvPr id="31" name="TextBox 30">
            <a:extLst>
              <a:ext uri="{FF2B5EF4-FFF2-40B4-BE49-F238E27FC236}">
                <a16:creationId xmlns:a16="http://schemas.microsoft.com/office/drawing/2014/main" id="{D5143504-3D54-4A8A-5A58-DD9D628D6521}"/>
              </a:ext>
            </a:extLst>
          </p:cNvPr>
          <p:cNvSpPr txBox="1"/>
          <p:nvPr/>
        </p:nvSpPr>
        <p:spPr>
          <a:xfrm>
            <a:off x="1609406" y="4894663"/>
            <a:ext cx="974052"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grants</a:t>
            </a:r>
            <a:endParaRPr lang="en-US" sz="2400"/>
          </a:p>
        </p:txBody>
      </p:sp>
      <p:sp>
        <p:nvSpPr>
          <p:cNvPr id="33" name="TextBox 32">
            <a:extLst>
              <a:ext uri="{FF2B5EF4-FFF2-40B4-BE49-F238E27FC236}">
                <a16:creationId xmlns:a16="http://schemas.microsoft.com/office/drawing/2014/main" id="{BBC098BA-0199-AEA5-CA72-D222FD8C4B22}"/>
              </a:ext>
            </a:extLst>
          </p:cNvPr>
          <p:cNvSpPr txBox="1"/>
          <p:nvPr/>
        </p:nvSpPr>
        <p:spPr>
          <a:xfrm>
            <a:off x="7449821" y="2074061"/>
            <a:ext cx="653566"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17</a:t>
            </a:r>
            <a:endParaRPr lang="en-US" sz="2400"/>
          </a:p>
        </p:txBody>
      </p:sp>
      <p:sp>
        <p:nvSpPr>
          <p:cNvPr id="34" name="TextBox 33">
            <a:extLst>
              <a:ext uri="{FF2B5EF4-FFF2-40B4-BE49-F238E27FC236}">
                <a16:creationId xmlns:a16="http://schemas.microsoft.com/office/drawing/2014/main" id="{810B96E0-D19A-8F6C-077C-5860007A9765}"/>
              </a:ext>
            </a:extLst>
          </p:cNvPr>
          <p:cNvSpPr txBox="1"/>
          <p:nvPr/>
        </p:nvSpPr>
        <p:spPr>
          <a:xfrm>
            <a:off x="7314035" y="4864214"/>
            <a:ext cx="889653" cy="461665"/>
          </a:xfrm>
          <a:prstGeom prst="rect">
            <a:avLst/>
          </a:prstGeom>
          <a:solidFill>
            <a:schemeClr val="bg1">
              <a:lumMod val="95000"/>
            </a:schemeClr>
          </a:solidFill>
          <a:ln>
            <a:solidFill>
              <a:schemeClr val="tx1"/>
            </a:solidFill>
          </a:ln>
        </p:spPr>
        <p:txBody>
          <a:bodyPr wrap="square">
            <a:spAutoFit/>
          </a:bodyPr>
          <a:lstStyle/>
          <a:p>
            <a:pPr algn="ctr"/>
            <a:r>
              <a:rPr lang="en-US" sz="2400" kern="100" err="1">
                <a:effectLst/>
                <a:ea typeface="Aptos" panose="020B0004020202020204" pitchFamily="34" charset="0"/>
                <a:cs typeface="Times New Roman" panose="02020603050405020304" pitchFamily="18" charset="0"/>
              </a:rPr>
              <a:t>latinx</a:t>
            </a:r>
            <a:endParaRPr lang="en-US" sz="2400"/>
          </a:p>
        </p:txBody>
      </p:sp>
      <p:sp>
        <p:nvSpPr>
          <p:cNvPr id="35" name="TextBox 34">
            <a:extLst>
              <a:ext uri="{FF2B5EF4-FFF2-40B4-BE49-F238E27FC236}">
                <a16:creationId xmlns:a16="http://schemas.microsoft.com/office/drawing/2014/main" id="{59394AFA-12BD-658A-AF72-571797ADD36F}"/>
              </a:ext>
            </a:extLst>
          </p:cNvPr>
          <p:cNvSpPr txBox="1"/>
          <p:nvPr/>
        </p:nvSpPr>
        <p:spPr>
          <a:xfrm>
            <a:off x="8292511" y="2074062"/>
            <a:ext cx="2093697" cy="461665"/>
          </a:xfrm>
          <a:prstGeom prst="rect">
            <a:avLst/>
          </a:prstGeom>
          <a:solidFill>
            <a:schemeClr val="bg1">
              <a:lumMod val="95000"/>
            </a:schemeClr>
          </a:solidFill>
          <a:ln>
            <a:solidFill>
              <a:schemeClr val="tx1"/>
            </a:solidFill>
          </a:ln>
        </p:spPr>
        <p:txBody>
          <a:bodyPr wrap="square">
            <a:spAutoFit/>
          </a:bodyPr>
          <a:lstStyle/>
          <a:p>
            <a:pPr algn="ctr"/>
            <a:r>
              <a:rPr lang="en-US" sz="2400" kern="100" err="1">
                <a:effectLst/>
                <a:ea typeface="Aptos" panose="020B0004020202020204" pitchFamily="34" charset="0"/>
                <a:cs typeface="Times New Roman" panose="02020603050405020304" pitchFamily="18" charset="0"/>
              </a:rPr>
              <a:t>transitoriented</a:t>
            </a:r>
            <a:endParaRPr lang="en-US" sz="2400"/>
          </a:p>
        </p:txBody>
      </p:sp>
      <p:sp>
        <p:nvSpPr>
          <p:cNvPr id="36" name="TextBox 35">
            <a:extLst>
              <a:ext uri="{FF2B5EF4-FFF2-40B4-BE49-F238E27FC236}">
                <a16:creationId xmlns:a16="http://schemas.microsoft.com/office/drawing/2014/main" id="{6B4F73C7-F0D1-7924-9532-7D4E2AC059C9}"/>
              </a:ext>
            </a:extLst>
          </p:cNvPr>
          <p:cNvSpPr txBox="1"/>
          <p:nvPr/>
        </p:nvSpPr>
        <p:spPr>
          <a:xfrm>
            <a:off x="7517793" y="2764515"/>
            <a:ext cx="1883027"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development</a:t>
            </a:r>
            <a:endParaRPr lang="en-US" sz="2400"/>
          </a:p>
        </p:txBody>
      </p:sp>
      <p:sp>
        <p:nvSpPr>
          <p:cNvPr id="37" name="TextBox 36">
            <a:extLst>
              <a:ext uri="{FF2B5EF4-FFF2-40B4-BE49-F238E27FC236}">
                <a16:creationId xmlns:a16="http://schemas.microsoft.com/office/drawing/2014/main" id="{C66228B2-9150-7B7C-18CD-F099B7E57862}"/>
              </a:ext>
            </a:extLst>
          </p:cNvPr>
          <p:cNvSpPr txBox="1"/>
          <p:nvPr/>
        </p:nvSpPr>
        <p:spPr>
          <a:xfrm>
            <a:off x="8043793" y="5378675"/>
            <a:ext cx="1014962"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access</a:t>
            </a:r>
            <a:endParaRPr lang="en-US" sz="2400"/>
          </a:p>
        </p:txBody>
      </p:sp>
      <p:sp>
        <p:nvSpPr>
          <p:cNvPr id="38" name="TextBox 37">
            <a:extLst>
              <a:ext uri="{FF2B5EF4-FFF2-40B4-BE49-F238E27FC236}">
                <a16:creationId xmlns:a16="http://schemas.microsoft.com/office/drawing/2014/main" id="{95BBDF4B-51E7-62CB-F492-2F072749CC4A}"/>
              </a:ext>
            </a:extLst>
          </p:cNvPr>
          <p:cNvSpPr txBox="1"/>
          <p:nvPr/>
        </p:nvSpPr>
        <p:spPr>
          <a:xfrm>
            <a:off x="7368330" y="1426634"/>
            <a:ext cx="1350926"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residents</a:t>
            </a:r>
            <a:endParaRPr lang="en-US" sz="2400"/>
          </a:p>
        </p:txBody>
      </p:sp>
      <p:sp>
        <p:nvSpPr>
          <p:cNvPr id="39" name="TextBox 38">
            <a:extLst>
              <a:ext uri="{FF2B5EF4-FFF2-40B4-BE49-F238E27FC236}">
                <a16:creationId xmlns:a16="http://schemas.microsoft.com/office/drawing/2014/main" id="{906BE2FF-6985-D073-6E6A-8402004C68D1}"/>
              </a:ext>
            </a:extLst>
          </p:cNvPr>
          <p:cNvSpPr txBox="1"/>
          <p:nvPr/>
        </p:nvSpPr>
        <p:spPr>
          <a:xfrm>
            <a:off x="7314035" y="3382539"/>
            <a:ext cx="932285"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black</a:t>
            </a:r>
            <a:endParaRPr lang="en-US" sz="2400"/>
          </a:p>
        </p:txBody>
      </p:sp>
      <p:sp>
        <p:nvSpPr>
          <p:cNvPr id="40" name="TextBox 39">
            <a:extLst>
              <a:ext uri="{FF2B5EF4-FFF2-40B4-BE49-F238E27FC236}">
                <a16:creationId xmlns:a16="http://schemas.microsoft.com/office/drawing/2014/main" id="{ED0A59CA-1B05-1C64-E47C-9BF6A359AA73}"/>
              </a:ext>
            </a:extLst>
          </p:cNvPr>
          <p:cNvSpPr txBox="1"/>
          <p:nvPr/>
        </p:nvSpPr>
        <p:spPr>
          <a:xfrm>
            <a:off x="8434336" y="3385732"/>
            <a:ext cx="1794985"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communities</a:t>
            </a:r>
            <a:endParaRPr lang="en-US" sz="2400"/>
          </a:p>
        </p:txBody>
      </p:sp>
      <p:sp>
        <p:nvSpPr>
          <p:cNvPr id="41" name="TextBox 40">
            <a:extLst>
              <a:ext uri="{FF2B5EF4-FFF2-40B4-BE49-F238E27FC236}">
                <a16:creationId xmlns:a16="http://schemas.microsoft.com/office/drawing/2014/main" id="{E5EB565D-F7F4-9EF3-35ED-89A463705DBE}"/>
              </a:ext>
            </a:extLst>
          </p:cNvPr>
          <p:cNvSpPr txBox="1"/>
          <p:nvPr/>
        </p:nvSpPr>
        <p:spPr>
          <a:xfrm>
            <a:off x="8452093" y="4705847"/>
            <a:ext cx="1794984" cy="461665"/>
          </a:xfrm>
          <a:prstGeom prst="rect">
            <a:avLst/>
          </a:prstGeom>
          <a:solidFill>
            <a:schemeClr val="bg1">
              <a:lumMod val="95000"/>
            </a:schemeClr>
          </a:solidFill>
          <a:ln>
            <a:solidFill>
              <a:schemeClr val="tx1"/>
            </a:solidFill>
          </a:ln>
        </p:spPr>
        <p:txBody>
          <a:bodyPr wrap="square">
            <a:spAutoFit/>
          </a:bodyPr>
          <a:lstStyle/>
          <a:p>
            <a:pPr algn="ctr"/>
            <a:r>
              <a:rPr lang="en-US" sz="2400" kern="100">
                <a:effectLst/>
                <a:ea typeface="Aptos" panose="020B0004020202020204" pitchFamily="34" charset="0"/>
                <a:cs typeface="Times New Roman" panose="02020603050405020304" pitchFamily="18" charset="0"/>
              </a:rPr>
              <a:t>households</a:t>
            </a:r>
            <a:endParaRPr lang="en-US" sz="2400"/>
          </a:p>
        </p:txBody>
      </p:sp>
      <p:sp>
        <p:nvSpPr>
          <p:cNvPr id="42" name="TextBox 41">
            <a:extLst>
              <a:ext uri="{FF2B5EF4-FFF2-40B4-BE49-F238E27FC236}">
                <a16:creationId xmlns:a16="http://schemas.microsoft.com/office/drawing/2014/main" id="{64EA19D8-7DC9-C210-1682-D2645491D24F}"/>
              </a:ext>
            </a:extLst>
          </p:cNvPr>
          <p:cNvSpPr txBox="1"/>
          <p:nvPr/>
        </p:nvSpPr>
        <p:spPr>
          <a:xfrm>
            <a:off x="7954027" y="4025964"/>
            <a:ext cx="1618564" cy="461665"/>
          </a:xfrm>
          <a:prstGeom prst="rect">
            <a:avLst/>
          </a:prstGeom>
          <a:solidFill>
            <a:schemeClr val="bg1">
              <a:lumMod val="95000"/>
            </a:schemeClr>
          </a:solidFill>
          <a:ln>
            <a:solidFill>
              <a:schemeClr val="tx1"/>
            </a:solidFill>
          </a:ln>
        </p:spPr>
        <p:txBody>
          <a:bodyPr wrap="square">
            <a:spAutoFit/>
          </a:bodyPr>
          <a:lstStyle/>
          <a:p>
            <a:pPr algn="ctr"/>
            <a:r>
              <a:rPr lang="en-US" sz="2400" kern="100" err="1">
                <a:effectLst/>
                <a:ea typeface="Aptos" panose="020B0004020202020204" pitchFamily="34" charset="0"/>
                <a:cs typeface="Times New Roman" panose="02020603050405020304" pitchFamily="18" charset="0"/>
              </a:rPr>
              <a:t>chicagoans</a:t>
            </a:r>
            <a:endParaRPr lang="en-US" sz="2400"/>
          </a:p>
        </p:txBody>
      </p:sp>
    </p:spTree>
    <p:extLst>
      <p:ext uri="{BB962C8B-B14F-4D97-AF65-F5344CB8AC3E}">
        <p14:creationId xmlns:p14="http://schemas.microsoft.com/office/powerpoint/2010/main" val="563864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6DEB7-09DE-9650-60C5-095D947A3B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37DD04-0D23-9DA8-01A3-EE29BDFE354A}"/>
              </a:ext>
            </a:extLst>
          </p:cNvPr>
          <p:cNvSpPr>
            <a:spLocks noGrp="1"/>
          </p:cNvSpPr>
          <p:nvPr>
            <p:ph type="sldNum" sz="quarter" idx="12"/>
          </p:nvPr>
        </p:nvSpPr>
        <p:spPr/>
        <p:txBody>
          <a:bodyPr/>
          <a:lstStyle/>
          <a:p>
            <a:fld id="{DFA4CD3D-26C8-47FF-8D13-9B32BAAB4735}" type="slidenum">
              <a:rPr lang="en-US" smtClean="0"/>
              <a:t>28</a:t>
            </a:fld>
            <a:endParaRPr lang="en-US"/>
          </a:p>
        </p:txBody>
      </p:sp>
      <p:sp>
        <p:nvSpPr>
          <p:cNvPr id="3" name="Title 2">
            <a:extLst>
              <a:ext uri="{FF2B5EF4-FFF2-40B4-BE49-F238E27FC236}">
                <a16:creationId xmlns:a16="http://schemas.microsoft.com/office/drawing/2014/main" id="{4F41ABE1-F43B-4FCC-20D0-9FB7B89A4284}"/>
              </a:ext>
            </a:extLst>
          </p:cNvPr>
          <p:cNvSpPr>
            <a:spLocks noGrp="1"/>
          </p:cNvSpPr>
          <p:nvPr>
            <p:ph type="title"/>
          </p:nvPr>
        </p:nvSpPr>
        <p:spPr>
          <a:xfrm>
            <a:off x="396429" y="466335"/>
            <a:ext cx="11398253" cy="838854"/>
          </a:xfrm>
        </p:spPr>
        <p:txBody>
          <a:bodyPr>
            <a:normAutofit/>
          </a:bodyPr>
          <a:lstStyle/>
          <a:p>
            <a:r>
              <a:rPr lang="en-US" sz="3600"/>
              <a:t>TF-IDF Narratives cont.</a:t>
            </a:r>
          </a:p>
        </p:txBody>
      </p:sp>
      <p:sp>
        <p:nvSpPr>
          <p:cNvPr id="9" name="TextBox 8">
            <a:extLst>
              <a:ext uri="{FF2B5EF4-FFF2-40B4-BE49-F238E27FC236}">
                <a16:creationId xmlns:a16="http://schemas.microsoft.com/office/drawing/2014/main" id="{8A2BC4AF-510F-58E7-5A50-477EDF8DBFB7}"/>
              </a:ext>
            </a:extLst>
          </p:cNvPr>
          <p:cNvSpPr txBox="1"/>
          <p:nvPr/>
        </p:nvSpPr>
        <p:spPr>
          <a:xfrm>
            <a:off x="512973" y="1592259"/>
            <a:ext cx="11275618" cy="2246769"/>
          </a:xfrm>
          <a:prstGeom prst="rect">
            <a:avLst/>
          </a:prstGeom>
          <a:solidFill>
            <a:schemeClr val="bg1">
              <a:lumMod val="95000"/>
            </a:schemeClr>
          </a:solidFill>
          <a:ln w="28575">
            <a:solidFill>
              <a:schemeClr val="tx1"/>
            </a:solidFill>
          </a:ln>
        </p:spPr>
        <p:txBody>
          <a:bodyPr wrap="square" rtlCol="0">
            <a:spAutoFit/>
          </a:bodyPr>
          <a:lstStyle/>
          <a:p>
            <a:r>
              <a:rPr lang="en-US" sz="2000"/>
              <a:t>I have two sets of words that represent different narratives or themes. </a:t>
            </a:r>
          </a:p>
          <a:p>
            <a:r>
              <a:rPr lang="en-US" sz="2000"/>
              <a:t>Please analyze the differences between the two sets and describe the narratives or themes they represent.</a:t>
            </a:r>
          </a:p>
          <a:p>
            <a:br>
              <a:rPr lang="en-US" sz="2000"/>
            </a:br>
            <a:r>
              <a:rPr lang="en-US" sz="2000"/>
              <a:t>[feed words]</a:t>
            </a:r>
          </a:p>
          <a:p>
            <a:endParaRPr lang="en-US" sz="2000"/>
          </a:p>
          <a:p>
            <a:r>
              <a:rPr lang="en-US" sz="2000"/>
              <a:t>What are the differences in the narratives or themes between these two sets of words? Please provide a detailed analysis.</a:t>
            </a:r>
          </a:p>
        </p:txBody>
      </p:sp>
      <p:sp>
        <p:nvSpPr>
          <p:cNvPr id="11" name="TextBox 10">
            <a:extLst>
              <a:ext uri="{FF2B5EF4-FFF2-40B4-BE49-F238E27FC236}">
                <a16:creationId xmlns:a16="http://schemas.microsoft.com/office/drawing/2014/main" id="{15D72FBC-1DB0-40E8-AC37-530A2C73A450}"/>
              </a:ext>
            </a:extLst>
          </p:cNvPr>
          <p:cNvSpPr txBox="1"/>
          <p:nvPr/>
        </p:nvSpPr>
        <p:spPr>
          <a:xfrm>
            <a:off x="421345" y="1038148"/>
            <a:ext cx="1524000" cy="461665"/>
          </a:xfrm>
          <a:prstGeom prst="rect">
            <a:avLst/>
          </a:prstGeom>
          <a:noFill/>
        </p:spPr>
        <p:txBody>
          <a:bodyPr wrap="square">
            <a:spAutoFit/>
          </a:bodyPr>
          <a:lstStyle/>
          <a:p>
            <a:r>
              <a:rPr lang="en-US" sz="2400" b="1"/>
              <a:t>Prompt:</a:t>
            </a:r>
          </a:p>
        </p:txBody>
      </p:sp>
      <p:sp>
        <p:nvSpPr>
          <p:cNvPr id="4" name="TextBox 3">
            <a:extLst>
              <a:ext uri="{FF2B5EF4-FFF2-40B4-BE49-F238E27FC236}">
                <a16:creationId xmlns:a16="http://schemas.microsoft.com/office/drawing/2014/main" id="{171A7BF0-197F-6C08-E7E3-B3FC252B1281}"/>
              </a:ext>
            </a:extLst>
          </p:cNvPr>
          <p:cNvSpPr txBox="1"/>
          <p:nvPr/>
        </p:nvSpPr>
        <p:spPr>
          <a:xfrm>
            <a:off x="421345" y="3880509"/>
            <a:ext cx="2994208" cy="461665"/>
          </a:xfrm>
          <a:prstGeom prst="rect">
            <a:avLst/>
          </a:prstGeom>
          <a:noFill/>
        </p:spPr>
        <p:txBody>
          <a:bodyPr wrap="square">
            <a:spAutoFit/>
          </a:bodyPr>
          <a:lstStyle/>
          <a:p>
            <a:r>
              <a:rPr lang="en-US" sz="2400" b="1"/>
              <a:t>Truncated Response:</a:t>
            </a:r>
          </a:p>
        </p:txBody>
      </p:sp>
      <p:sp>
        <p:nvSpPr>
          <p:cNvPr id="5" name="TextBox 4">
            <a:extLst>
              <a:ext uri="{FF2B5EF4-FFF2-40B4-BE49-F238E27FC236}">
                <a16:creationId xmlns:a16="http://schemas.microsoft.com/office/drawing/2014/main" id="{530094D9-EEC0-47A2-D0F4-20EC557B640A}"/>
              </a:ext>
            </a:extLst>
          </p:cNvPr>
          <p:cNvSpPr txBox="1"/>
          <p:nvPr/>
        </p:nvSpPr>
        <p:spPr>
          <a:xfrm>
            <a:off x="519509" y="4395242"/>
            <a:ext cx="11275618" cy="1631216"/>
          </a:xfrm>
          <a:prstGeom prst="rect">
            <a:avLst/>
          </a:prstGeom>
          <a:solidFill>
            <a:schemeClr val="bg1">
              <a:lumMod val="95000"/>
            </a:schemeClr>
          </a:solidFill>
          <a:ln w="28575">
            <a:solidFill>
              <a:schemeClr val="tx1"/>
            </a:solidFill>
          </a:ln>
        </p:spPr>
        <p:txBody>
          <a:bodyPr wrap="square" rtlCol="0">
            <a:spAutoFit/>
          </a:bodyPr>
          <a:lstStyle/>
          <a:p>
            <a:r>
              <a:rPr lang="en-US" sz="2000"/>
              <a:t>These two sets of words represent contrasting approaches to community betterment. Set 1 depicts a traditional, philanthropic model of giving, while Set 2 represents a more focused and socially conscious approach that aims to address systemic inequalities and empower specific marginalized communities. The PCA component likely separates these two philosophies or approaches to community development based on their underlying language and emphasis.</a:t>
            </a:r>
          </a:p>
        </p:txBody>
      </p:sp>
    </p:spTree>
    <p:extLst>
      <p:ext uri="{BB962C8B-B14F-4D97-AF65-F5344CB8AC3E}">
        <p14:creationId xmlns:p14="http://schemas.microsoft.com/office/powerpoint/2010/main" val="1977866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68304-592C-7223-2483-D89FEC1086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856403-CC66-3062-28C8-9A32C607CC3F}"/>
              </a:ext>
            </a:extLst>
          </p:cNvPr>
          <p:cNvSpPr>
            <a:spLocks noGrp="1"/>
          </p:cNvSpPr>
          <p:nvPr>
            <p:ph type="sldNum" sz="quarter" idx="12"/>
          </p:nvPr>
        </p:nvSpPr>
        <p:spPr/>
        <p:txBody>
          <a:bodyPr/>
          <a:lstStyle/>
          <a:p>
            <a:fld id="{DFA4CD3D-26C8-47FF-8D13-9B32BAAB4735}" type="slidenum">
              <a:rPr lang="en-US" smtClean="0"/>
              <a:t>29</a:t>
            </a:fld>
            <a:endParaRPr lang="en-US"/>
          </a:p>
        </p:txBody>
      </p:sp>
      <p:sp>
        <p:nvSpPr>
          <p:cNvPr id="3" name="Title 2">
            <a:extLst>
              <a:ext uri="{FF2B5EF4-FFF2-40B4-BE49-F238E27FC236}">
                <a16:creationId xmlns:a16="http://schemas.microsoft.com/office/drawing/2014/main" id="{A345DFEC-32D3-999E-504E-6ABDD941967E}"/>
              </a:ext>
            </a:extLst>
          </p:cNvPr>
          <p:cNvSpPr>
            <a:spLocks noGrp="1"/>
          </p:cNvSpPr>
          <p:nvPr>
            <p:ph type="title"/>
          </p:nvPr>
        </p:nvSpPr>
        <p:spPr>
          <a:xfrm>
            <a:off x="396429" y="466335"/>
            <a:ext cx="11398253" cy="838854"/>
          </a:xfrm>
        </p:spPr>
        <p:txBody>
          <a:bodyPr>
            <a:normAutofit/>
          </a:bodyPr>
          <a:lstStyle/>
          <a:p>
            <a:r>
              <a:rPr lang="en-US" sz="3600"/>
              <a:t>“Misclassified” Points from UMAP</a:t>
            </a:r>
          </a:p>
        </p:txBody>
      </p:sp>
      <p:sp>
        <p:nvSpPr>
          <p:cNvPr id="15" name="Rectangle 14">
            <a:extLst>
              <a:ext uri="{FF2B5EF4-FFF2-40B4-BE49-F238E27FC236}">
                <a16:creationId xmlns:a16="http://schemas.microsoft.com/office/drawing/2014/main" id="{D54045FD-1C2D-00EE-760D-D02BF0DA9100}"/>
              </a:ext>
            </a:extLst>
          </p:cNvPr>
          <p:cNvSpPr/>
          <p:nvPr/>
        </p:nvSpPr>
        <p:spPr>
          <a:xfrm>
            <a:off x="1123720" y="1026164"/>
            <a:ext cx="6896560" cy="279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649AD9F-D329-A09D-34C8-864027070C4F}"/>
              </a:ext>
            </a:extLst>
          </p:cNvPr>
          <p:cNvSpPr txBox="1"/>
          <p:nvPr/>
        </p:nvSpPr>
        <p:spPr>
          <a:xfrm>
            <a:off x="8137709" y="2213905"/>
            <a:ext cx="4026776" cy="430887"/>
          </a:xfrm>
          <a:prstGeom prst="rect">
            <a:avLst/>
          </a:prstGeom>
          <a:noFill/>
        </p:spPr>
        <p:txBody>
          <a:bodyPr wrap="square" rtlCol="0">
            <a:spAutoFit/>
          </a:bodyPr>
          <a:lstStyle/>
          <a:p>
            <a:r>
              <a:rPr lang="en-US" sz="2200"/>
              <a:t>Public-Private Governance</a:t>
            </a:r>
          </a:p>
        </p:txBody>
      </p:sp>
      <p:sp>
        <p:nvSpPr>
          <p:cNvPr id="25" name="TextBox 24">
            <a:extLst>
              <a:ext uri="{FF2B5EF4-FFF2-40B4-BE49-F238E27FC236}">
                <a16:creationId xmlns:a16="http://schemas.microsoft.com/office/drawing/2014/main" id="{EC92F22C-063A-6452-9EA0-AF5B26FE93E8}"/>
              </a:ext>
            </a:extLst>
          </p:cNvPr>
          <p:cNvSpPr txBox="1"/>
          <p:nvPr/>
        </p:nvSpPr>
        <p:spPr>
          <a:xfrm>
            <a:off x="8137709" y="2774194"/>
            <a:ext cx="4026776" cy="430887"/>
          </a:xfrm>
          <a:prstGeom prst="rect">
            <a:avLst/>
          </a:prstGeom>
          <a:noFill/>
        </p:spPr>
        <p:txBody>
          <a:bodyPr wrap="square" rtlCol="0">
            <a:spAutoFit/>
          </a:bodyPr>
          <a:lstStyle/>
          <a:p>
            <a:r>
              <a:rPr lang="en-US" sz="2200"/>
              <a:t>Social Change</a:t>
            </a:r>
          </a:p>
        </p:txBody>
      </p:sp>
      <p:sp>
        <p:nvSpPr>
          <p:cNvPr id="20" name="TextBox 19">
            <a:extLst>
              <a:ext uri="{FF2B5EF4-FFF2-40B4-BE49-F238E27FC236}">
                <a16:creationId xmlns:a16="http://schemas.microsoft.com/office/drawing/2014/main" id="{A3F907AA-616D-1A8F-D8DA-1F3E21972DC0}"/>
              </a:ext>
            </a:extLst>
          </p:cNvPr>
          <p:cNvSpPr txBox="1"/>
          <p:nvPr/>
        </p:nvSpPr>
        <p:spPr>
          <a:xfrm>
            <a:off x="8137709" y="1114250"/>
            <a:ext cx="4026776" cy="430887"/>
          </a:xfrm>
          <a:prstGeom prst="rect">
            <a:avLst/>
          </a:prstGeom>
          <a:noFill/>
        </p:spPr>
        <p:txBody>
          <a:bodyPr wrap="square" rtlCol="0">
            <a:spAutoFit/>
          </a:bodyPr>
          <a:lstStyle/>
          <a:p>
            <a:r>
              <a:rPr lang="en-US" sz="2200"/>
              <a:t>Philanthropic Community Trust</a:t>
            </a:r>
          </a:p>
        </p:txBody>
      </p:sp>
      <p:sp>
        <p:nvSpPr>
          <p:cNvPr id="23" name="TextBox 22">
            <a:extLst>
              <a:ext uri="{FF2B5EF4-FFF2-40B4-BE49-F238E27FC236}">
                <a16:creationId xmlns:a16="http://schemas.microsoft.com/office/drawing/2014/main" id="{C1E4630B-1DD2-5894-EC22-AE733E9BA22D}"/>
              </a:ext>
            </a:extLst>
          </p:cNvPr>
          <p:cNvSpPr txBox="1"/>
          <p:nvPr/>
        </p:nvSpPr>
        <p:spPr>
          <a:xfrm>
            <a:off x="8137709" y="1686948"/>
            <a:ext cx="4026776" cy="430887"/>
          </a:xfrm>
          <a:prstGeom prst="rect">
            <a:avLst/>
          </a:prstGeom>
          <a:noFill/>
        </p:spPr>
        <p:txBody>
          <a:bodyPr wrap="square" rtlCol="0">
            <a:spAutoFit/>
          </a:bodyPr>
          <a:lstStyle/>
          <a:p>
            <a:r>
              <a:rPr lang="en-US" sz="2200"/>
              <a:t>Donor Services</a:t>
            </a:r>
          </a:p>
        </p:txBody>
      </p:sp>
      <p:grpSp>
        <p:nvGrpSpPr>
          <p:cNvPr id="22" name="Group 21">
            <a:extLst>
              <a:ext uri="{FF2B5EF4-FFF2-40B4-BE49-F238E27FC236}">
                <a16:creationId xmlns:a16="http://schemas.microsoft.com/office/drawing/2014/main" id="{69FA938B-2458-9231-0409-3464D8BD093A}"/>
              </a:ext>
            </a:extLst>
          </p:cNvPr>
          <p:cNvGrpSpPr/>
          <p:nvPr/>
        </p:nvGrpSpPr>
        <p:grpSpPr>
          <a:xfrm>
            <a:off x="7835957" y="1194207"/>
            <a:ext cx="306049" cy="1941535"/>
            <a:chOff x="9300659" y="1135222"/>
            <a:chExt cx="306049" cy="1941535"/>
          </a:xfrm>
        </p:grpSpPr>
        <p:sp>
          <p:nvSpPr>
            <p:cNvPr id="13" name="Flowchart: Connector 12">
              <a:extLst>
                <a:ext uri="{FF2B5EF4-FFF2-40B4-BE49-F238E27FC236}">
                  <a16:creationId xmlns:a16="http://schemas.microsoft.com/office/drawing/2014/main" id="{A0803DD3-0521-8899-48C6-CC70F28EEBB7}"/>
                </a:ext>
              </a:extLst>
            </p:cNvPr>
            <p:cNvSpPr/>
            <p:nvPr/>
          </p:nvSpPr>
          <p:spPr>
            <a:xfrm>
              <a:off x="9309253" y="1693308"/>
              <a:ext cx="297455" cy="297456"/>
            </a:xfrm>
            <a:prstGeom prst="flowChartConnector">
              <a:avLst/>
            </a:prstGeom>
            <a:solidFill>
              <a:srgbClr val="CA002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5C736B8-DFC4-59CF-9F80-693EC375A230}"/>
                </a:ext>
              </a:extLst>
            </p:cNvPr>
            <p:cNvSpPr/>
            <p:nvPr/>
          </p:nvSpPr>
          <p:spPr>
            <a:xfrm>
              <a:off x="9304956" y="2221215"/>
              <a:ext cx="297455" cy="301752"/>
            </a:xfrm>
            <a:prstGeom prst="rect">
              <a:avLst/>
            </a:prstGeom>
            <a:solidFill>
              <a:srgbClr val="F4A5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6D22E298-4E01-8E9E-F05A-5903D7366A89}"/>
                </a:ext>
              </a:extLst>
            </p:cNvPr>
            <p:cNvSpPr/>
            <p:nvPr/>
          </p:nvSpPr>
          <p:spPr>
            <a:xfrm>
              <a:off x="9300659" y="2775005"/>
              <a:ext cx="301752" cy="301752"/>
            </a:xfrm>
            <a:prstGeom prst="triangle">
              <a:avLst/>
            </a:prstGeom>
            <a:solidFill>
              <a:srgbClr val="92C5D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5C7BB245-6FA7-9417-6CC6-D8DB56C2BCA2}"/>
                </a:ext>
              </a:extLst>
            </p:cNvPr>
            <p:cNvSpPr/>
            <p:nvPr/>
          </p:nvSpPr>
          <p:spPr>
            <a:xfrm>
              <a:off x="9304956" y="1135222"/>
              <a:ext cx="301752" cy="301752"/>
            </a:xfrm>
            <a:prstGeom prst="diamond">
              <a:avLst/>
            </a:prstGeom>
            <a:solidFill>
              <a:srgbClr val="0571B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with different colored squares&#10;&#10;AI-generated content may be incorrect.">
            <a:extLst>
              <a:ext uri="{FF2B5EF4-FFF2-40B4-BE49-F238E27FC236}">
                <a16:creationId xmlns:a16="http://schemas.microsoft.com/office/drawing/2014/main" id="{11181026-6D89-1FBF-186B-D8424A099232}"/>
              </a:ext>
            </a:extLst>
          </p:cNvPr>
          <p:cNvPicPr>
            <a:picLocks noChangeAspect="1"/>
          </p:cNvPicPr>
          <p:nvPr/>
        </p:nvPicPr>
        <p:blipFill>
          <a:blip r:embed="rId3">
            <a:extLst>
              <a:ext uri="{28A0092B-C50C-407E-A947-70E740481C1C}">
                <a14:useLocalDpi xmlns:a14="http://schemas.microsoft.com/office/drawing/2010/main" val="0"/>
              </a:ext>
            </a:extLst>
          </a:blip>
          <a:srcRect l="5106" t="6800" r="7633" b="4739"/>
          <a:stretch>
            <a:fillRect/>
          </a:stretch>
        </p:blipFill>
        <p:spPr>
          <a:xfrm>
            <a:off x="572877" y="922825"/>
            <a:ext cx="6566053" cy="5325087"/>
          </a:xfrm>
          <a:prstGeom prst="rect">
            <a:avLst/>
          </a:prstGeom>
        </p:spPr>
      </p:pic>
      <p:sp>
        <p:nvSpPr>
          <p:cNvPr id="7" name="Rectangle 6">
            <a:extLst>
              <a:ext uri="{FF2B5EF4-FFF2-40B4-BE49-F238E27FC236}">
                <a16:creationId xmlns:a16="http://schemas.microsoft.com/office/drawing/2014/main" id="{1FB5BA3C-C8FE-8ACF-7908-B35F47F33B86}"/>
              </a:ext>
            </a:extLst>
          </p:cNvPr>
          <p:cNvSpPr/>
          <p:nvPr/>
        </p:nvSpPr>
        <p:spPr>
          <a:xfrm>
            <a:off x="5706738" y="1283155"/>
            <a:ext cx="1225899" cy="744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2753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DACD3-DA97-C4E0-47A0-1C06EC7DAB9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B85C48-0D78-6153-EB65-D4FF98231C6C}"/>
              </a:ext>
            </a:extLst>
          </p:cNvPr>
          <p:cNvSpPr>
            <a:spLocks noGrp="1"/>
          </p:cNvSpPr>
          <p:nvPr>
            <p:ph type="sldNum" sz="quarter" idx="12"/>
          </p:nvPr>
        </p:nvSpPr>
        <p:spPr/>
        <p:txBody>
          <a:bodyPr/>
          <a:lstStyle/>
          <a:p>
            <a:fld id="{DFA4CD3D-26C8-47FF-8D13-9B32BAAB4735}" type="slidenum">
              <a:rPr lang="en-US" smtClean="0"/>
              <a:t>30</a:t>
            </a:fld>
            <a:endParaRPr lang="en-US"/>
          </a:p>
        </p:txBody>
      </p:sp>
      <p:sp>
        <p:nvSpPr>
          <p:cNvPr id="3" name="Title 2">
            <a:extLst>
              <a:ext uri="{FF2B5EF4-FFF2-40B4-BE49-F238E27FC236}">
                <a16:creationId xmlns:a16="http://schemas.microsoft.com/office/drawing/2014/main" id="{D6962001-E4E3-D233-0266-287B13C26168}"/>
              </a:ext>
            </a:extLst>
          </p:cNvPr>
          <p:cNvSpPr>
            <a:spLocks noGrp="1"/>
          </p:cNvSpPr>
          <p:nvPr>
            <p:ph type="title"/>
          </p:nvPr>
        </p:nvSpPr>
        <p:spPr>
          <a:xfrm>
            <a:off x="396429" y="466335"/>
            <a:ext cx="11398253" cy="838854"/>
          </a:xfrm>
        </p:spPr>
        <p:txBody>
          <a:bodyPr>
            <a:normAutofit/>
          </a:bodyPr>
          <a:lstStyle/>
          <a:p>
            <a:r>
              <a:rPr lang="en-US" sz="3600"/>
              <a:t>“Misclassified” Points from PCA/UMAP</a:t>
            </a:r>
          </a:p>
        </p:txBody>
      </p:sp>
      <p:sp>
        <p:nvSpPr>
          <p:cNvPr id="11" name="TextBox 10">
            <a:extLst>
              <a:ext uri="{FF2B5EF4-FFF2-40B4-BE49-F238E27FC236}">
                <a16:creationId xmlns:a16="http://schemas.microsoft.com/office/drawing/2014/main" id="{BAE7B4DF-4EE7-4BEA-9478-E8606FF741E0}"/>
              </a:ext>
            </a:extLst>
          </p:cNvPr>
          <p:cNvSpPr txBox="1"/>
          <p:nvPr/>
        </p:nvSpPr>
        <p:spPr>
          <a:xfrm>
            <a:off x="421345" y="1379675"/>
            <a:ext cx="2994208" cy="461665"/>
          </a:xfrm>
          <a:prstGeom prst="rect">
            <a:avLst/>
          </a:prstGeom>
          <a:noFill/>
        </p:spPr>
        <p:txBody>
          <a:bodyPr wrap="square">
            <a:spAutoFit/>
          </a:bodyPr>
          <a:lstStyle/>
          <a:p>
            <a:r>
              <a:rPr lang="en-US" sz="2400" b="1"/>
              <a:t>Prompt:</a:t>
            </a:r>
          </a:p>
        </p:txBody>
      </p:sp>
      <p:sp>
        <p:nvSpPr>
          <p:cNvPr id="4" name="TextBox 3">
            <a:extLst>
              <a:ext uri="{FF2B5EF4-FFF2-40B4-BE49-F238E27FC236}">
                <a16:creationId xmlns:a16="http://schemas.microsoft.com/office/drawing/2014/main" id="{106B681F-DF81-9A40-2851-F3EF597DBBE3}"/>
              </a:ext>
            </a:extLst>
          </p:cNvPr>
          <p:cNvSpPr txBox="1"/>
          <p:nvPr/>
        </p:nvSpPr>
        <p:spPr>
          <a:xfrm>
            <a:off x="519064" y="1915826"/>
            <a:ext cx="11275618" cy="1938992"/>
          </a:xfrm>
          <a:prstGeom prst="rect">
            <a:avLst/>
          </a:prstGeom>
          <a:solidFill>
            <a:schemeClr val="bg1">
              <a:lumMod val="95000"/>
            </a:schemeClr>
          </a:solidFill>
          <a:ln w="28575">
            <a:solidFill>
              <a:schemeClr val="tx1"/>
            </a:solidFill>
          </a:ln>
        </p:spPr>
        <p:txBody>
          <a:bodyPr wrap="square" rtlCol="0">
            <a:spAutoFit/>
          </a:bodyPr>
          <a:lstStyle/>
          <a:p>
            <a:r>
              <a:rPr lang="en-US" sz="2000"/>
              <a:t>I have excerpts grouped by different logics. Please analyze the narratives and themes present in each logic. Then, compare the narratives and themes between the logics. What is similar or different?</a:t>
            </a:r>
          </a:p>
          <a:p>
            <a:endParaRPr lang="en-US" sz="2000"/>
          </a:p>
          <a:p>
            <a:r>
              <a:rPr lang="en-US" sz="2000"/>
              <a:t>Now that you have analyzed the four logics, here are some excerpts that were misclassified:</a:t>
            </a:r>
          </a:p>
          <a:p>
            <a:endParaRPr lang="en-US" sz="2000"/>
          </a:p>
          <a:p>
            <a:r>
              <a:rPr lang="en-US" sz="2000"/>
              <a:t>Why do you think these excerpts were misclassified? Please provide an analysis.</a:t>
            </a:r>
          </a:p>
        </p:txBody>
      </p:sp>
      <p:sp>
        <p:nvSpPr>
          <p:cNvPr id="5" name="TextBox 4">
            <a:extLst>
              <a:ext uri="{FF2B5EF4-FFF2-40B4-BE49-F238E27FC236}">
                <a16:creationId xmlns:a16="http://schemas.microsoft.com/office/drawing/2014/main" id="{ABA67EA6-0001-B233-6D42-93D3D2115CEE}"/>
              </a:ext>
            </a:extLst>
          </p:cNvPr>
          <p:cNvSpPr txBox="1"/>
          <p:nvPr/>
        </p:nvSpPr>
        <p:spPr>
          <a:xfrm>
            <a:off x="421345" y="4003790"/>
            <a:ext cx="2994208" cy="461665"/>
          </a:xfrm>
          <a:prstGeom prst="rect">
            <a:avLst/>
          </a:prstGeom>
          <a:noFill/>
        </p:spPr>
        <p:txBody>
          <a:bodyPr wrap="square">
            <a:spAutoFit/>
          </a:bodyPr>
          <a:lstStyle/>
          <a:p>
            <a:r>
              <a:rPr lang="en-US" sz="2400" b="1"/>
              <a:t>Feedback:</a:t>
            </a:r>
          </a:p>
        </p:txBody>
      </p:sp>
      <p:graphicFrame>
        <p:nvGraphicFramePr>
          <p:cNvPr id="7" name="Table 6">
            <a:extLst>
              <a:ext uri="{FF2B5EF4-FFF2-40B4-BE49-F238E27FC236}">
                <a16:creationId xmlns:a16="http://schemas.microsoft.com/office/drawing/2014/main" id="{2BF9B961-DF90-EED1-5410-5AE205E78C50}"/>
              </a:ext>
            </a:extLst>
          </p:cNvPr>
          <p:cNvGraphicFramePr>
            <a:graphicFrameLocks noGrp="1"/>
          </p:cNvGraphicFramePr>
          <p:nvPr>
            <p:extLst>
              <p:ext uri="{D42A27DB-BD31-4B8C-83A1-F6EECF244321}">
                <p14:modId xmlns:p14="http://schemas.microsoft.com/office/powerpoint/2010/main" val="1282073312"/>
              </p:ext>
            </p:extLst>
          </p:nvPr>
        </p:nvGraphicFramePr>
        <p:xfrm>
          <a:off x="519063" y="4523549"/>
          <a:ext cx="10420686" cy="1188720"/>
        </p:xfrm>
        <a:graphic>
          <a:graphicData uri="http://schemas.openxmlformats.org/drawingml/2006/table">
            <a:tbl>
              <a:tblPr firstRow="1" bandRow="1">
                <a:tableStyleId>{5C22544A-7EE6-4342-B048-85BDC9FD1C3A}</a:tableStyleId>
              </a:tblPr>
              <a:tblGrid>
                <a:gridCol w="5210343">
                  <a:extLst>
                    <a:ext uri="{9D8B030D-6E8A-4147-A177-3AD203B41FA5}">
                      <a16:colId xmlns:a16="http://schemas.microsoft.com/office/drawing/2014/main" val="3408853358"/>
                    </a:ext>
                  </a:extLst>
                </a:gridCol>
                <a:gridCol w="5210343">
                  <a:extLst>
                    <a:ext uri="{9D8B030D-6E8A-4147-A177-3AD203B41FA5}">
                      <a16:colId xmlns:a16="http://schemas.microsoft.com/office/drawing/2014/main" val="1505370027"/>
                    </a:ext>
                  </a:extLst>
                </a:gridCol>
              </a:tblGrid>
              <a:tr h="370840">
                <a:tc>
                  <a:txBody>
                    <a:bodyPr/>
                    <a:lstStyle/>
                    <a:p>
                      <a:pPr marL="342900" indent="-342900">
                        <a:buFont typeface="Arial" panose="020B0604020202020204" pitchFamily="34" charset="0"/>
                        <a:buChar char="•"/>
                      </a:pPr>
                      <a:r>
                        <a:rPr lang="en-US" sz="2400" b="0"/>
                        <a:t>Overlapping Themes</a:t>
                      </a:r>
                    </a:p>
                    <a:p>
                      <a:pPr marL="342900" indent="-342900">
                        <a:buFont typeface="Arial" panose="020B0604020202020204" pitchFamily="34" charset="0"/>
                        <a:buChar char="•"/>
                      </a:pPr>
                      <a:r>
                        <a:rPr lang="en-US" sz="2400" b="0"/>
                        <a:t>Lack of Specificity</a:t>
                      </a:r>
                    </a:p>
                    <a:p>
                      <a:pPr marL="342900" indent="-342900">
                        <a:buFont typeface="Arial" panose="020B0604020202020204" pitchFamily="34" charset="0"/>
                        <a:buChar char="•"/>
                      </a:pPr>
                      <a:r>
                        <a:rPr lang="en-US" sz="2400" b="0"/>
                        <a:t>Difficulty Distinguishing Intent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US" sz="2400" b="0"/>
                        <a:t>Misinterpreting "Community”</a:t>
                      </a:r>
                    </a:p>
                    <a:p>
                      <a:pPr marL="342900" indent="-342900">
                        <a:buFont typeface="Arial" panose="020B0604020202020204" pitchFamily="34" charset="0"/>
                        <a:buChar char="•"/>
                      </a:pPr>
                      <a:r>
                        <a:rPr lang="en-US" sz="2400" b="0"/>
                        <a:t>Too Focused on Keywords</a:t>
                      </a:r>
                    </a:p>
                    <a:p>
                      <a:pPr marL="342900" indent="-342900">
                        <a:buFont typeface="Arial" panose="020B0604020202020204" pitchFamily="34" charset="0"/>
                        <a:buChar char="•"/>
                      </a:pPr>
                      <a:r>
                        <a:rPr lang="en-US" sz="2400" b="0"/>
                        <a:t>Focus on Outcomes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6456082"/>
                  </a:ext>
                </a:extLst>
              </a:tr>
            </a:tbl>
          </a:graphicData>
        </a:graphic>
      </p:graphicFrame>
    </p:spTree>
    <p:extLst>
      <p:ext uri="{BB962C8B-B14F-4D97-AF65-F5344CB8AC3E}">
        <p14:creationId xmlns:p14="http://schemas.microsoft.com/office/powerpoint/2010/main" val="1624540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95181-C337-1344-0CBA-F4639F6FDC9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7CFA2B-C973-BF25-2D16-526DB26F08D9}"/>
              </a:ext>
            </a:extLst>
          </p:cNvPr>
          <p:cNvSpPr>
            <a:spLocks noGrp="1"/>
          </p:cNvSpPr>
          <p:nvPr>
            <p:ph type="sldNum" sz="quarter" idx="12"/>
          </p:nvPr>
        </p:nvSpPr>
        <p:spPr/>
        <p:txBody>
          <a:bodyPr/>
          <a:lstStyle/>
          <a:p>
            <a:fld id="{DFA4CD3D-26C8-47FF-8D13-9B32BAAB4735}" type="slidenum">
              <a:rPr lang="en-US" smtClean="0"/>
              <a:t>31</a:t>
            </a:fld>
            <a:endParaRPr lang="en-US"/>
          </a:p>
        </p:txBody>
      </p:sp>
      <p:sp>
        <p:nvSpPr>
          <p:cNvPr id="3" name="Title 2">
            <a:extLst>
              <a:ext uri="{FF2B5EF4-FFF2-40B4-BE49-F238E27FC236}">
                <a16:creationId xmlns:a16="http://schemas.microsoft.com/office/drawing/2014/main" id="{6A610474-121A-A172-F5DD-AF846456FC56}"/>
              </a:ext>
            </a:extLst>
          </p:cNvPr>
          <p:cNvSpPr>
            <a:spLocks noGrp="1"/>
          </p:cNvSpPr>
          <p:nvPr>
            <p:ph type="title"/>
          </p:nvPr>
        </p:nvSpPr>
        <p:spPr>
          <a:xfrm>
            <a:off x="396429" y="466335"/>
            <a:ext cx="11398253" cy="838854"/>
          </a:xfrm>
        </p:spPr>
        <p:txBody>
          <a:bodyPr>
            <a:normAutofit/>
          </a:bodyPr>
          <a:lstStyle/>
          <a:p>
            <a:r>
              <a:rPr lang="en-US" sz="3600"/>
              <a:t>Prompt Schema</a:t>
            </a:r>
          </a:p>
        </p:txBody>
      </p:sp>
      <p:sp>
        <p:nvSpPr>
          <p:cNvPr id="5" name="Content Placeholder 4">
            <a:extLst>
              <a:ext uri="{FF2B5EF4-FFF2-40B4-BE49-F238E27FC236}">
                <a16:creationId xmlns:a16="http://schemas.microsoft.com/office/drawing/2014/main" id="{8065EED8-152B-60ED-5A2A-35170614333C}"/>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r>
              <a:rPr lang="en-US"/>
              <a:t>Task Information</a:t>
            </a:r>
          </a:p>
          <a:p>
            <a:pPr marL="342900" indent="-342900">
              <a:buFont typeface="Arial" panose="020B0604020202020204" pitchFamily="34" charset="0"/>
              <a:buChar char="•"/>
            </a:pPr>
            <a:r>
              <a:rPr lang="en-US"/>
              <a:t>Logic Definitions</a:t>
            </a:r>
          </a:p>
          <a:p>
            <a:pPr marL="1028700" lvl="1" indent="-342900"/>
            <a:r>
              <a:rPr lang="en-US"/>
              <a:t>Decision rules</a:t>
            </a:r>
          </a:p>
          <a:p>
            <a:pPr marL="342900" indent="-342900">
              <a:buFont typeface="Arial" panose="020B0604020202020204" pitchFamily="34" charset="0"/>
              <a:buChar char="•"/>
            </a:pPr>
            <a:r>
              <a:rPr lang="en-US"/>
              <a:t>Classification Instructions</a:t>
            </a:r>
          </a:p>
          <a:p>
            <a:pPr marL="342900" indent="-342900">
              <a:buFont typeface="Arial" panose="020B0604020202020204" pitchFamily="34" charset="0"/>
              <a:buChar char="•"/>
            </a:pPr>
            <a:r>
              <a:rPr lang="en-US"/>
              <a:t>Formatting Instructions</a:t>
            </a:r>
          </a:p>
          <a:p>
            <a:pPr marL="342900" indent="-342900">
              <a:buFont typeface="Arial" panose="020B0604020202020204" pitchFamily="34" charset="0"/>
              <a:buChar char="•"/>
            </a:pPr>
            <a:r>
              <a:rPr lang="en-US"/>
              <a:t>Markdown styling</a:t>
            </a:r>
          </a:p>
          <a:p>
            <a:pPr marL="342900" indent="-342900">
              <a:buFont typeface="Arial" panose="020B0604020202020204" pitchFamily="34" charset="0"/>
              <a:buChar char="•"/>
            </a:pPr>
            <a:r>
              <a:rPr lang="en-US"/>
              <a:t>Excerpt</a:t>
            </a:r>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1778670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04548-7070-6A46-E412-9C9D9456E0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2332B5-45E2-0160-FB5D-F70BBF69D4B1}"/>
              </a:ext>
            </a:extLst>
          </p:cNvPr>
          <p:cNvSpPr>
            <a:spLocks noGrp="1"/>
          </p:cNvSpPr>
          <p:nvPr>
            <p:ph type="sldNum" sz="quarter" idx="12"/>
          </p:nvPr>
        </p:nvSpPr>
        <p:spPr/>
        <p:txBody>
          <a:bodyPr/>
          <a:lstStyle/>
          <a:p>
            <a:fld id="{DFA4CD3D-26C8-47FF-8D13-9B32BAAB4735}" type="slidenum">
              <a:rPr lang="en-US" smtClean="0"/>
              <a:t>32</a:t>
            </a:fld>
            <a:endParaRPr lang="en-US"/>
          </a:p>
        </p:txBody>
      </p:sp>
      <p:sp>
        <p:nvSpPr>
          <p:cNvPr id="3" name="Title 2">
            <a:extLst>
              <a:ext uri="{FF2B5EF4-FFF2-40B4-BE49-F238E27FC236}">
                <a16:creationId xmlns:a16="http://schemas.microsoft.com/office/drawing/2014/main" id="{33849F94-4DCD-DA08-5EF0-F4014D99A392}"/>
              </a:ext>
            </a:extLst>
          </p:cNvPr>
          <p:cNvSpPr>
            <a:spLocks noGrp="1"/>
          </p:cNvSpPr>
          <p:nvPr>
            <p:ph type="title"/>
          </p:nvPr>
        </p:nvSpPr>
        <p:spPr>
          <a:xfrm>
            <a:off x="396429" y="466335"/>
            <a:ext cx="11398253" cy="838854"/>
          </a:xfrm>
        </p:spPr>
        <p:txBody>
          <a:bodyPr>
            <a:normAutofit/>
          </a:bodyPr>
          <a:lstStyle/>
          <a:p>
            <a:r>
              <a:rPr lang="en-US" sz="3600"/>
              <a:t>Prompt Accuracy Stats</a:t>
            </a:r>
          </a:p>
        </p:txBody>
      </p:sp>
      <p:sp>
        <p:nvSpPr>
          <p:cNvPr id="5" name="Content Placeholder 4">
            <a:extLst>
              <a:ext uri="{FF2B5EF4-FFF2-40B4-BE49-F238E27FC236}">
                <a16:creationId xmlns:a16="http://schemas.microsoft.com/office/drawing/2014/main" id="{B5F85292-E2C6-61B2-BAF9-EDA6F8286151}"/>
              </a:ext>
            </a:extLst>
          </p:cNvPr>
          <p:cNvSpPr>
            <a:spLocks noGrp="1"/>
          </p:cNvSpPr>
          <p:nvPr>
            <p:ph idx="1"/>
          </p:nvPr>
        </p:nvSpPr>
        <p:spPr>
          <a:xfrm>
            <a:off x="336577" y="5470531"/>
            <a:ext cx="4410151" cy="326171"/>
          </a:xfrm>
        </p:spPr>
        <p:txBody>
          <a:bodyPr>
            <a:normAutofit fontScale="92500" lnSpcReduction="20000"/>
          </a:bodyPr>
          <a:lstStyle/>
          <a:p>
            <a:r>
              <a:rPr lang="en-US"/>
              <a:t>Interrater Reliability Kappa: 0.623</a:t>
            </a:r>
          </a:p>
          <a:p>
            <a:pPr marL="342900" indent="-342900">
              <a:buFont typeface="Arial" panose="020B0604020202020204" pitchFamily="34" charset="0"/>
              <a:buChar char="•"/>
            </a:pPr>
            <a:endParaRPr lang="en-US"/>
          </a:p>
        </p:txBody>
      </p:sp>
      <p:sp>
        <p:nvSpPr>
          <p:cNvPr id="11" name="Rectangle 10">
            <a:extLst>
              <a:ext uri="{FF2B5EF4-FFF2-40B4-BE49-F238E27FC236}">
                <a16:creationId xmlns:a16="http://schemas.microsoft.com/office/drawing/2014/main" id="{CF457671-8236-863D-AADB-30AF83425653}"/>
              </a:ext>
            </a:extLst>
          </p:cNvPr>
          <p:cNvSpPr/>
          <p:nvPr/>
        </p:nvSpPr>
        <p:spPr>
          <a:xfrm>
            <a:off x="6698255" y="1145753"/>
            <a:ext cx="517793" cy="39991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3A67FAE9-AF84-B1A6-A397-4C65CE94A7C9}"/>
              </a:ext>
            </a:extLst>
          </p:cNvPr>
          <p:cNvGraphicFramePr>
            <a:graphicFrameLocks noGrp="1"/>
          </p:cNvGraphicFramePr>
          <p:nvPr>
            <p:extLst>
              <p:ext uri="{D42A27DB-BD31-4B8C-83A1-F6EECF244321}">
                <p14:modId xmlns:p14="http://schemas.microsoft.com/office/powerpoint/2010/main" val="3226009041"/>
              </p:ext>
            </p:extLst>
          </p:nvPr>
        </p:nvGraphicFramePr>
        <p:xfrm>
          <a:off x="396429" y="1513340"/>
          <a:ext cx="5563699" cy="3749040"/>
        </p:xfrm>
        <a:graphic>
          <a:graphicData uri="http://schemas.openxmlformats.org/drawingml/2006/table">
            <a:tbl>
              <a:tblPr firstRow="1" bandRow="1">
                <a:tableStyleId>{5C22544A-7EE6-4342-B048-85BDC9FD1C3A}</a:tableStyleId>
              </a:tblPr>
              <a:tblGrid>
                <a:gridCol w="1839995">
                  <a:extLst>
                    <a:ext uri="{9D8B030D-6E8A-4147-A177-3AD203B41FA5}">
                      <a16:colId xmlns:a16="http://schemas.microsoft.com/office/drawing/2014/main" val="1857454617"/>
                    </a:ext>
                  </a:extLst>
                </a:gridCol>
                <a:gridCol w="930926">
                  <a:extLst>
                    <a:ext uri="{9D8B030D-6E8A-4147-A177-3AD203B41FA5}">
                      <a16:colId xmlns:a16="http://schemas.microsoft.com/office/drawing/2014/main" val="20815352"/>
                    </a:ext>
                  </a:extLst>
                </a:gridCol>
                <a:gridCol w="930926">
                  <a:extLst>
                    <a:ext uri="{9D8B030D-6E8A-4147-A177-3AD203B41FA5}">
                      <a16:colId xmlns:a16="http://schemas.microsoft.com/office/drawing/2014/main" val="606883628"/>
                    </a:ext>
                  </a:extLst>
                </a:gridCol>
                <a:gridCol w="930926">
                  <a:extLst>
                    <a:ext uri="{9D8B030D-6E8A-4147-A177-3AD203B41FA5}">
                      <a16:colId xmlns:a16="http://schemas.microsoft.com/office/drawing/2014/main" val="3593634560"/>
                    </a:ext>
                  </a:extLst>
                </a:gridCol>
                <a:gridCol w="930926">
                  <a:extLst>
                    <a:ext uri="{9D8B030D-6E8A-4147-A177-3AD203B41FA5}">
                      <a16:colId xmlns:a16="http://schemas.microsoft.com/office/drawing/2014/main" val="3782411786"/>
                    </a:ext>
                  </a:extLst>
                </a:gridCol>
              </a:tblGrid>
              <a:tr h="640080">
                <a:tc>
                  <a:txBody>
                    <a:bodyPr/>
                    <a:lstStyle/>
                    <a:p>
                      <a:pPr algn="l"/>
                      <a:r>
                        <a:rPr lang="en-US" sz="2400">
                          <a:solidFill>
                            <a:schemeClr val="tx1"/>
                          </a:solidFill>
                        </a:rPr>
                        <a:t>Accuracy Measure</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1759674350"/>
                  </a:ext>
                </a:extLst>
              </a:tr>
              <a:tr h="640080">
                <a:tc>
                  <a:txBody>
                    <a:bodyPr/>
                    <a:lstStyle/>
                    <a:p>
                      <a:pPr algn="l"/>
                      <a:r>
                        <a:rPr lang="en-US" sz="2400"/>
                        <a:t>Precision</a:t>
                      </a:r>
                    </a:p>
                  </a:txBody>
                  <a:tcPr anchor="ctr">
                    <a:solidFill>
                      <a:schemeClr val="tx1">
                        <a:lumMod val="10000"/>
                        <a:lumOff val="90000"/>
                      </a:schemeClr>
                    </a:solidFill>
                  </a:tcPr>
                </a:tc>
                <a:tc>
                  <a:txBody>
                    <a:bodyPr/>
                    <a:lstStyle/>
                    <a:p>
                      <a:pPr algn="ctr"/>
                      <a:r>
                        <a:rPr lang="en-US" sz="2400"/>
                        <a:t>0.990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0.996</a:t>
                      </a:r>
                    </a:p>
                  </a:txBody>
                  <a:tcPr anchor="ctr">
                    <a:solidFill>
                      <a:srgbClr val="CA0020"/>
                    </a:solidFill>
                  </a:tcPr>
                </a:tc>
                <a:tc>
                  <a:txBody>
                    <a:bodyPr/>
                    <a:lstStyle/>
                    <a:p>
                      <a:pPr algn="ctr"/>
                      <a:r>
                        <a:rPr lang="en-US" sz="2400"/>
                        <a:t>0.991</a:t>
                      </a:r>
                    </a:p>
                  </a:txBody>
                  <a:tcPr anchor="ctr">
                    <a:solidFill>
                      <a:srgbClr val="F4A582"/>
                    </a:solidFill>
                  </a:tcPr>
                </a:tc>
                <a:tc>
                  <a:txBody>
                    <a:bodyPr/>
                    <a:lstStyle/>
                    <a:p>
                      <a:pPr algn="ctr"/>
                      <a:r>
                        <a:rPr lang="en-US" sz="2400"/>
                        <a:t>0.993</a:t>
                      </a:r>
                    </a:p>
                  </a:txBody>
                  <a:tcPr anchor="ctr">
                    <a:solidFill>
                      <a:srgbClr val="92C5DE"/>
                    </a:solidFill>
                  </a:tcPr>
                </a:tc>
                <a:extLst>
                  <a:ext uri="{0D108BD9-81ED-4DB2-BD59-A6C34878D82A}">
                    <a16:rowId xmlns:a16="http://schemas.microsoft.com/office/drawing/2014/main" val="2352800743"/>
                  </a:ext>
                </a:extLst>
              </a:tr>
              <a:tr h="640080">
                <a:tc>
                  <a:txBody>
                    <a:bodyPr/>
                    <a:lstStyle/>
                    <a:p>
                      <a:pPr algn="l"/>
                      <a:r>
                        <a:rPr lang="en-US" sz="2400"/>
                        <a:t>Recall</a:t>
                      </a:r>
                    </a:p>
                  </a:txBody>
                  <a:tcPr anchor="ctr">
                    <a:solidFill>
                      <a:schemeClr val="tx1">
                        <a:lumMod val="10000"/>
                        <a:lumOff val="90000"/>
                      </a:schemeClr>
                    </a:solidFill>
                  </a:tcPr>
                </a:tc>
                <a:tc>
                  <a:txBody>
                    <a:bodyPr/>
                    <a:lstStyle/>
                    <a:p>
                      <a:pPr algn="ctr"/>
                      <a:r>
                        <a:rPr lang="en-US" sz="2400"/>
                        <a:t>0.714</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0.749</a:t>
                      </a:r>
                    </a:p>
                  </a:txBody>
                  <a:tcPr anchor="ctr">
                    <a:solidFill>
                      <a:srgbClr val="CA0020"/>
                    </a:solidFill>
                  </a:tcPr>
                </a:tc>
                <a:tc>
                  <a:txBody>
                    <a:bodyPr/>
                    <a:lstStyle/>
                    <a:p>
                      <a:pPr algn="ctr"/>
                      <a:r>
                        <a:rPr lang="en-US" sz="2400"/>
                        <a:t>0.396</a:t>
                      </a:r>
                    </a:p>
                  </a:txBody>
                  <a:tcPr anchor="ctr">
                    <a:solidFill>
                      <a:srgbClr val="F4A582"/>
                    </a:solidFill>
                  </a:tcPr>
                </a:tc>
                <a:tc>
                  <a:txBody>
                    <a:bodyPr/>
                    <a:lstStyle/>
                    <a:p>
                      <a:pPr algn="ctr"/>
                      <a:r>
                        <a:rPr lang="en-US" sz="2400"/>
                        <a:t>0.858</a:t>
                      </a:r>
                    </a:p>
                  </a:txBody>
                  <a:tcPr anchor="ctr">
                    <a:solidFill>
                      <a:srgbClr val="92C5DE"/>
                    </a:solidFill>
                  </a:tcPr>
                </a:tc>
                <a:extLst>
                  <a:ext uri="{0D108BD9-81ED-4DB2-BD59-A6C34878D82A}">
                    <a16:rowId xmlns:a16="http://schemas.microsoft.com/office/drawing/2014/main" val="2587830922"/>
                  </a:ext>
                </a:extLst>
              </a:tr>
              <a:tr h="640080">
                <a:tc>
                  <a:txBody>
                    <a:bodyPr/>
                    <a:lstStyle/>
                    <a:p>
                      <a:pPr algn="l"/>
                      <a:r>
                        <a:rPr lang="en-US" sz="2400"/>
                        <a:t>Harmonic Mean</a:t>
                      </a:r>
                    </a:p>
                  </a:txBody>
                  <a:tcPr anchor="ctr">
                    <a:solidFill>
                      <a:schemeClr val="tx1">
                        <a:lumMod val="10000"/>
                        <a:lumOff val="90000"/>
                      </a:schemeClr>
                    </a:solidFill>
                  </a:tcPr>
                </a:tc>
                <a:tc>
                  <a:txBody>
                    <a:bodyPr/>
                    <a:lstStyle/>
                    <a:p>
                      <a:pPr algn="ctr"/>
                      <a:r>
                        <a:rPr lang="en-US" sz="2400"/>
                        <a:t>0.829</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0.854</a:t>
                      </a:r>
                    </a:p>
                  </a:txBody>
                  <a:tcPr anchor="ctr">
                    <a:solidFill>
                      <a:srgbClr val="CA0020"/>
                    </a:solidFill>
                  </a:tcPr>
                </a:tc>
                <a:tc>
                  <a:txBody>
                    <a:bodyPr/>
                    <a:lstStyle/>
                    <a:p>
                      <a:pPr algn="ctr"/>
                      <a:r>
                        <a:rPr lang="en-US" sz="2400"/>
                        <a:t>0.565</a:t>
                      </a:r>
                    </a:p>
                  </a:txBody>
                  <a:tcPr anchor="ctr">
                    <a:solidFill>
                      <a:srgbClr val="F4A582"/>
                    </a:solidFill>
                  </a:tcPr>
                </a:tc>
                <a:tc>
                  <a:txBody>
                    <a:bodyPr/>
                    <a:lstStyle/>
                    <a:p>
                      <a:pPr algn="ctr"/>
                      <a:r>
                        <a:rPr lang="en-US" sz="2400"/>
                        <a:t>0.920</a:t>
                      </a:r>
                    </a:p>
                  </a:txBody>
                  <a:tcPr anchor="ctr">
                    <a:solidFill>
                      <a:srgbClr val="92C5DE"/>
                    </a:solidFill>
                  </a:tcPr>
                </a:tc>
                <a:extLst>
                  <a:ext uri="{0D108BD9-81ED-4DB2-BD59-A6C34878D82A}">
                    <a16:rowId xmlns:a16="http://schemas.microsoft.com/office/drawing/2014/main" val="647291644"/>
                  </a:ext>
                </a:extLst>
              </a:tr>
              <a:tr h="640080">
                <a:tc>
                  <a:txBody>
                    <a:bodyPr/>
                    <a:lstStyle/>
                    <a:p>
                      <a:pPr algn="l"/>
                      <a:r>
                        <a:rPr lang="en-US" sz="2400"/>
                        <a:t>Average Uncertainty </a:t>
                      </a:r>
                    </a:p>
                  </a:txBody>
                  <a:tcPr anchor="ctr">
                    <a:solidFill>
                      <a:schemeClr val="tx1">
                        <a:lumMod val="10000"/>
                        <a:lumOff val="90000"/>
                      </a:schemeClr>
                    </a:solidFill>
                  </a:tcPr>
                </a:tc>
                <a:tc>
                  <a:txBody>
                    <a:bodyPr/>
                    <a:lstStyle/>
                    <a:p>
                      <a:pPr algn="ctr"/>
                      <a:r>
                        <a:rPr lang="en-US" sz="2400"/>
                        <a:t>0.668</a:t>
                      </a:r>
                    </a:p>
                  </a:txBody>
                  <a:tcPr anchor="ctr">
                    <a:solidFill>
                      <a:srgbClr val="0571B0"/>
                    </a:solidFill>
                  </a:tcPr>
                </a:tc>
                <a:tc>
                  <a:txBody>
                    <a:bodyPr/>
                    <a:lstStyle/>
                    <a:p>
                      <a:pPr algn="ctr"/>
                      <a:r>
                        <a:rPr lang="en-US" sz="2400"/>
                        <a:t>0.577</a:t>
                      </a:r>
                    </a:p>
                  </a:txBody>
                  <a:tcPr anchor="ctr">
                    <a:solidFill>
                      <a:srgbClr val="CA0020"/>
                    </a:solidFill>
                  </a:tcPr>
                </a:tc>
                <a:tc>
                  <a:txBody>
                    <a:bodyPr/>
                    <a:lstStyle/>
                    <a:p>
                      <a:pPr algn="ctr"/>
                      <a:r>
                        <a:rPr lang="en-US" sz="2400"/>
                        <a:t>0.774</a:t>
                      </a:r>
                    </a:p>
                  </a:txBody>
                  <a:tcPr anchor="ctr">
                    <a:solidFill>
                      <a:srgbClr val="F4A582"/>
                    </a:solidFill>
                  </a:tcPr>
                </a:tc>
                <a:tc>
                  <a:txBody>
                    <a:bodyPr/>
                    <a:lstStyle/>
                    <a:p>
                      <a:pPr algn="ctr"/>
                      <a:r>
                        <a:rPr lang="en-US" sz="2400"/>
                        <a:t>0.604</a:t>
                      </a:r>
                    </a:p>
                  </a:txBody>
                  <a:tcPr anchor="ctr">
                    <a:solidFill>
                      <a:srgbClr val="92C5DE"/>
                    </a:solidFill>
                  </a:tcPr>
                </a:tc>
                <a:extLst>
                  <a:ext uri="{0D108BD9-81ED-4DB2-BD59-A6C34878D82A}">
                    <a16:rowId xmlns:a16="http://schemas.microsoft.com/office/drawing/2014/main" val="268930144"/>
                  </a:ext>
                </a:extLst>
              </a:tr>
            </a:tbl>
          </a:graphicData>
        </a:graphic>
      </p:graphicFrame>
      <p:sp>
        <p:nvSpPr>
          <p:cNvPr id="8" name="TextBox 7">
            <a:extLst>
              <a:ext uri="{FF2B5EF4-FFF2-40B4-BE49-F238E27FC236}">
                <a16:creationId xmlns:a16="http://schemas.microsoft.com/office/drawing/2014/main" id="{E492A557-5B00-3688-D468-3E70754058A5}"/>
              </a:ext>
            </a:extLst>
          </p:cNvPr>
          <p:cNvSpPr txBox="1"/>
          <p:nvPr/>
        </p:nvSpPr>
        <p:spPr>
          <a:xfrm>
            <a:off x="336577" y="1039347"/>
            <a:ext cx="3607462" cy="461665"/>
          </a:xfrm>
          <a:prstGeom prst="rect">
            <a:avLst/>
          </a:prstGeom>
          <a:noFill/>
        </p:spPr>
        <p:txBody>
          <a:bodyPr wrap="square">
            <a:spAutoFit/>
          </a:bodyPr>
          <a:lstStyle/>
          <a:p>
            <a:r>
              <a:rPr lang="en-US" sz="2400" b="1"/>
              <a:t>Direct Match</a:t>
            </a:r>
          </a:p>
        </p:txBody>
      </p:sp>
    </p:spTree>
    <p:extLst>
      <p:ext uri="{BB962C8B-B14F-4D97-AF65-F5344CB8AC3E}">
        <p14:creationId xmlns:p14="http://schemas.microsoft.com/office/powerpoint/2010/main" val="97800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73B9-EC8E-9E2F-9969-FC7477222DB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8EDD03-B72E-08B6-3366-6F4263F12731}"/>
              </a:ext>
            </a:extLst>
          </p:cNvPr>
          <p:cNvSpPr>
            <a:spLocks noGrp="1"/>
          </p:cNvSpPr>
          <p:nvPr>
            <p:ph type="sldNum" sz="quarter" idx="12"/>
          </p:nvPr>
        </p:nvSpPr>
        <p:spPr/>
        <p:txBody>
          <a:bodyPr/>
          <a:lstStyle/>
          <a:p>
            <a:fld id="{DFA4CD3D-26C8-47FF-8D13-9B32BAAB4735}" type="slidenum">
              <a:rPr lang="en-US" smtClean="0"/>
              <a:t>33</a:t>
            </a:fld>
            <a:endParaRPr lang="en-US"/>
          </a:p>
        </p:txBody>
      </p:sp>
      <p:sp>
        <p:nvSpPr>
          <p:cNvPr id="3" name="Title 2">
            <a:extLst>
              <a:ext uri="{FF2B5EF4-FFF2-40B4-BE49-F238E27FC236}">
                <a16:creationId xmlns:a16="http://schemas.microsoft.com/office/drawing/2014/main" id="{21B141CC-3920-3028-F260-E3199F756DD9}"/>
              </a:ext>
            </a:extLst>
          </p:cNvPr>
          <p:cNvSpPr>
            <a:spLocks noGrp="1"/>
          </p:cNvSpPr>
          <p:nvPr>
            <p:ph type="title"/>
          </p:nvPr>
        </p:nvSpPr>
        <p:spPr>
          <a:xfrm>
            <a:off x="396429" y="466335"/>
            <a:ext cx="11398253" cy="838854"/>
          </a:xfrm>
        </p:spPr>
        <p:txBody>
          <a:bodyPr>
            <a:normAutofit/>
          </a:bodyPr>
          <a:lstStyle/>
          <a:p>
            <a:r>
              <a:rPr lang="en-US" sz="3600"/>
              <a:t>Prompt Accuracy Stats</a:t>
            </a:r>
          </a:p>
        </p:txBody>
      </p:sp>
      <p:sp>
        <p:nvSpPr>
          <p:cNvPr id="5" name="Content Placeholder 4">
            <a:extLst>
              <a:ext uri="{FF2B5EF4-FFF2-40B4-BE49-F238E27FC236}">
                <a16:creationId xmlns:a16="http://schemas.microsoft.com/office/drawing/2014/main" id="{A7FAF720-2751-8027-09F5-027F635E6C6F}"/>
              </a:ext>
            </a:extLst>
          </p:cNvPr>
          <p:cNvSpPr>
            <a:spLocks noGrp="1"/>
          </p:cNvSpPr>
          <p:nvPr>
            <p:ph idx="1"/>
          </p:nvPr>
        </p:nvSpPr>
        <p:spPr>
          <a:xfrm>
            <a:off x="336577" y="5470531"/>
            <a:ext cx="4410151" cy="326171"/>
          </a:xfrm>
        </p:spPr>
        <p:txBody>
          <a:bodyPr>
            <a:normAutofit fontScale="92500" lnSpcReduction="20000"/>
          </a:bodyPr>
          <a:lstStyle/>
          <a:p>
            <a:r>
              <a:rPr lang="en-US"/>
              <a:t>Interrater Reliability Kappa: 0.623</a:t>
            </a:r>
          </a:p>
          <a:p>
            <a:pPr marL="342900" indent="-342900">
              <a:buFont typeface="Arial" panose="020B0604020202020204" pitchFamily="34" charset="0"/>
              <a:buChar char="•"/>
            </a:pPr>
            <a:endParaRPr lang="en-US"/>
          </a:p>
        </p:txBody>
      </p:sp>
      <p:sp>
        <p:nvSpPr>
          <p:cNvPr id="11" name="Rectangle 10">
            <a:extLst>
              <a:ext uri="{FF2B5EF4-FFF2-40B4-BE49-F238E27FC236}">
                <a16:creationId xmlns:a16="http://schemas.microsoft.com/office/drawing/2014/main" id="{01BA5354-7B00-A198-8ED7-B5BDE58A23EC}"/>
              </a:ext>
            </a:extLst>
          </p:cNvPr>
          <p:cNvSpPr/>
          <p:nvPr/>
        </p:nvSpPr>
        <p:spPr>
          <a:xfrm>
            <a:off x="6698255" y="1145753"/>
            <a:ext cx="517793" cy="39991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449524FF-ED75-FBD0-589E-E3E99302B517}"/>
              </a:ext>
            </a:extLst>
          </p:cNvPr>
          <p:cNvGraphicFramePr>
            <a:graphicFrameLocks noGrp="1"/>
          </p:cNvGraphicFramePr>
          <p:nvPr/>
        </p:nvGraphicFramePr>
        <p:xfrm>
          <a:off x="5264040" y="1514512"/>
          <a:ext cx="5563699" cy="3749040"/>
        </p:xfrm>
        <a:graphic>
          <a:graphicData uri="http://schemas.openxmlformats.org/drawingml/2006/table">
            <a:tbl>
              <a:tblPr firstRow="1" bandRow="1">
                <a:tableStyleId>{5C22544A-7EE6-4342-B048-85BDC9FD1C3A}</a:tableStyleId>
              </a:tblPr>
              <a:tblGrid>
                <a:gridCol w="1839995">
                  <a:extLst>
                    <a:ext uri="{9D8B030D-6E8A-4147-A177-3AD203B41FA5}">
                      <a16:colId xmlns:a16="http://schemas.microsoft.com/office/drawing/2014/main" val="1857454617"/>
                    </a:ext>
                  </a:extLst>
                </a:gridCol>
                <a:gridCol w="930926">
                  <a:extLst>
                    <a:ext uri="{9D8B030D-6E8A-4147-A177-3AD203B41FA5}">
                      <a16:colId xmlns:a16="http://schemas.microsoft.com/office/drawing/2014/main" val="20815352"/>
                    </a:ext>
                  </a:extLst>
                </a:gridCol>
                <a:gridCol w="930926">
                  <a:extLst>
                    <a:ext uri="{9D8B030D-6E8A-4147-A177-3AD203B41FA5}">
                      <a16:colId xmlns:a16="http://schemas.microsoft.com/office/drawing/2014/main" val="606883628"/>
                    </a:ext>
                  </a:extLst>
                </a:gridCol>
                <a:gridCol w="930926">
                  <a:extLst>
                    <a:ext uri="{9D8B030D-6E8A-4147-A177-3AD203B41FA5}">
                      <a16:colId xmlns:a16="http://schemas.microsoft.com/office/drawing/2014/main" val="3593634560"/>
                    </a:ext>
                  </a:extLst>
                </a:gridCol>
                <a:gridCol w="930926">
                  <a:extLst>
                    <a:ext uri="{9D8B030D-6E8A-4147-A177-3AD203B41FA5}">
                      <a16:colId xmlns:a16="http://schemas.microsoft.com/office/drawing/2014/main" val="3782411786"/>
                    </a:ext>
                  </a:extLst>
                </a:gridCol>
              </a:tblGrid>
              <a:tr h="640080">
                <a:tc>
                  <a:txBody>
                    <a:bodyPr/>
                    <a:lstStyle/>
                    <a:p>
                      <a:pPr algn="l"/>
                      <a:r>
                        <a:rPr lang="en-US" sz="2400">
                          <a:solidFill>
                            <a:schemeClr val="tx1"/>
                          </a:solidFill>
                        </a:rPr>
                        <a:t>Accuracy Measure</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1759674350"/>
                  </a:ext>
                </a:extLst>
              </a:tr>
              <a:tr h="640080">
                <a:tc>
                  <a:txBody>
                    <a:bodyPr/>
                    <a:lstStyle/>
                    <a:p>
                      <a:pPr algn="l"/>
                      <a:r>
                        <a:rPr lang="en-US" sz="2400"/>
                        <a:t>Precision</a:t>
                      </a:r>
                    </a:p>
                  </a:txBody>
                  <a:tcPr anchor="ctr">
                    <a:solidFill>
                      <a:schemeClr val="tx1">
                        <a:lumMod val="10000"/>
                        <a:lumOff val="90000"/>
                      </a:schemeClr>
                    </a:solidFill>
                  </a:tcPr>
                </a:tc>
                <a:tc>
                  <a:txBody>
                    <a:bodyPr/>
                    <a:lstStyle/>
                    <a:p>
                      <a:pPr algn="ctr"/>
                      <a:r>
                        <a:rPr lang="en-US" sz="2400"/>
                        <a:t>0.611</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0.887</a:t>
                      </a:r>
                    </a:p>
                  </a:txBody>
                  <a:tcPr anchor="ctr">
                    <a:solidFill>
                      <a:srgbClr val="CA0020"/>
                    </a:solidFill>
                  </a:tcPr>
                </a:tc>
                <a:tc>
                  <a:txBody>
                    <a:bodyPr/>
                    <a:lstStyle/>
                    <a:p>
                      <a:pPr algn="ctr"/>
                      <a:r>
                        <a:rPr lang="en-US" sz="2400"/>
                        <a:t>0.787</a:t>
                      </a:r>
                    </a:p>
                  </a:txBody>
                  <a:tcPr anchor="ctr">
                    <a:solidFill>
                      <a:srgbClr val="F4A582"/>
                    </a:solidFill>
                  </a:tcPr>
                </a:tc>
                <a:tc>
                  <a:txBody>
                    <a:bodyPr/>
                    <a:lstStyle/>
                    <a:p>
                      <a:pPr algn="ctr"/>
                      <a:r>
                        <a:rPr lang="en-US" sz="2400"/>
                        <a:t>0.896</a:t>
                      </a:r>
                    </a:p>
                  </a:txBody>
                  <a:tcPr anchor="ctr">
                    <a:solidFill>
                      <a:srgbClr val="92C5DE"/>
                    </a:solidFill>
                  </a:tcPr>
                </a:tc>
                <a:extLst>
                  <a:ext uri="{0D108BD9-81ED-4DB2-BD59-A6C34878D82A}">
                    <a16:rowId xmlns:a16="http://schemas.microsoft.com/office/drawing/2014/main" val="2352800743"/>
                  </a:ext>
                </a:extLst>
              </a:tr>
              <a:tr h="640080">
                <a:tc>
                  <a:txBody>
                    <a:bodyPr/>
                    <a:lstStyle/>
                    <a:p>
                      <a:pPr algn="l"/>
                      <a:r>
                        <a:rPr lang="en-US" sz="2400"/>
                        <a:t>Recall</a:t>
                      </a:r>
                    </a:p>
                  </a:txBody>
                  <a:tcPr anchor="ctr">
                    <a:solidFill>
                      <a:schemeClr val="tx1">
                        <a:lumMod val="10000"/>
                        <a:lumOff val="90000"/>
                      </a:schemeClr>
                    </a:solidFill>
                  </a:tcPr>
                </a:tc>
                <a:tc>
                  <a:txBody>
                    <a:bodyPr/>
                    <a:lstStyle/>
                    <a:p>
                      <a:pPr algn="ctr"/>
                      <a:r>
                        <a:rPr lang="en-US" sz="2400"/>
                        <a:t>0.795</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0.788</a:t>
                      </a:r>
                    </a:p>
                  </a:txBody>
                  <a:tcPr anchor="ctr">
                    <a:solidFill>
                      <a:srgbClr val="CA0020"/>
                    </a:solidFill>
                  </a:tcPr>
                </a:tc>
                <a:tc>
                  <a:txBody>
                    <a:bodyPr/>
                    <a:lstStyle/>
                    <a:p>
                      <a:pPr algn="ctr"/>
                      <a:r>
                        <a:rPr lang="en-US" sz="2400"/>
                        <a:t>0.464</a:t>
                      </a:r>
                    </a:p>
                  </a:txBody>
                  <a:tcPr anchor="ctr">
                    <a:solidFill>
                      <a:srgbClr val="F4A582"/>
                    </a:solidFill>
                  </a:tcPr>
                </a:tc>
                <a:tc>
                  <a:txBody>
                    <a:bodyPr/>
                    <a:lstStyle/>
                    <a:p>
                      <a:pPr algn="ctr"/>
                      <a:r>
                        <a:rPr lang="en-US" sz="2400"/>
                        <a:t>0.895</a:t>
                      </a:r>
                    </a:p>
                  </a:txBody>
                  <a:tcPr anchor="ctr">
                    <a:solidFill>
                      <a:srgbClr val="92C5DE"/>
                    </a:solidFill>
                  </a:tcPr>
                </a:tc>
                <a:extLst>
                  <a:ext uri="{0D108BD9-81ED-4DB2-BD59-A6C34878D82A}">
                    <a16:rowId xmlns:a16="http://schemas.microsoft.com/office/drawing/2014/main" val="2587830922"/>
                  </a:ext>
                </a:extLst>
              </a:tr>
              <a:tr h="640080">
                <a:tc>
                  <a:txBody>
                    <a:bodyPr/>
                    <a:lstStyle/>
                    <a:p>
                      <a:pPr algn="l"/>
                      <a:r>
                        <a:rPr lang="en-US" sz="2400"/>
                        <a:t>Harmonic Mean</a:t>
                      </a:r>
                    </a:p>
                  </a:txBody>
                  <a:tcPr anchor="ctr">
                    <a:solidFill>
                      <a:schemeClr val="tx1">
                        <a:lumMod val="10000"/>
                        <a:lumOff val="90000"/>
                      </a:schemeClr>
                    </a:solidFill>
                  </a:tcPr>
                </a:tc>
                <a:tc>
                  <a:txBody>
                    <a:bodyPr/>
                    <a:lstStyle/>
                    <a:p>
                      <a:pPr algn="ctr"/>
                      <a:r>
                        <a:rPr lang="en-US" sz="2400"/>
                        <a:t>0.691</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0.834</a:t>
                      </a:r>
                    </a:p>
                  </a:txBody>
                  <a:tcPr anchor="ctr">
                    <a:solidFill>
                      <a:srgbClr val="CA0020"/>
                    </a:solidFill>
                  </a:tcPr>
                </a:tc>
                <a:tc>
                  <a:txBody>
                    <a:bodyPr/>
                    <a:lstStyle/>
                    <a:p>
                      <a:pPr algn="ctr"/>
                      <a:r>
                        <a:rPr lang="en-US" sz="2400"/>
                        <a:t>0.583</a:t>
                      </a:r>
                    </a:p>
                  </a:txBody>
                  <a:tcPr anchor="ctr">
                    <a:solidFill>
                      <a:srgbClr val="F4A582"/>
                    </a:solidFill>
                  </a:tcPr>
                </a:tc>
                <a:tc>
                  <a:txBody>
                    <a:bodyPr/>
                    <a:lstStyle/>
                    <a:p>
                      <a:pPr algn="ctr"/>
                      <a:r>
                        <a:rPr lang="en-US" sz="2400"/>
                        <a:t>0.895</a:t>
                      </a:r>
                    </a:p>
                  </a:txBody>
                  <a:tcPr anchor="ctr">
                    <a:solidFill>
                      <a:srgbClr val="92C5DE"/>
                    </a:solidFill>
                  </a:tcPr>
                </a:tc>
                <a:extLst>
                  <a:ext uri="{0D108BD9-81ED-4DB2-BD59-A6C34878D82A}">
                    <a16:rowId xmlns:a16="http://schemas.microsoft.com/office/drawing/2014/main" val="647291644"/>
                  </a:ext>
                </a:extLst>
              </a:tr>
              <a:tr h="640080">
                <a:tc>
                  <a:txBody>
                    <a:bodyPr/>
                    <a:lstStyle/>
                    <a:p>
                      <a:pPr algn="l"/>
                      <a:r>
                        <a:rPr lang="en-US" sz="2400"/>
                        <a:t>Average Uncertainty </a:t>
                      </a:r>
                    </a:p>
                  </a:txBody>
                  <a:tcPr anchor="ctr">
                    <a:solidFill>
                      <a:schemeClr val="tx1">
                        <a:lumMod val="10000"/>
                        <a:lumOff val="90000"/>
                      </a:schemeClr>
                    </a:solidFill>
                  </a:tcPr>
                </a:tc>
                <a:tc>
                  <a:txBody>
                    <a:bodyPr/>
                    <a:lstStyle/>
                    <a:p>
                      <a:pPr algn="ctr"/>
                      <a:r>
                        <a:rPr lang="en-US" sz="2400"/>
                        <a:t>0.668</a:t>
                      </a:r>
                    </a:p>
                  </a:txBody>
                  <a:tcPr anchor="ctr">
                    <a:solidFill>
                      <a:srgbClr val="0571B0"/>
                    </a:solidFill>
                  </a:tcPr>
                </a:tc>
                <a:tc>
                  <a:txBody>
                    <a:bodyPr/>
                    <a:lstStyle/>
                    <a:p>
                      <a:pPr algn="ctr"/>
                      <a:r>
                        <a:rPr lang="en-US" sz="2400"/>
                        <a:t>0.577</a:t>
                      </a:r>
                    </a:p>
                  </a:txBody>
                  <a:tcPr anchor="ctr">
                    <a:solidFill>
                      <a:srgbClr val="CA0020"/>
                    </a:solidFill>
                  </a:tcPr>
                </a:tc>
                <a:tc>
                  <a:txBody>
                    <a:bodyPr/>
                    <a:lstStyle/>
                    <a:p>
                      <a:pPr algn="ctr"/>
                      <a:r>
                        <a:rPr lang="en-US" sz="2400"/>
                        <a:t>0.774</a:t>
                      </a:r>
                    </a:p>
                  </a:txBody>
                  <a:tcPr anchor="ctr">
                    <a:solidFill>
                      <a:srgbClr val="F4A582"/>
                    </a:solidFill>
                  </a:tcPr>
                </a:tc>
                <a:tc>
                  <a:txBody>
                    <a:bodyPr/>
                    <a:lstStyle/>
                    <a:p>
                      <a:pPr algn="ctr"/>
                      <a:r>
                        <a:rPr lang="en-US" sz="2400"/>
                        <a:t>0.604</a:t>
                      </a:r>
                    </a:p>
                  </a:txBody>
                  <a:tcPr anchor="ctr">
                    <a:solidFill>
                      <a:srgbClr val="92C5DE"/>
                    </a:solidFill>
                  </a:tcPr>
                </a:tc>
                <a:extLst>
                  <a:ext uri="{0D108BD9-81ED-4DB2-BD59-A6C34878D82A}">
                    <a16:rowId xmlns:a16="http://schemas.microsoft.com/office/drawing/2014/main" val="268930144"/>
                  </a:ext>
                </a:extLst>
              </a:tr>
            </a:tbl>
          </a:graphicData>
        </a:graphic>
      </p:graphicFrame>
      <p:graphicFrame>
        <p:nvGraphicFramePr>
          <p:cNvPr id="4" name="Table 3">
            <a:extLst>
              <a:ext uri="{FF2B5EF4-FFF2-40B4-BE49-F238E27FC236}">
                <a16:creationId xmlns:a16="http://schemas.microsoft.com/office/drawing/2014/main" id="{384C6100-9CF2-CF85-99FA-31367A5BF788}"/>
              </a:ext>
            </a:extLst>
          </p:cNvPr>
          <p:cNvGraphicFramePr>
            <a:graphicFrameLocks noGrp="1"/>
          </p:cNvGraphicFramePr>
          <p:nvPr/>
        </p:nvGraphicFramePr>
        <p:xfrm>
          <a:off x="396429" y="1513340"/>
          <a:ext cx="5563699" cy="3749040"/>
        </p:xfrm>
        <a:graphic>
          <a:graphicData uri="http://schemas.openxmlformats.org/drawingml/2006/table">
            <a:tbl>
              <a:tblPr firstRow="1" bandRow="1">
                <a:tableStyleId>{5C22544A-7EE6-4342-B048-85BDC9FD1C3A}</a:tableStyleId>
              </a:tblPr>
              <a:tblGrid>
                <a:gridCol w="1839995">
                  <a:extLst>
                    <a:ext uri="{9D8B030D-6E8A-4147-A177-3AD203B41FA5}">
                      <a16:colId xmlns:a16="http://schemas.microsoft.com/office/drawing/2014/main" val="1857454617"/>
                    </a:ext>
                  </a:extLst>
                </a:gridCol>
                <a:gridCol w="930926">
                  <a:extLst>
                    <a:ext uri="{9D8B030D-6E8A-4147-A177-3AD203B41FA5}">
                      <a16:colId xmlns:a16="http://schemas.microsoft.com/office/drawing/2014/main" val="20815352"/>
                    </a:ext>
                  </a:extLst>
                </a:gridCol>
                <a:gridCol w="930926">
                  <a:extLst>
                    <a:ext uri="{9D8B030D-6E8A-4147-A177-3AD203B41FA5}">
                      <a16:colId xmlns:a16="http://schemas.microsoft.com/office/drawing/2014/main" val="606883628"/>
                    </a:ext>
                  </a:extLst>
                </a:gridCol>
                <a:gridCol w="930926">
                  <a:extLst>
                    <a:ext uri="{9D8B030D-6E8A-4147-A177-3AD203B41FA5}">
                      <a16:colId xmlns:a16="http://schemas.microsoft.com/office/drawing/2014/main" val="3593634560"/>
                    </a:ext>
                  </a:extLst>
                </a:gridCol>
                <a:gridCol w="930926">
                  <a:extLst>
                    <a:ext uri="{9D8B030D-6E8A-4147-A177-3AD203B41FA5}">
                      <a16:colId xmlns:a16="http://schemas.microsoft.com/office/drawing/2014/main" val="3782411786"/>
                    </a:ext>
                  </a:extLst>
                </a:gridCol>
              </a:tblGrid>
              <a:tr h="640080">
                <a:tc>
                  <a:txBody>
                    <a:bodyPr/>
                    <a:lstStyle/>
                    <a:p>
                      <a:pPr algn="l"/>
                      <a:r>
                        <a:rPr lang="en-US" sz="2400">
                          <a:solidFill>
                            <a:schemeClr val="tx1"/>
                          </a:solidFill>
                        </a:rPr>
                        <a:t>Accuracy Measure</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1759674350"/>
                  </a:ext>
                </a:extLst>
              </a:tr>
              <a:tr h="640080">
                <a:tc>
                  <a:txBody>
                    <a:bodyPr/>
                    <a:lstStyle/>
                    <a:p>
                      <a:pPr algn="l"/>
                      <a:r>
                        <a:rPr lang="en-US" sz="2400"/>
                        <a:t>Precision</a:t>
                      </a:r>
                    </a:p>
                  </a:txBody>
                  <a:tcPr anchor="ctr">
                    <a:solidFill>
                      <a:schemeClr val="tx1">
                        <a:lumMod val="10000"/>
                        <a:lumOff val="90000"/>
                      </a:schemeClr>
                    </a:solidFill>
                  </a:tcPr>
                </a:tc>
                <a:tc>
                  <a:txBody>
                    <a:bodyPr/>
                    <a:lstStyle/>
                    <a:p>
                      <a:pPr algn="ctr"/>
                      <a:r>
                        <a:rPr lang="en-US" sz="2400"/>
                        <a:t>0.990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0.996</a:t>
                      </a:r>
                    </a:p>
                  </a:txBody>
                  <a:tcPr anchor="ctr">
                    <a:solidFill>
                      <a:srgbClr val="CA0020"/>
                    </a:solidFill>
                  </a:tcPr>
                </a:tc>
                <a:tc>
                  <a:txBody>
                    <a:bodyPr/>
                    <a:lstStyle/>
                    <a:p>
                      <a:pPr algn="ctr"/>
                      <a:r>
                        <a:rPr lang="en-US" sz="2400"/>
                        <a:t>0.991</a:t>
                      </a:r>
                    </a:p>
                  </a:txBody>
                  <a:tcPr anchor="ctr">
                    <a:solidFill>
                      <a:srgbClr val="F4A582"/>
                    </a:solidFill>
                  </a:tcPr>
                </a:tc>
                <a:tc>
                  <a:txBody>
                    <a:bodyPr/>
                    <a:lstStyle/>
                    <a:p>
                      <a:pPr algn="ctr"/>
                      <a:r>
                        <a:rPr lang="en-US" sz="2400"/>
                        <a:t>0.993</a:t>
                      </a:r>
                    </a:p>
                  </a:txBody>
                  <a:tcPr anchor="ctr">
                    <a:solidFill>
                      <a:srgbClr val="92C5DE"/>
                    </a:solidFill>
                  </a:tcPr>
                </a:tc>
                <a:extLst>
                  <a:ext uri="{0D108BD9-81ED-4DB2-BD59-A6C34878D82A}">
                    <a16:rowId xmlns:a16="http://schemas.microsoft.com/office/drawing/2014/main" val="2352800743"/>
                  </a:ext>
                </a:extLst>
              </a:tr>
              <a:tr h="640080">
                <a:tc>
                  <a:txBody>
                    <a:bodyPr/>
                    <a:lstStyle/>
                    <a:p>
                      <a:pPr algn="l"/>
                      <a:r>
                        <a:rPr lang="en-US" sz="2400"/>
                        <a:t>Recall</a:t>
                      </a:r>
                    </a:p>
                  </a:txBody>
                  <a:tcPr anchor="ctr">
                    <a:solidFill>
                      <a:schemeClr val="tx1">
                        <a:lumMod val="10000"/>
                        <a:lumOff val="90000"/>
                      </a:schemeClr>
                    </a:solidFill>
                  </a:tcPr>
                </a:tc>
                <a:tc>
                  <a:txBody>
                    <a:bodyPr/>
                    <a:lstStyle/>
                    <a:p>
                      <a:pPr algn="ctr"/>
                      <a:r>
                        <a:rPr lang="en-US" sz="2400"/>
                        <a:t>0.714</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0.749</a:t>
                      </a:r>
                    </a:p>
                  </a:txBody>
                  <a:tcPr anchor="ctr">
                    <a:solidFill>
                      <a:srgbClr val="CA0020"/>
                    </a:solidFill>
                  </a:tcPr>
                </a:tc>
                <a:tc>
                  <a:txBody>
                    <a:bodyPr/>
                    <a:lstStyle/>
                    <a:p>
                      <a:pPr algn="ctr"/>
                      <a:r>
                        <a:rPr lang="en-US" sz="2400"/>
                        <a:t>0.396</a:t>
                      </a:r>
                    </a:p>
                  </a:txBody>
                  <a:tcPr anchor="ctr">
                    <a:solidFill>
                      <a:srgbClr val="F4A582"/>
                    </a:solidFill>
                  </a:tcPr>
                </a:tc>
                <a:tc>
                  <a:txBody>
                    <a:bodyPr/>
                    <a:lstStyle/>
                    <a:p>
                      <a:pPr algn="ctr"/>
                      <a:r>
                        <a:rPr lang="en-US" sz="2400"/>
                        <a:t>0.858</a:t>
                      </a:r>
                    </a:p>
                  </a:txBody>
                  <a:tcPr anchor="ctr">
                    <a:solidFill>
                      <a:srgbClr val="92C5DE"/>
                    </a:solidFill>
                  </a:tcPr>
                </a:tc>
                <a:extLst>
                  <a:ext uri="{0D108BD9-81ED-4DB2-BD59-A6C34878D82A}">
                    <a16:rowId xmlns:a16="http://schemas.microsoft.com/office/drawing/2014/main" val="2587830922"/>
                  </a:ext>
                </a:extLst>
              </a:tr>
              <a:tr h="640080">
                <a:tc>
                  <a:txBody>
                    <a:bodyPr/>
                    <a:lstStyle/>
                    <a:p>
                      <a:pPr algn="l"/>
                      <a:r>
                        <a:rPr lang="en-US" sz="2400"/>
                        <a:t>Harmonic Mean</a:t>
                      </a:r>
                    </a:p>
                  </a:txBody>
                  <a:tcPr anchor="ctr">
                    <a:solidFill>
                      <a:schemeClr val="tx1">
                        <a:lumMod val="10000"/>
                        <a:lumOff val="90000"/>
                      </a:schemeClr>
                    </a:solidFill>
                  </a:tcPr>
                </a:tc>
                <a:tc>
                  <a:txBody>
                    <a:bodyPr/>
                    <a:lstStyle/>
                    <a:p>
                      <a:pPr algn="ctr"/>
                      <a:r>
                        <a:rPr lang="en-US" sz="2400"/>
                        <a:t>0.829</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0.854</a:t>
                      </a:r>
                    </a:p>
                  </a:txBody>
                  <a:tcPr anchor="ctr">
                    <a:solidFill>
                      <a:srgbClr val="CA0020"/>
                    </a:solidFill>
                  </a:tcPr>
                </a:tc>
                <a:tc>
                  <a:txBody>
                    <a:bodyPr/>
                    <a:lstStyle/>
                    <a:p>
                      <a:pPr algn="ctr"/>
                      <a:r>
                        <a:rPr lang="en-US" sz="2400"/>
                        <a:t>0.565</a:t>
                      </a:r>
                    </a:p>
                  </a:txBody>
                  <a:tcPr anchor="ctr">
                    <a:solidFill>
                      <a:srgbClr val="F4A582"/>
                    </a:solidFill>
                  </a:tcPr>
                </a:tc>
                <a:tc>
                  <a:txBody>
                    <a:bodyPr/>
                    <a:lstStyle/>
                    <a:p>
                      <a:pPr algn="ctr"/>
                      <a:r>
                        <a:rPr lang="en-US" sz="2400"/>
                        <a:t>0.920</a:t>
                      </a:r>
                    </a:p>
                  </a:txBody>
                  <a:tcPr anchor="ctr">
                    <a:solidFill>
                      <a:srgbClr val="92C5DE"/>
                    </a:solidFill>
                  </a:tcPr>
                </a:tc>
                <a:extLst>
                  <a:ext uri="{0D108BD9-81ED-4DB2-BD59-A6C34878D82A}">
                    <a16:rowId xmlns:a16="http://schemas.microsoft.com/office/drawing/2014/main" val="647291644"/>
                  </a:ext>
                </a:extLst>
              </a:tr>
              <a:tr h="640080">
                <a:tc>
                  <a:txBody>
                    <a:bodyPr/>
                    <a:lstStyle/>
                    <a:p>
                      <a:pPr algn="l"/>
                      <a:r>
                        <a:rPr lang="en-US" sz="2400"/>
                        <a:t>Average Uncertainty </a:t>
                      </a:r>
                    </a:p>
                  </a:txBody>
                  <a:tcPr anchor="ctr">
                    <a:solidFill>
                      <a:schemeClr val="tx1">
                        <a:lumMod val="10000"/>
                        <a:lumOff val="90000"/>
                      </a:schemeClr>
                    </a:solidFill>
                  </a:tcPr>
                </a:tc>
                <a:tc>
                  <a:txBody>
                    <a:bodyPr/>
                    <a:lstStyle/>
                    <a:p>
                      <a:pPr algn="ctr"/>
                      <a:r>
                        <a:rPr lang="en-US" sz="2400"/>
                        <a:t>0.668</a:t>
                      </a:r>
                    </a:p>
                  </a:txBody>
                  <a:tcPr anchor="ctr">
                    <a:solidFill>
                      <a:srgbClr val="0571B0"/>
                    </a:solidFill>
                  </a:tcPr>
                </a:tc>
                <a:tc>
                  <a:txBody>
                    <a:bodyPr/>
                    <a:lstStyle/>
                    <a:p>
                      <a:pPr algn="ctr"/>
                      <a:r>
                        <a:rPr lang="en-US" sz="2400"/>
                        <a:t>0.577</a:t>
                      </a:r>
                    </a:p>
                  </a:txBody>
                  <a:tcPr anchor="ctr">
                    <a:solidFill>
                      <a:srgbClr val="CA0020"/>
                    </a:solidFill>
                  </a:tcPr>
                </a:tc>
                <a:tc>
                  <a:txBody>
                    <a:bodyPr/>
                    <a:lstStyle/>
                    <a:p>
                      <a:pPr algn="ctr"/>
                      <a:r>
                        <a:rPr lang="en-US" sz="2400"/>
                        <a:t>0.774</a:t>
                      </a:r>
                    </a:p>
                  </a:txBody>
                  <a:tcPr anchor="ctr">
                    <a:solidFill>
                      <a:srgbClr val="F4A582"/>
                    </a:solidFill>
                  </a:tcPr>
                </a:tc>
                <a:tc>
                  <a:txBody>
                    <a:bodyPr/>
                    <a:lstStyle/>
                    <a:p>
                      <a:pPr algn="ctr"/>
                      <a:r>
                        <a:rPr lang="en-US" sz="2400"/>
                        <a:t>0.604</a:t>
                      </a:r>
                    </a:p>
                  </a:txBody>
                  <a:tcPr anchor="ctr">
                    <a:solidFill>
                      <a:srgbClr val="92C5DE"/>
                    </a:solidFill>
                  </a:tcPr>
                </a:tc>
                <a:extLst>
                  <a:ext uri="{0D108BD9-81ED-4DB2-BD59-A6C34878D82A}">
                    <a16:rowId xmlns:a16="http://schemas.microsoft.com/office/drawing/2014/main" val="268930144"/>
                  </a:ext>
                </a:extLst>
              </a:tr>
            </a:tbl>
          </a:graphicData>
        </a:graphic>
      </p:graphicFrame>
      <p:sp>
        <p:nvSpPr>
          <p:cNvPr id="6" name="Rectangle 5">
            <a:extLst>
              <a:ext uri="{FF2B5EF4-FFF2-40B4-BE49-F238E27FC236}">
                <a16:creationId xmlns:a16="http://schemas.microsoft.com/office/drawing/2014/main" id="{B126C107-2FB6-16CA-01E6-E7402EEA01AE}"/>
              </a:ext>
            </a:extLst>
          </p:cNvPr>
          <p:cNvSpPr/>
          <p:nvPr/>
        </p:nvSpPr>
        <p:spPr>
          <a:xfrm>
            <a:off x="5960128" y="1189821"/>
            <a:ext cx="1145752" cy="45664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TextBox 7">
            <a:extLst>
              <a:ext uri="{FF2B5EF4-FFF2-40B4-BE49-F238E27FC236}">
                <a16:creationId xmlns:a16="http://schemas.microsoft.com/office/drawing/2014/main" id="{2971A253-8EE4-9E92-A1CE-1EF47434E351}"/>
              </a:ext>
            </a:extLst>
          </p:cNvPr>
          <p:cNvSpPr txBox="1"/>
          <p:nvPr/>
        </p:nvSpPr>
        <p:spPr>
          <a:xfrm>
            <a:off x="336577" y="1039347"/>
            <a:ext cx="3607462" cy="461665"/>
          </a:xfrm>
          <a:prstGeom prst="rect">
            <a:avLst/>
          </a:prstGeom>
          <a:noFill/>
        </p:spPr>
        <p:txBody>
          <a:bodyPr wrap="square">
            <a:spAutoFit/>
          </a:bodyPr>
          <a:lstStyle/>
          <a:p>
            <a:r>
              <a:rPr lang="en-US" sz="2400" b="1"/>
              <a:t>Direct Match</a:t>
            </a:r>
          </a:p>
        </p:txBody>
      </p:sp>
      <p:sp>
        <p:nvSpPr>
          <p:cNvPr id="9" name="TextBox 8">
            <a:extLst>
              <a:ext uri="{FF2B5EF4-FFF2-40B4-BE49-F238E27FC236}">
                <a16:creationId xmlns:a16="http://schemas.microsoft.com/office/drawing/2014/main" id="{1D8F95F9-B196-F6C3-B228-12F0B9D97CE3}"/>
              </a:ext>
            </a:extLst>
          </p:cNvPr>
          <p:cNvSpPr txBox="1"/>
          <p:nvPr/>
        </p:nvSpPr>
        <p:spPr>
          <a:xfrm>
            <a:off x="7012816" y="1038175"/>
            <a:ext cx="3607462" cy="461665"/>
          </a:xfrm>
          <a:prstGeom prst="rect">
            <a:avLst/>
          </a:prstGeom>
          <a:noFill/>
        </p:spPr>
        <p:txBody>
          <a:bodyPr wrap="square">
            <a:spAutoFit/>
          </a:bodyPr>
          <a:lstStyle/>
          <a:p>
            <a:r>
              <a:rPr lang="en-US" sz="2400" b="1"/>
              <a:t>“Realistic” Match</a:t>
            </a:r>
          </a:p>
        </p:txBody>
      </p:sp>
      <p:sp>
        <p:nvSpPr>
          <p:cNvPr id="10" name="Content Placeholder 4">
            <a:extLst>
              <a:ext uri="{FF2B5EF4-FFF2-40B4-BE49-F238E27FC236}">
                <a16:creationId xmlns:a16="http://schemas.microsoft.com/office/drawing/2014/main" id="{12FA6AD3-C11C-6255-D6AE-ECD7342F1F60}"/>
              </a:ext>
            </a:extLst>
          </p:cNvPr>
          <p:cNvSpPr txBox="1">
            <a:spLocks/>
          </p:cNvSpPr>
          <p:nvPr/>
        </p:nvSpPr>
        <p:spPr>
          <a:xfrm>
            <a:off x="7012816" y="5430144"/>
            <a:ext cx="4410151" cy="326171"/>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Interrater Reliability Kappa: 0.70</a:t>
            </a:r>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3713379412"/>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03E18-28A9-656B-A6FE-8CB3104C77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8C73D-B18F-51BA-1D60-A776A5527DE1}"/>
              </a:ext>
            </a:extLst>
          </p:cNvPr>
          <p:cNvSpPr>
            <a:spLocks noGrp="1"/>
          </p:cNvSpPr>
          <p:nvPr>
            <p:ph type="sldNum" sz="quarter" idx="12"/>
          </p:nvPr>
        </p:nvSpPr>
        <p:spPr/>
        <p:txBody>
          <a:bodyPr/>
          <a:lstStyle/>
          <a:p>
            <a:fld id="{DFA4CD3D-26C8-47FF-8D13-9B32BAAB4735}" type="slidenum">
              <a:rPr lang="en-US" smtClean="0"/>
              <a:t>34</a:t>
            </a:fld>
            <a:endParaRPr lang="en-US"/>
          </a:p>
        </p:txBody>
      </p:sp>
      <p:sp>
        <p:nvSpPr>
          <p:cNvPr id="3" name="Title 2">
            <a:extLst>
              <a:ext uri="{FF2B5EF4-FFF2-40B4-BE49-F238E27FC236}">
                <a16:creationId xmlns:a16="http://schemas.microsoft.com/office/drawing/2014/main" id="{B36BF3EF-57CB-5C82-B093-ADA31F07F73A}"/>
              </a:ext>
            </a:extLst>
          </p:cNvPr>
          <p:cNvSpPr>
            <a:spLocks noGrp="1"/>
          </p:cNvSpPr>
          <p:nvPr>
            <p:ph type="title"/>
          </p:nvPr>
        </p:nvSpPr>
        <p:spPr>
          <a:xfrm>
            <a:off x="396429" y="466335"/>
            <a:ext cx="11398253" cy="838854"/>
          </a:xfrm>
        </p:spPr>
        <p:txBody>
          <a:bodyPr>
            <a:normAutofit/>
          </a:bodyPr>
          <a:lstStyle/>
          <a:p>
            <a:r>
              <a:rPr lang="en-US" sz="3600"/>
              <a:t>Prompt Accuracy Stats</a:t>
            </a:r>
          </a:p>
        </p:txBody>
      </p:sp>
      <p:sp>
        <p:nvSpPr>
          <p:cNvPr id="5" name="Content Placeholder 4">
            <a:extLst>
              <a:ext uri="{FF2B5EF4-FFF2-40B4-BE49-F238E27FC236}">
                <a16:creationId xmlns:a16="http://schemas.microsoft.com/office/drawing/2014/main" id="{1B26937A-E43A-79DF-15C6-CF74784421FC}"/>
              </a:ext>
            </a:extLst>
          </p:cNvPr>
          <p:cNvSpPr>
            <a:spLocks noGrp="1"/>
          </p:cNvSpPr>
          <p:nvPr>
            <p:ph idx="1"/>
          </p:nvPr>
        </p:nvSpPr>
        <p:spPr>
          <a:xfrm>
            <a:off x="336577" y="5470531"/>
            <a:ext cx="4410151" cy="326171"/>
          </a:xfrm>
        </p:spPr>
        <p:txBody>
          <a:bodyPr>
            <a:normAutofit fontScale="92500" lnSpcReduction="20000"/>
          </a:bodyPr>
          <a:lstStyle/>
          <a:p>
            <a:r>
              <a:rPr lang="en-US"/>
              <a:t>Interrater Reliability Kappa: 0.623</a:t>
            </a:r>
          </a:p>
          <a:p>
            <a:pPr marL="342900" indent="-342900">
              <a:buFont typeface="Arial" panose="020B0604020202020204" pitchFamily="34" charset="0"/>
              <a:buChar char="•"/>
            </a:pPr>
            <a:endParaRPr lang="en-US"/>
          </a:p>
        </p:txBody>
      </p:sp>
      <p:sp>
        <p:nvSpPr>
          <p:cNvPr id="11" name="Rectangle 10">
            <a:extLst>
              <a:ext uri="{FF2B5EF4-FFF2-40B4-BE49-F238E27FC236}">
                <a16:creationId xmlns:a16="http://schemas.microsoft.com/office/drawing/2014/main" id="{3C98C64F-4B5A-2610-69C2-7E3D994E2482}"/>
              </a:ext>
            </a:extLst>
          </p:cNvPr>
          <p:cNvSpPr/>
          <p:nvPr/>
        </p:nvSpPr>
        <p:spPr>
          <a:xfrm>
            <a:off x="6698255" y="1145753"/>
            <a:ext cx="517793" cy="39991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D9CC9DA9-ED7B-FBDA-7684-EF62029AD4CF}"/>
              </a:ext>
            </a:extLst>
          </p:cNvPr>
          <p:cNvGraphicFramePr>
            <a:graphicFrameLocks noGrp="1"/>
          </p:cNvGraphicFramePr>
          <p:nvPr/>
        </p:nvGraphicFramePr>
        <p:xfrm>
          <a:off x="5264040" y="1514512"/>
          <a:ext cx="5563699" cy="3749040"/>
        </p:xfrm>
        <a:graphic>
          <a:graphicData uri="http://schemas.openxmlformats.org/drawingml/2006/table">
            <a:tbl>
              <a:tblPr firstRow="1" bandRow="1">
                <a:tableStyleId>{5C22544A-7EE6-4342-B048-85BDC9FD1C3A}</a:tableStyleId>
              </a:tblPr>
              <a:tblGrid>
                <a:gridCol w="1839995">
                  <a:extLst>
                    <a:ext uri="{9D8B030D-6E8A-4147-A177-3AD203B41FA5}">
                      <a16:colId xmlns:a16="http://schemas.microsoft.com/office/drawing/2014/main" val="1857454617"/>
                    </a:ext>
                  </a:extLst>
                </a:gridCol>
                <a:gridCol w="930926">
                  <a:extLst>
                    <a:ext uri="{9D8B030D-6E8A-4147-A177-3AD203B41FA5}">
                      <a16:colId xmlns:a16="http://schemas.microsoft.com/office/drawing/2014/main" val="20815352"/>
                    </a:ext>
                  </a:extLst>
                </a:gridCol>
                <a:gridCol w="930926">
                  <a:extLst>
                    <a:ext uri="{9D8B030D-6E8A-4147-A177-3AD203B41FA5}">
                      <a16:colId xmlns:a16="http://schemas.microsoft.com/office/drawing/2014/main" val="606883628"/>
                    </a:ext>
                  </a:extLst>
                </a:gridCol>
                <a:gridCol w="930926">
                  <a:extLst>
                    <a:ext uri="{9D8B030D-6E8A-4147-A177-3AD203B41FA5}">
                      <a16:colId xmlns:a16="http://schemas.microsoft.com/office/drawing/2014/main" val="3593634560"/>
                    </a:ext>
                  </a:extLst>
                </a:gridCol>
                <a:gridCol w="930926">
                  <a:extLst>
                    <a:ext uri="{9D8B030D-6E8A-4147-A177-3AD203B41FA5}">
                      <a16:colId xmlns:a16="http://schemas.microsoft.com/office/drawing/2014/main" val="3782411786"/>
                    </a:ext>
                  </a:extLst>
                </a:gridCol>
              </a:tblGrid>
              <a:tr h="640080">
                <a:tc>
                  <a:txBody>
                    <a:bodyPr/>
                    <a:lstStyle/>
                    <a:p>
                      <a:pPr algn="l"/>
                      <a:r>
                        <a:rPr lang="en-US" sz="2400">
                          <a:solidFill>
                            <a:schemeClr val="tx1"/>
                          </a:solidFill>
                        </a:rPr>
                        <a:t>Accuracy Measure</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1759674350"/>
                  </a:ext>
                </a:extLst>
              </a:tr>
              <a:tr h="640080">
                <a:tc>
                  <a:txBody>
                    <a:bodyPr/>
                    <a:lstStyle/>
                    <a:p>
                      <a:pPr algn="l"/>
                      <a:r>
                        <a:rPr lang="en-US" sz="2400"/>
                        <a:t>Precision</a:t>
                      </a:r>
                    </a:p>
                  </a:txBody>
                  <a:tcPr anchor="ctr">
                    <a:solidFill>
                      <a:schemeClr val="tx1">
                        <a:lumMod val="10000"/>
                        <a:lumOff val="90000"/>
                      </a:schemeClr>
                    </a:solidFill>
                  </a:tcPr>
                </a:tc>
                <a:tc>
                  <a:txBody>
                    <a:bodyPr/>
                    <a:lstStyle/>
                    <a:p>
                      <a:pPr algn="ctr"/>
                      <a:r>
                        <a:rPr lang="en-US" sz="2400"/>
                        <a:t>0.611</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0.887</a:t>
                      </a:r>
                    </a:p>
                  </a:txBody>
                  <a:tcPr anchor="ctr">
                    <a:solidFill>
                      <a:srgbClr val="CA0020"/>
                    </a:solidFill>
                  </a:tcPr>
                </a:tc>
                <a:tc>
                  <a:txBody>
                    <a:bodyPr/>
                    <a:lstStyle/>
                    <a:p>
                      <a:pPr algn="ctr"/>
                      <a:r>
                        <a:rPr lang="en-US" sz="2400"/>
                        <a:t>0.787</a:t>
                      </a:r>
                    </a:p>
                  </a:txBody>
                  <a:tcPr anchor="ctr">
                    <a:solidFill>
                      <a:srgbClr val="F4A582"/>
                    </a:solidFill>
                  </a:tcPr>
                </a:tc>
                <a:tc>
                  <a:txBody>
                    <a:bodyPr/>
                    <a:lstStyle/>
                    <a:p>
                      <a:pPr algn="ctr"/>
                      <a:r>
                        <a:rPr lang="en-US" sz="2400"/>
                        <a:t>0.896</a:t>
                      </a:r>
                    </a:p>
                  </a:txBody>
                  <a:tcPr anchor="ctr">
                    <a:solidFill>
                      <a:srgbClr val="92C5DE"/>
                    </a:solidFill>
                  </a:tcPr>
                </a:tc>
                <a:extLst>
                  <a:ext uri="{0D108BD9-81ED-4DB2-BD59-A6C34878D82A}">
                    <a16:rowId xmlns:a16="http://schemas.microsoft.com/office/drawing/2014/main" val="2352800743"/>
                  </a:ext>
                </a:extLst>
              </a:tr>
              <a:tr h="640080">
                <a:tc>
                  <a:txBody>
                    <a:bodyPr/>
                    <a:lstStyle/>
                    <a:p>
                      <a:pPr algn="l"/>
                      <a:r>
                        <a:rPr lang="en-US" sz="2400"/>
                        <a:t>Recall</a:t>
                      </a:r>
                    </a:p>
                  </a:txBody>
                  <a:tcPr anchor="ctr">
                    <a:solidFill>
                      <a:schemeClr val="tx1">
                        <a:lumMod val="10000"/>
                        <a:lumOff val="90000"/>
                      </a:schemeClr>
                    </a:solidFill>
                  </a:tcPr>
                </a:tc>
                <a:tc>
                  <a:txBody>
                    <a:bodyPr/>
                    <a:lstStyle/>
                    <a:p>
                      <a:pPr algn="ctr"/>
                      <a:r>
                        <a:rPr lang="en-US" sz="2400"/>
                        <a:t>0.795</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0.788</a:t>
                      </a:r>
                    </a:p>
                  </a:txBody>
                  <a:tcPr anchor="ctr">
                    <a:solidFill>
                      <a:srgbClr val="CA0020"/>
                    </a:solidFill>
                  </a:tcPr>
                </a:tc>
                <a:tc>
                  <a:txBody>
                    <a:bodyPr/>
                    <a:lstStyle/>
                    <a:p>
                      <a:pPr algn="ctr"/>
                      <a:r>
                        <a:rPr lang="en-US" sz="2400"/>
                        <a:t>0.464</a:t>
                      </a:r>
                    </a:p>
                  </a:txBody>
                  <a:tcPr anchor="ctr">
                    <a:solidFill>
                      <a:srgbClr val="F4A582"/>
                    </a:solidFill>
                  </a:tcPr>
                </a:tc>
                <a:tc>
                  <a:txBody>
                    <a:bodyPr/>
                    <a:lstStyle/>
                    <a:p>
                      <a:pPr algn="ctr"/>
                      <a:r>
                        <a:rPr lang="en-US" sz="2400"/>
                        <a:t>0.895</a:t>
                      </a:r>
                    </a:p>
                  </a:txBody>
                  <a:tcPr anchor="ctr">
                    <a:solidFill>
                      <a:srgbClr val="92C5DE"/>
                    </a:solidFill>
                  </a:tcPr>
                </a:tc>
                <a:extLst>
                  <a:ext uri="{0D108BD9-81ED-4DB2-BD59-A6C34878D82A}">
                    <a16:rowId xmlns:a16="http://schemas.microsoft.com/office/drawing/2014/main" val="2587830922"/>
                  </a:ext>
                </a:extLst>
              </a:tr>
              <a:tr h="640080">
                <a:tc>
                  <a:txBody>
                    <a:bodyPr/>
                    <a:lstStyle/>
                    <a:p>
                      <a:pPr algn="l"/>
                      <a:r>
                        <a:rPr lang="en-US" sz="2400"/>
                        <a:t>Harmonic Mean</a:t>
                      </a:r>
                    </a:p>
                  </a:txBody>
                  <a:tcPr anchor="ctr">
                    <a:solidFill>
                      <a:schemeClr val="tx1">
                        <a:lumMod val="10000"/>
                        <a:lumOff val="90000"/>
                      </a:schemeClr>
                    </a:solidFill>
                  </a:tcPr>
                </a:tc>
                <a:tc>
                  <a:txBody>
                    <a:bodyPr/>
                    <a:lstStyle/>
                    <a:p>
                      <a:pPr algn="ctr"/>
                      <a:r>
                        <a:rPr lang="en-US" sz="2400"/>
                        <a:t>0.691</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0.834</a:t>
                      </a:r>
                    </a:p>
                  </a:txBody>
                  <a:tcPr anchor="ctr">
                    <a:solidFill>
                      <a:srgbClr val="CA0020"/>
                    </a:solidFill>
                  </a:tcPr>
                </a:tc>
                <a:tc>
                  <a:txBody>
                    <a:bodyPr/>
                    <a:lstStyle/>
                    <a:p>
                      <a:pPr algn="ctr"/>
                      <a:r>
                        <a:rPr lang="en-US" sz="2400"/>
                        <a:t>0.583</a:t>
                      </a:r>
                    </a:p>
                  </a:txBody>
                  <a:tcPr anchor="ctr">
                    <a:solidFill>
                      <a:srgbClr val="F4A582"/>
                    </a:solidFill>
                  </a:tcPr>
                </a:tc>
                <a:tc>
                  <a:txBody>
                    <a:bodyPr/>
                    <a:lstStyle/>
                    <a:p>
                      <a:pPr algn="ctr"/>
                      <a:r>
                        <a:rPr lang="en-US" sz="2400"/>
                        <a:t>0.895</a:t>
                      </a:r>
                    </a:p>
                  </a:txBody>
                  <a:tcPr anchor="ctr">
                    <a:solidFill>
                      <a:srgbClr val="92C5DE"/>
                    </a:solidFill>
                  </a:tcPr>
                </a:tc>
                <a:extLst>
                  <a:ext uri="{0D108BD9-81ED-4DB2-BD59-A6C34878D82A}">
                    <a16:rowId xmlns:a16="http://schemas.microsoft.com/office/drawing/2014/main" val="647291644"/>
                  </a:ext>
                </a:extLst>
              </a:tr>
              <a:tr h="640080">
                <a:tc>
                  <a:txBody>
                    <a:bodyPr/>
                    <a:lstStyle/>
                    <a:p>
                      <a:pPr algn="l"/>
                      <a:r>
                        <a:rPr lang="en-US" sz="2400"/>
                        <a:t>Average Uncertainty </a:t>
                      </a:r>
                    </a:p>
                  </a:txBody>
                  <a:tcPr anchor="ctr">
                    <a:solidFill>
                      <a:schemeClr val="tx1">
                        <a:lumMod val="10000"/>
                        <a:lumOff val="90000"/>
                      </a:schemeClr>
                    </a:solidFill>
                  </a:tcPr>
                </a:tc>
                <a:tc>
                  <a:txBody>
                    <a:bodyPr/>
                    <a:lstStyle/>
                    <a:p>
                      <a:pPr algn="ctr"/>
                      <a:r>
                        <a:rPr lang="en-US" sz="2400"/>
                        <a:t>0.668</a:t>
                      </a:r>
                    </a:p>
                  </a:txBody>
                  <a:tcPr anchor="ctr">
                    <a:solidFill>
                      <a:srgbClr val="0571B0"/>
                    </a:solidFill>
                  </a:tcPr>
                </a:tc>
                <a:tc>
                  <a:txBody>
                    <a:bodyPr/>
                    <a:lstStyle/>
                    <a:p>
                      <a:pPr algn="ctr"/>
                      <a:r>
                        <a:rPr lang="en-US" sz="2400"/>
                        <a:t>0.577</a:t>
                      </a:r>
                    </a:p>
                  </a:txBody>
                  <a:tcPr anchor="ctr">
                    <a:solidFill>
                      <a:srgbClr val="CA0020"/>
                    </a:solidFill>
                  </a:tcPr>
                </a:tc>
                <a:tc>
                  <a:txBody>
                    <a:bodyPr/>
                    <a:lstStyle/>
                    <a:p>
                      <a:pPr algn="ctr"/>
                      <a:r>
                        <a:rPr lang="en-US" sz="2400"/>
                        <a:t>0.774</a:t>
                      </a:r>
                    </a:p>
                  </a:txBody>
                  <a:tcPr anchor="ctr">
                    <a:solidFill>
                      <a:srgbClr val="F4A582"/>
                    </a:solidFill>
                  </a:tcPr>
                </a:tc>
                <a:tc>
                  <a:txBody>
                    <a:bodyPr/>
                    <a:lstStyle/>
                    <a:p>
                      <a:pPr algn="ctr"/>
                      <a:r>
                        <a:rPr lang="en-US" sz="2400"/>
                        <a:t>0.604</a:t>
                      </a:r>
                    </a:p>
                  </a:txBody>
                  <a:tcPr anchor="ctr">
                    <a:solidFill>
                      <a:srgbClr val="92C5DE"/>
                    </a:solidFill>
                  </a:tcPr>
                </a:tc>
                <a:extLst>
                  <a:ext uri="{0D108BD9-81ED-4DB2-BD59-A6C34878D82A}">
                    <a16:rowId xmlns:a16="http://schemas.microsoft.com/office/drawing/2014/main" val="268930144"/>
                  </a:ext>
                </a:extLst>
              </a:tr>
            </a:tbl>
          </a:graphicData>
        </a:graphic>
      </p:graphicFrame>
      <p:graphicFrame>
        <p:nvGraphicFramePr>
          <p:cNvPr id="4" name="Table 3">
            <a:extLst>
              <a:ext uri="{FF2B5EF4-FFF2-40B4-BE49-F238E27FC236}">
                <a16:creationId xmlns:a16="http://schemas.microsoft.com/office/drawing/2014/main" id="{1B116AE6-3F5E-B220-2017-BDB56928FA96}"/>
              </a:ext>
            </a:extLst>
          </p:cNvPr>
          <p:cNvGraphicFramePr>
            <a:graphicFrameLocks noGrp="1"/>
          </p:cNvGraphicFramePr>
          <p:nvPr/>
        </p:nvGraphicFramePr>
        <p:xfrm>
          <a:off x="396429" y="1513340"/>
          <a:ext cx="5563699" cy="3749040"/>
        </p:xfrm>
        <a:graphic>
          <a:graphicData uri="http://schemas.openxmlformats.org/drawingml/2006/table">
            <a:tbl>
              <a:tblPr firstRow="1" bandRow="1">
                <a:tableStyleId>{5C22544A-7EE6-4342-B048-85BDC9FD1C3A}</a:tableStyleId>
              </a:tblPr>
              <a:tblGrid>
                <a:gridCol w="1839995">
                  <a:extLst>
                    <a:ext uri="{9D8B030D-6E8A-4147-A177-3AD203B41FA5}">
                      <a16:colId xmlns:a16="http://schemas.microsoft.com/office/drawing/2014/main" val="1857454617"/>
                    </a:ext>
                  </a:extLst>
                </a:gridCol>
                <a:gridCol w="930926">
                  <a:extLst>
                    <a:ext uri="{9D8B030D-6E8A-4147-A177-3AD203B41FA5}">
                      <a16:colId xmlns:a16="http://schemas.microsoft.com/office/drawing/2014/main" val="20815352"/>
                    </a:ext>
                  </a:extLst>
                </a:gridCol>
                <a:gridCol w="930926">
                  <a:extLst>
                    <a:ext uri="{9D8B030D-6E8A-4147-A177-3AD203B41FA5}">
                      <a16:colId xmlns:a16="http://schemas.microsoft.com/office/drawing/2014/main" val="606883628"/>
                    </a:ext>
                  </a:extLst>
                </a:gridCol>
                <a:gridCol w="930926">
                  <a:extLst>
                    <a:ext uri="{9D8B030D-6E8A-4147-A177-3AD203B41FA5}">
                      <a16:colId xmlns:a16="http://schemas.microsoft.com/office/drawing/2014/main" val="3593634560"/>
                    </a:ext>
                  </a:extLst>
                </a:gridCol>
                <a:gridCol w="930926">
                  <a:extLst>
                    <a:ext uri="{9D8B030D-6E8A-4147-A177-3AD203B41FA5}">
                      <a16:colId xmlns:a16="http://schemas.microsoft.com/office/drawing/2014/main" val="3782411786"/>
                    </a:ext>
                  </a:extLst>
                </a:gridCol>
              </a:tblGrid>
              <a:tr h="640080">
                <a:tc>
                  <a:txBody>
                    <a:bodyPr/>
                    <a:lstStyle/>
                    <a:p>
                      <a:pPr algn="l"/>
                      <a:r>
                        <a:rPr lang="en-US" sz="2400">
                          <a:solidFill>
                            <a:schemeClr val="tx1"/>
                          </a:solidFill>
                        </a:rPr>
                        <a:t>Accuracy Measure</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1759674350"/>
                  </a:ext>
                </a:extLst>
              </a:tr>
              <a:tr h="640080">
                <a:tc>
                  <a:txBody>
                    <a:bodyPr/>
                    <a:lstStyle/>
                    <a:p>
                      <a:pPr algn="l"/>
                      <a:r>
                        <a:rPr lang="en-US" sz="2400"/>
                        <a:t>Precision</a:t>
                      </a:r>
                    </a:p>
                  </a:txBody>
                  <a:tcPr anchor="ctr">
                    <a:solidFill>
                      <a:schemeClr val="tx1">
                        <a:lumMod val="10000"/>
                        <a:lumOff val="90000"/>
                      </a:schemeClr>
                    </a:solidFill>
                  </a:tcPr>
                </a:tc>
                <a:tc>
                  <a:txBody>
                    <a:bodyPr/>
                    <a:lstStyle/>
                    <a:p>
                      <a:pPr algn="ctr"/>
                      <a:r>
                        <a:rPr lang="en-US" sz="2400"/>
                        <a:t>0.990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0.996</a:t>
                      </a:r>
                    </a:p>
                  </a:txBody>
                  <a:tcPr anchor="ctr">
                    <a:solidFill>
                      <a:srgbClr val="CA0020"/>
                    </a:solidFill>
                  </a:tcPr>
                </a:tc>
                <a:tc>
                  <a:txBody>
                    <a:bodyPr/>
                    <a:lstStyle/>
                    <a:p>
                      <a:pPr algn="ctr"/>
                      <a:r>
                        <a:rPr lang="en-US" sz="2400"/>
                        <a:t>0.991</a:t>
                      </a:r>
                    </a:p>
                  </a:txBody>
                  <a:tcPr anchor="ctr">
                    <a:solidFill>
                      <a:srgbClr val="F4A582"/>
                    </a:solidFill>
                  </a:tcPr>
                </a:tc>
                <a:tc>
                  <a:txBody>
                    <a:bodyPr/>
                    <a:lstStyle/>
                    <a:p>
                      <a:pPr algn="ctr"/>
                      <a:r>
                        <a:rPr lang="en-US" sz="2400"/>
                        <a:t>0.993</a:t>
                      </a:r>
                    </a:p>
                  </a:txBody>
                  <a:tcPr anchor="ctr">
                    <a:solidFill>
                      <a:srgbClr val="92C5DE"/>
                    </a:solidFill>
                  </a:tcPr>
                </a:tc>
                <a:extLst>
                  <a:ext uri="{0D108BD9-81ED-4DB2-BD59-A6C34878D82A}">
                    <a16:rowId xmlns:a16="http://schemas.microsoft.com/office/drawing/2014/main" val="2352800743"/>
                  </a:ext>
                </a:extLst>
              </a:tr>
              <a:tr h="640080">
                <a:tc>
                  <a:txBody>
                    <a:bodyPr/>
                    <a:lstStyle/>
                    <a:p>
                      <a:pPr algn="l"/>
                      <a:r>
                        <a:rPr lang="en-US" sz="2400"/>
                        <a:t>Recall</a:t>
                      </a:r>
                    </a:p>
                  </a:txBody>
                  <a:tcPr anchor="ctr">
                    <a:solidFill>
                      <a:schemeClr val="tx1">
                        <a:lumMod val="10000"/>
                        <a:lumOff val="90000"/>
                      </a:schemeClr>
                    </a:solidFill>
                  </a:tcPr>
                </a:tc>
                <a:tc>
                  <a:txBody>
                    <a:bodyPr/>
                    <a:lstStyle/>
                    <a:p>
                      <a:pPr algn="ctr"/>
                      <a:r>
                        <a:rPr lang="en-US" sz="2400"/>
                        <a:t>0.714</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0.749</a:t>
                      </a:r>
                    </a:p>
                  </a:txBody>
                  <a:tcPr anchor="ctr">
                    <a:solidFill>
                      <a:srgbClr val="CA0020"/>
                    </a:solidFill>
                  </a:tcPr>
                </a:tc>
                <a:tc>
                  <a:txBody>
                    <a:bodyPr/>
                    <a:lstStyle/>
                    <a:p>
                      <a:pPr algn="ctr"/>
                      <a:r>
                        <a:rPr lang="en-US" sz="2400"/>
                        <a:t>0.396</a:t>
                      </a:r>
                    </a:p>
                  </a:txBody>
                  <a:tcPr anchor="ctr">
                    <a:solidFill>
                      <a:srgbClr val="F4A582"/>
                    </a:solidFill>
                  </a:tcPr>
                </a:tc>
                <a:tc>
                  <a:txBody>
                    <a:bodyPr/>
                    <a:lstStyle/>
                    <a:p>
                      <a:pPr algn="ctr"/>
                      <a:r>
                        <a:rPr lang="en-US" sz="2400"/>
                        <a:t>0.858</a:t>
                      </a:r>
                    </a:p>
                  </a:txBody>
                  <a:tcPr anchor="ctr">
                    <a:solidFill>
                      <a:srgbClr val="92C5DE"/>
                    </a:solidFill>
                  </a:tcPr>
                </a:tc>
                <a:extLst>
                  <a:ext uri="{0D108BD9-81ED-4DB2-BD59-A6C34878D82A}">
                    <a16:rowId xmlns:a16="http://schemas.microsoft.com/office/drawing/2014/main" val="2587830922"/>
                  </a:ext>
                </a:extLst>
              </a:tr>
              <a:tr h="640080">
                <a:tc>
                  <a:txBody>
                    <a:bodyPr/>
                    <a:lstStyle/>
                    <a:p>
                      <a:pPr algn="l"/>
                      <a:r>
                        <a:rPr lang="en-US" sz="2400"/>
                        <a:t>Harmonic Mean</a:t>
                      </a:r>
                    </a:p>
                  </a:txBody>
                  <a:tcPr anchor="ctr">
                    <a:solidFill>
                      <a:schemeClr val="tx1">
                        <a:lumMod val="10000"/>
                        <a:lumOff val="90000"/>
                      </a:schemeClr>
                    </a:solidFill>
                  </a:tcPr>
                </a:tc>
                <a:tc>
                  <a:txBody>
                    <a:bodyPr/>
                    <a:lstStyle/>
                    <a:p>
                      <a:pPr algn="ctr"/>
                      <a:r>
                        <a:rPr lang="en-US" sz="2400"/>
                        <a:t>0.829</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0.854</a:t>
                      </a:r>
                    </a:p>
                  </a:txBody>
                  <a:tcPr anchor="ctr">
                    <a:solidFill>
                      <a:srgbClr val="CA0020"/>
                    </a:solidFill>
                  </a:tcPr>
                </a:tc>
                <a:tc>
                  <a:txBody>
                    <a:bodyPr/>
                    <a:lstStyle/>
                    <a:p>
                      <a:pPr algn="ctr"/>
                      <a:r>
                        <a:rPr lang="en-US" sz="2400"/>
                        <a:t>0.565</a:t>
                      </a:r>
                    </a:p>
                  </a:txBody>
                  <a:tcPr anchor="ctr">
                    <a:solidFill>
                      <a:srgbClr val="F4A582"/>
                    </a:solidFill>
                  </a:tcPr>
                </a:tc>
                <a:tc>
                  <a:txBody>
                    <a:bodyPr/>
                    <a:lstStyle/>
                    <a:p>
                      <a:pPr algn="ctr"/>
                      <a:r>
                        <a:rPr lang="en-US" sz="2400"/>
                        <a:t>0.920</a:t>
                      </a:r>
                    </a:p>
                  </a:txBody>
                  <a:tcPr anchor="ctr">
                    <a:solidFill>
                      <a:srgbClr val="92C5DE"/>
                    </a:solidFill>
                  </a:tcPr>
                </a:tc>
                <a:extLst>
                  <a:ext uri="{0D108BD9-81ED-4DB2-BD59-A6C34878D82A}">
                    <a16:rowId xmlns:a16="http://schemas.microsoft.com/office/drawing/2014/main" val="647291644"/>
                  </a:ext>
                </a:extLst>
              </a:tr>
              <a:tr h="640080">
                <a:tc>
                  <a:txBody>
                    <a:bodyPr/>
                    <a:lstStyle/>
                    <a:p>
                      <a:pPr algn="l"/>
                      <a:r>
                        <a:rPr lang="en-US" sz="2400"/>
                        <a:t>Average Uncertainty </a:t>
                      </a:r>
                    </a:p>
                  </a:txBody>
                  <a:tcPr anchor="ctr">
                    <a:solidFill>
                      <a:schemeClr val="tx1">
                        <a:lumMod val="10000"/>
                        <a:lumOff val="90000"/>
                      </a:schemeClr>
                    </a:solidFill>
                  </a:tcPr>
                </a:tc>
                <a:tc>
                  <a:txBody>
                    <a:bodyPr/>
                    <a:lstStyle/>
                    <a:p>
                      <a:pPr algn="ctr"/>
                      <a:r>
                        <a:rPr lang="en-US" sz="2400"/>
                        <a:t>0.668</a:t>
                      </a:r>
                    </a:p>
                  </a:txBody>
                  <a:tcPr anchor="ctr">
                    <a:solidFill>
                      <a:srgbClr val="0571B0"/>
                    </a:solidFill>
                  </a:tcPr>
                </a:tc>
                <a:tc>
                  <a:txBody>
                    <a:bodyPr/>
                    <a:lstStyle/>
                    <a:p>
                      <a:pPr algn="ctr"/>
                      <a:r>
                        <a:rPr lang="en-US" sz="2400"/>
                        <a:t>0.577</a:t>
                      </a:r>
                    </a:p>
                  </a:txBody>
                  <a:tcPr anchor="ctr">
                    <a:solidFill>
                      <a:srgbClr val="CA0020"/>
                    </a:solidFill>
                  </a:tcPr>
                </a:tc>
                <a:tc>
                  <a:txBody>
                    <a:bodyPr/>
                    <a:lstStyle/>
                    <a:p>
                      <a:pPr algn="ctr"/>
                      <a:r>
                        <a:rPr lang="en-US" sz="2400"/>
                        <a:t>0.774</a:t>
                      </a:r>
                    </a:p>
                  </a:txBody>
                  <a:tcPr anchor="ctr">
                    <a:solidFill>
                      <a:srgbClr val="F4A582"/>
                    </a:solidFill>
                  </a:tcPr>
                </a:tc>
                <a:tc>
                  <a:txBody>
                    <a:bodyPr/>
                    <a:lstStyle/>
                    <a:p>
                      <a:pPr algn="ctr"/>
                      <a:r>
                        <a:rPr lang="en-US" sz="2400"/>
                        <a:t>0.604</a:t>
                      </a:r>
                    </a:p>
                  </a:txBody>
                  <a:tcPr anchor="ctr">
                    <a:solidFill>
                      <a:srgbClr val="92C5DE"/>
                    </a:solidFill>
                  </a:tcPr>
                </a:tc>
                <a:extLst>
                  <a:ext uri="{0D108BD9-81ED-4DB2-BD59-A6C34878D82A}">
                    <a16:rowId xmlns:a16="http://schemas.microsoft.com/office/drawing/2014/main" val="268930144"/>
                  </a:ext>
                </a:extLst>
              </a:tr>
            </a:tbl>
          </a:graphicData>
        </a:graphic>
      </p:graphicFrame>
      <p:sp>
        <p:nvSpPr>
          <p:cNvPr id="6" name="Rectangle 5">
            <a:extLst>
              <a:ext uri="{FF2B5EF4-FFF2-40B4-BE49-F238E27FC236}">
                <a16:creationId xmlns:a16="http://schemas.microsoft.com/office/drawing/2014/main" id="{5F0597CF-144D-3B35-CC7E-C8BB5F0814D4}"/>
              </a:ext>
            </a:extLst>
          </p:cNvPr>
          <p:cNvSpPr/>
          <p:nvPr/>
        </p:nvSpPr>
        <p:spPr>
          <a:xfrm>
            <a:off x="5960128" y="1189821"/>
            <a:ext cx="1145752" cy="45664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TextBox 7">
            <a:extLst>
              <a:ext uri="{FF2B5EF4-FFF2-40B4-BE49-F238E27FC236}">
                <a16:creationId xmlns:a16="http://schemas.microsoft.com/office/drawing/2014/main" id="{0C141455-6615-E37A-1C64-D1963E8CA919}"/>
              </a:ext>
            </a:extLst>
          </p:cNvPr>
          <p:cNvSpPr txBox="1"/>
          <p:nvPr/>
        </p:nvSpPr>
        <p:spPr>
          <a:xfrm>
            <a:off x="336577" y="1039347"/>
            <a:ext cx="3607462" cy="461665"/>
          </a:xfrm>
          <a:prstGeom prst="rect">
            <a:avLst/>
          </a:prstGeom>
          <a:noFill/>
        </p:spPr>
        <p:txBody>
          <a:bodyPr wrap="square">
            <a:spAutoFit/>
          </a:bodyPr>
          <a:lstStyle/>
          <a:p>
            <a:r>
              <a:rPr lang="en-US" sz="2400" b="1"/>
              <a:t>Direct Match</a:t>
            </a:r>
          </a:p>
        </p:txBody>
      </p:sp>
      <p:sp>
        <p:nvSpPr>
          <p:cNvPr id="9" name="TextBox 8">
            <a:extLst>
              <a:ext uri="{FF2B5EF4-FFF2-40B4-BE49-F238E27FC236}">
                <a16:creationId xmlns:a16="http://schemas.microsoft.com/office/drawing/2014/main" id="{A7D26F8F-DEFC-70F8-B020-5AB58CBDA6DF}"/>
              </a:ext>
            </a:extLst>
          </p:cNvPr>
          <p:cNvSpPr txBox="1"/>
          <p:nvPr/>
        </p:nvSpPr>
        <p:spPr>
          <a:xfrm>
            <a:off x="7012816" y="1038175"/>
            <a:ext cx="3607462" cy="461665"/>
          </a:xfrm>
          <a:prstGeom prst="rect">
            <a:avLst/>
          </a:prstGeom>
          <a:noFill/>
        </p:spPr>
        <p:txBody>
          <a:bodyPr wrap="square">
            <a:spAutoFit/>
          </a:bodyPr>
          <a:lstStyle/>
          <a:p>
            <a:r>
              <a:rPr lang="en-US" sz="2400" b="1"/>
              <a:t>“Realistic” Match</a:t>
            </a:r>
          </a:p>
        </p:txBody>
      </p:sp>
      <p:sp>
        <p:nvSpPr>
          <p:cNvPr id="10" name="Content Placeholder 4">
            <a:extLst>
              <a:ext uri="{FF2B5EF4-FFF2-40B4-BE49-F238E27FC236}">
                <a16:creationId xmlns:a16="http://schemas.microsoft.com/office/drawing/2014/main" id="{2A293F50-C21A-8C55-3E1D-116C40F9C2B6}"/>
              </a:ext>
            </a:extLst>
          </p:cNvPr>
          <p:cNvSpPr txBox="1">
            <a:spLocks/>
          </p:cNvSpPr>
          <p:nvPr/>
        </p:nvSpPr>
        <p:spPr>
          <a:xfrm>
            <a:off x="7012816" y="5430144"/>
            <a:ext cx="4410151" cy="326171"/>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Interrater Reliability Kappa: 0.70</a:t>
            </a:r>
          </a:p>
          <a:p>
            <a:pPr marL="342900" indent="-342900">
              <a:buFont typeface="Arial" panose="020B0604020202020204" pitchFamily="34" charset="0"/>
              <a:buChar char="•"/>
            </a:pPr>
            <a:endParaRPr lang="en-US"/>
          </a:p>
        </p:txBody>
      </p:sp>
      <p:sp>
        <p:nvSpPr>
          <p:cNvPr id="7" name="Rectangle: Rounded Corners 6">
            <a:extLst>
              <a:ext uri="{FF2B5EF4-FFF2-40B4-BE49-F238E27FC236}">
                <a16:creationId xmlns:a16="http://schemas.microsoft.com/office/drawing/2014/main" id="{6D43CEEC-A37A-D2BB-F746-C9A78E11E969}"/>
              </a:ext>
            </a:extLst>
          </p:cNvPr>
          <p:cNvSpPr/>
          <p:nvPr/>
        </p:nvSpPr>
        <p:spPr>
          <a:xfrm>
            <a:off x="8967730" y="1506368"/>
            <a:ext cx="903383" cy="3749040"/>
          </a:xfrm>
          <a:prstGeom prst="roundRect">
            <a:avLst/>
          </a:prstGeom>
          <a:noFill/>
          <a:ln w="5715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7501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63474-BADA-AD69-E1EF-EA765FD9A2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49053C-7440-6D9C-131F-A5F2CE018B9F}"/>
              </a:ext>
            </a:extLst>
          </p:cNvPr>
          <p:cNvSpPr>
            <a:spLocks noGrp="1"/>
          </p:cNvSpPr>
          <p:nvPr>
            <p:ph type="sldNum" sz="quarter" idx="12"/>
          </p:nvPr>
        </p:nvSpPr>
        <p:spPr/>
        <p:txBody>
          <a:bodyPr/>
          <a:lstStyle/>
          <a:p>
            <a:fld id="{DFA4CD3D-26C8-47FF-8D13-9B32BAAB4735}" type="slidenum">
              <a:rPr lang="en-US" smtClean="0"/>
              <a:t>35</a:t>
            </a:fld>
            <a:endParaRPr lang="en-US"/>
          </a:p>
        </p:txBody>
      </p:sp>
      <p:sp>
        <p:nvSpPr>
          <p:cNvPr id="3" name="Title 2">
            <a:extLst>
              <a:ext uri="{FF2B5EF4-FFF2-40B4-BE49-F238E27FC236}">
                <a16:creationId xmlns:a16="http://schemas.microsoft.com/office/drawing/2014/main" id="{14ED2430-A9DF-8C42-380D-E9EE0845C2D8}"/>
              </a:ext>
            </a:extLst>
          </p:cNvPr>
          <p:cNvSpPr>
            <a:spLocks noGrp="1"/>
          </p:cNvSpPr>
          <p:nvPr>
            <p:ph type="title"/>
          </p:nvPr>
        </p:nvSpPr>
        <p:spPr>
          <a:xfrm>
            <a:off x="396429" y="466335"/>
            <a:ext cx="11398253" cy="838854"/>
          </a:xfrm>
        </p:spPr>
        <p:txBody>
          <a:bodyPr>
            <a:normAutofit/>
          </a:bodyPr>
          <a:lstStyle/>
          <a:p>
            <a:r>
              <a:rPr lang="en-US" sz="3600"/>
              <a:t>Public-Private Governance Failed Match Examples</a:t>
            </a:r>
          </a:p>
        </p:txBody>
      </p:sp>
      <p:sp>
        <p:nvSpPr>
          <p:cNvPr id="11" name="Rectangle: Rounded Corners 10">
            <a:extLst>
              <a:ext uri="{FF2B5EF4-FFF2-40B4-BE49-F238E27FC236}">
                <a16:creationId xmlns:a16="http://schemas.microsoft.com/office/drawing/2014/main" id="{0CFD16A1-F94C-9308-7C2D-C43DCB4B464F}"/>
              </a:ext>
            </a:extLst>
          </p:cNvPr>
          <p:cNvSpPr/>
          <p:nvPr/>
        </p:nvSpPr>
        <p:spPr>
          <a:xfrm>
            <a:off x="396429" y="1206230"/>
            <a:ext cx="4289898" cy="1566154"/>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202324"/>
                </a:solidFill>
                <a:effectLst/>
                <a:uLnTx/>
                <a:uFillTx/>
                <a:latin typeface="Buckeye Sans"/>
                <a:ea typeface="+mn-ea"/>
                <a:cs typeface="+mn-cs"/>
              </a:rPr>
              <a:t>“strategic grantmaking”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7)</a:t>
            </a:r>
          </a:p>
        </p:txBody>
      </p:sp>
      <p:sp>
        <p:nvSpPr>
          <p:cNvPr id="14" name="Rectangle: Rounded Corners 13">
            <a:extLst>
              <a:ext uri="{FF2B5EF4-FFF2-40B4-BE49-F238E27FC236}">
                <a16:creationId xmlns:a16="http://schemas.microsoft.com/office/drawing/2014/main" id="{1D618B48-345D-9603-7019-3B71744A3195}"/>
              </a:ext>
            </a:extLst>
          </p:cNvPr>
          <p:cNvSpPr/>
          <p:nvPr/>
        </p:nvSpPr>
        <p:spPr>
          <a:xfrm>
            <a:off x="396428" y="2960754"/>
            <a:ext cx="7932324" cy="3263776"/>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a:solidFill>
                  <a:schemeClr val="tx1"/>
                </a:solidFill>
              </a:rPr>
              <a:t>“The Community Impact Fund, a mechanism to provide financial resources to Long Beach nonprofits, was established to create real solutions to local challenges. Each year the LBCF Board of Directors identify the most pressing issues facing our city. For more than two decades, LBCF has worked closely with nonprofits who are on the front line of housing and homelessness, poverty, education, youth development, mental health, crime prevention, and more.”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18)</a:t>
            </a:r>
          </a:p>
        </p:txBody>
      </p:sp>
      <p:graphicFrame>
        <p:nvGraphicFramePr>
          <p:cNvPr id="4" name="Table 3">
            <a:extLst>
              <a:ext uri="{FF2B5EF4-FFF2-40B4-BE49-F238E27FC236}">
                <a16:creationId xmlns:a16="http://schemas.microsoft.com/office/drawing/2014/main" id="{4DFD9A4A-C0A0-9709-F436-BCB4236B2183}"/>
              </a:ext>
            </a:extLst>
          </p:cNvPr>
          <p:cNvGraphicFramePr>
            <a:graphicFrameLocks noGrp="1"/>
          </p:cNvGraphicFramePr>
          <p:nvPr>
            <p:extLst>
              <p:ext uri="{D42A27DB-BD31-4B8C-83A1-F6EECF244321}">
                <p14:modId xmlns:p14="http://schemas.microsoft.com/office/powerpoint/2010/main" val="1010884569"/>
              </p:ext>
            </p:extLst>
          </p:nvPr>
        </p:nvGraphicFramePr>
        <p:xfrm>
          <a:off x="5109039" y="1398706"/>
          <a:ext cx="4793272" cy="1280160"/>
        </p:xfrm>
        <a:graphic>
          <a:graphicData uri="http://schemas.openxmlformats.org/drawingml/2006/table">
            <a:tbl>
              <a:tblPr firstRow="1" bandRow="1">
                <a:tableStyleId>{5C22544A-7EE6-4342-B048-85BDC9FD1C3A}</a:tableStyleId>
              </a:tblPr>
              <a:tblGrid>
                <a:gridCol w="1585204">
                  <a:extLst>
                    <a:ext uri="{9D8B030D-6E8A-4147-A177-3AD203B41FA5}">
                      <a16:colId xmlns:a16="http://schemas.microsoft.com/office/drawing/2014/main" val="347811408"/>
                    </a:ext>
                  </a:extLst>
                </a:gridCol>
                <a:gridCol w="802017">
                  <a:extLst>
                    <a:ext uri="{9D8B030D-6E8A-4147-A177-3AD203B41FA5}">
                      <a16:colId xmlns:a16="http://schemas.microsoft.com/office/drawing/2014/main" val="3210498263"/>
                    </a:ext>
                  </a:extLst>
                </a:gridCol>
                <a:gridCol w="802017">
                  <a:extLst>
                    <a:ext uri="{9D8B030D-6E8A-4147-A177-3AD203B41FA5}">
                      <a16:colId xmlns:a16="http://schemas.microsoft.com/office/drawing/2014/main" val="403994841"/>
                    </a:ext>
                  </a:extLst>
                </a:gridCol>
                <a:gridCol w="802017">
                  <a:extLst>
                    <a:ext uri="{9D8B030D-6E8A-4147-A177-3AD203B41FA5}">
                      <a16:colId xmlns:a16="http://schemas.microsoft.com/office/drawing/2014/main" val="3730530381"/>
                    </a:ext>
                  </a:extLst>
                </a:gridCol>
                <a:gridCol w="802017">
                  <a:extLst>
                    <a:ext uri="{9D8B030D-6E8A-4147-A177-3AD203B41FA5}">
                      <a16:colId xmlns:a16="http://schemas.microsoft.com/office/drawing/2014/main" val="865941096"/>
                    </a:ext>
                  </a:extLst>
                </a:gridCol>
              </a:tblGrid>
              <a:tr h="640080">
                <a:tc>
                  <a:txBody>
                    <a:bodyPr/>
                    <a:lstStyle/>
                    <a:p>
                      <a:pPr algn="l"/>
                      <a:r>
                        <a:rPr lang="en-US" sz="2400">
                          <a:solidFill>
                            <a:schemeClr val="tx1"/>
                          </a:solidFill>
                        </a:rPr>
                        <a:t>Logic</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430239187"/>
                  </a:ext>
                </a:extLst>
              </a:tr>
              <a:tr h="640080">
                <a:tc>
                  <a:txBody>
                    <a:bodyPr/>
                    <a:lstStyle/>
                    <a:p>
                      <a:pPr algn="l"/>
                      <a:r>
                        <a:rPr lang="en-US" sz="2400"/>
                        <a:t>Weight</a:t>
                      </a:r>
                    </a:p>
                  </a:txBody>
                  <a:tcPr anchor="ctr">
                    <a:solidFill>
                      <a:schemeClr val="tx1">
                        <a:lumMod val="10000"/>
                        <a:lumOff val="90000"/>
                      </a:schemeClr>
                    </a:solidFill>
                  </a:tcPr>
                </a:tc>
                <a:tc>
                  <a:txBody>
                    <a:bodyPr/>
                    <a:lstStyle/>
                    <a:p>
                      <a:pPr algn="ctr"/>
                      <a:r>
                        <a:rPr lang="en-US" sz="2400"/>
                        <a:t>30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20</a:t>
                      </a:r>
                    </a:p>
                  </a:txBody>
                  <a:tcPr anchor="ctr">
                    <a:solidFill>
                      <a:srgbClr val="CA0020"/>
                    </a:solidFill>
                  </a:tcPr>
                </a:tc>
                <a:tc>
                  <a:txBody>
                    <a:bodyPr/>
                    <a:lstStyle/>
                    <a:p>
                      <a:pPr algn="ctr"/>
                      <a:r>
                        <a:rPr lang="en-US" sz="2400"/>
                        <a:t>30</a:t>
                      </a:r>
                    </a:p>
                  </a:txBody>
                  <a:tcPr anchor="ctr">
                    <a:solidFill>
                      <a:srgbClr val="F4A582"/>
                    </a:solidFill>
                  </a:tcPr>
                </a:tc>
                <a:tc>
                  <a:txBody>
                    <a:bodyPr/>
                    <a:lstStyle/>
                    <a:p>
                      <a:pPr algn="ctr"/>
                      <a:r>
                        <a:rPr lang="en-US" sz="2400"/>
                        <a:t>20</a:t>
                      </a:r>
                    </a:p>
                  </a:txBody>
                  <a:tcPr anchor="ctr">
                    <a:solidFill>
                      <a:srgbClr val="92C5DE"/>
                    </a:solidFill>
                  </a:tcPr>
                </a:tc>
                <a:extLst>
                  <a:ext uri="{0D108BD9-81ED-4DB2-BD59-A6C34878D82A}">
                    <a16:rowId xmlns:a16="http://schemas.microsoft.com/office/drawing/2014/main" val="1007952667"/>
                  </a:ext>
                </a:extLst>
              </a:tr>
            </a:tbl>
          </a:graphicData>
        </a:graphic>
      </p:graphicFrame>
      <p:graphicFrame>
        <p:nvGraphicFramePr>
          <p:cNvPr id="5" name="Table 4">
            <a:extLst>
              <a:ext uri="{FF2B5EF4-FFF2-40B4-BE49-F238E27FC236}">
                <a16:creationId xmlns:a16="http://schemas.microsoft.com/office/drawing/2014/main" id="{C0666C27-D0C3-24E2-353F-72715E6D1A08}"/>
              </a:ext>
            </a:extLst>
          </p:cNvPr>
          <p:cNvGraphicFramePr>
            <a:graphicFrameLocks noGrp="1"/>
          </p:cNvGraphicFramePr>
          <p:nvPr>
            <p:extLst>
              <p:ext uri="{D42A27DB-BD31-4B8C-83A1-F6EECF244321}">
                <p14:modId xmlns:p14="http://schemas.microsoft.com/office/powerpoint/2010/main" val="1187442048"/>
              </p:ext>
            </p:extLst>
          </p:nvPr>
        </p:nvGraphicFramePr>
        <p:xfrm>
          <a:off x="8053329" y="4179135"/>
          <a:ext cx="4010138" cy="1280160"/>
        </p:xfrm>
        <a:graphic>
          <a:graphicData uri="http://schemas.openxmlformats.org/drawingml/2006/table">
            <a:tbl>
              <a:tblPr firstRow="1" bandRow="1">
                <a:tableStyleId>{5C22544A-7EE6-4342-B048-85BDC9FD1C3A}</a:tableStyleId>
              </a:tblPr>
              <a:tblGrid>
                <a:gridCol w="1173422">
                  <a:extLst>
                    <a:ext uri="{9D8B030D-6E8A-4147-A177-3AD203B41FA5}">
                      <a16:colId xmlns:a16="http://schemas.microsoft.com/office/drawing/2014/main" val="347811408"/>
                    </a:ext>
                  </a:extLst>
                </a:gridCol>
                <a:gridCol w="709179">
                  <a:extLst>
                    <a:ext uri="{9D8B030D-6E8A-4147-A177-3AD203B41FA5}">
                      <a16:colId xmlns:a16="http://schemas.microsoft.com/office/drawing/2014/main" val="3210498263"/>
                    </a:ext>
                  </a:extLst>
                </a:gridCol>
                <a:gridCol w="709179">
                  <a:extLst>
                    <a:ext uri="{9D8B030D-6E8A-4147-A177-3AD203B41FA5}">
                      <a16:colId xmlns:a16="http://schemas.microsoft.com/office/drawing/2014/main" val="403994841"/>
                    </a:ext>
                  </a:extLst>
                </a:gridCol>
                <a:gridCol w="709179">
                  <a:extLst>
                    <a:ext uri="{9D8B030D-6E8A-4147-A177-3AD203B41FA5}">
                      <a16:colId xmlns:a16="http://schemas.microsoft.com/office/drawing/2014/main" val="3730530381"/>
                    </a:ext>
                  </a:extLst>
                </a:gridCol>
                <a:gridCol w="709179">
                  <a:extLst>
                    <a:ext uri="{9D8B030D-6E8A-4147-A177-3AD203B41FA5}">
                      <a16:colId xmlns:a16="http://schemas.microsoft.com/office/drawing/2014/main" val="865941096"/>
                    </a:ext>
                  </a:extLst>
                </a:gridCol>
              </a:tblGrid>
              <a:tr h="640080">
                <a:tc>
                  <a:txBody>
                    <a:bodyPr/>
                    <a:lstStyle/>
                    <a:p>
                      <a:pPr algn="l"/>
                      <a:r>
                        <a:rPr lang="en-US" sz="2400">
                          <a:solidFill>
                            <a:schemeClr val="tx1"/>
                          </a:solidFill>
                        </a:rPr>
                        <a:t>Logic</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430239187"/>
                  </a:ext>
                </a:extLst>
              </a:tr>
              <a:tr h="640080">
                <a:tc>
                  <a:txBody>
                    <a:bodyPr/>
                    <a:lstStyle/>
                    <a:p>
                      <a:pPr algn="l"/>
                      <a:r>
                        <a:rPr lang="en-US" sz="2400"/>
                        <a:t>Weight</a:t>
                      </a:r>
                    </a:p>
                  </a:txBody>
                  <a:tcPr anchor="ctr">
                    <a:solidFill>
                      <a:schemeClr val="tx1">
                        <a:lumMod val="10000"/>
                        <a:lumOff val="90000"/>
                      </a:schemeClr>
                    </a:solidFill>
                  </a:tcPr>
                </a:tc>
                <a:tc>
                  <a:txBody>
                    <a:bodyPr/>
                    <a:lstStyle/>
                    <a:p>
                      <a:pPr algn="ctr"/>
                      <a:r>
                        <a:rPr lang="en-US" sz="2400"/>
                        <a:t>60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a:t>
                      </a:r>
                    </a:p>
                  </a:txBody>
                  <a:tcPr anchor="ctr">
                    <a:solidFill>
                      <a:srgbClr val="CA0020"/>
                    </a:solidFill>
                  </a:tcPr>
                </a:tc>
                <a:tc>
                  <a:txBody>
                    <a:bodyPr/>
                    <a:lstStyle/>
                    <a:p>
                      <a:pPr algn="ctr"/>
                      <a:r>
                        <a:rPr lang="en-US" sz="2400"/>
                        <a:t>20</a:t>
                      </a:r>
                    </a:p>
                  </a:txBody>
                  <a:tcPr anchor="ctr">
                    <a:solidFill>
                      <a:srgbClr val="F4A582"/>
                    </a:solidFill>
                  </a:tcPr>
                </a:tc>
                <a:tc>
                  <a:txBody>
                    <a:bodyPr/>
                    <a:lstStyle/>
                    <a:p>
                      <a:pPr algn="ctr"/>
                      <a:r>
                        <a:rPr lang="en-US" sz="2400"/>
                        <a:t>20</a:t>
                      </a:r>
                    </a:p>
                  </a:txBody>
                  <a:tcPr anchor="ctr">
                    <a:solidFill>
                      <a:srgbClr val="92C5DE"/>
                    </a:solidFill>
                  </a:tcPr>
                </a:tc>
                <a:extLst>
                  <a:ext uri="{0D108BD9-81ED-4DB2-BD59-A6C34878D82A}">
                    <a16:rowId xmlns:a16="http://schemas.microsoft.com/office/drawing/2014/main" val="1007952667"/>
                  </a:ext>
                </a:extLst>
              </a:tr>
            </a:tbl>
          </a:graphicData>
        </a:graphic>
      </p:graphicFrame>
    </p:spTree>
    <p:extLst>
      <p:ext uri="{BB962C8B-B14F-4D97-AF65-F5344CB8AC3E}">
        <p14:creationId xmlns:p14="http://schemas.microsoft.com/office/powerpoint/2010/main" val="3755740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5F63-5D86-E941-FFE9-A1625FC95E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2CBED6-88F5-A0FA-0D2A-EEF9BB678A28}"/>
              </a:ext>
            </a:extLst>
          </p:cNvPr>
          <p:cNvSpPr>
            <a:spLocks noGrp="1"/>
          </p:cNvSpPr>
          <p:nvPr>
            <p:ph type="sldNum" sz="quarter" idx="12"/>
          </p:nvPr>
        </p:nvSpPr>
        <p:spPr/>
        <p:txBody>
          <a:bodyPr/>
          <a:lstStyle/>
          <a:p>
            <a:fld id="{DFA4CD3D-26C8-47FF-8D13-9B32BAAB4735}" type="slidenum">
              <a:rPr lang="en-US" smtClean="0"/>
              <a:t>36</a:t>
            </a:fld>
            <a:endParaRPr lang="en-US"/>
          </a:p>
        </p:txBody>
      </p:sp>
      <p:sp>
        <p:nvSpPr>
          <p:cNvPr id="3" name="Title 2">
            <a:extLst>
              <a:ext uri="{FF2B5EF4-FFF2-40B4-BE49-F238E27FC236}">
                <a16:creationId xmlns:a16="http://schemas.microsoft.com/office/drawing/2014/main" id="{E806CB19-B3C5-0509-C259-273B23070EF4}"/>
              </a:ext>
            </a:extLst>
          </p:cNvPr>
          <p:cNvSpPr>
            <a:spLocks noGrp="1"/>
          </p:cNvSpPr>
          <p:nvPr>
            <p:ph type="title"/>
          </p:nvPr>
        </p:nvSpPr>
        <p:spPr>
          <a:xfrm>
            <a:off x="396429" y="466335"/>
            <a:ext cx="11398253" cy="838854"/>
          </a:xfrm>
        </p:spPr>
        <p:txBody>
          <a:bodyPr>
            <a:normAutofit/>
          </a:bodyPr>
          <a:lstStyle/>
          <a:p>
            <a:r>
              <a:rPr lang="en-US" sz="3600"/>
              <a:t>Contributions &amp; Takeaways</a:t>
            </a:r>
          </a:p>
        </p:txBody>
      </p:sp>
      <p:sp>
        <p:nvSpPr>
          <p:cNvPr id="5" name="Content Placeholder 4">
            <a:extLst>
              <a:ext uri="{FF2B5EF4-FFF2-40B4-BE49-F238E27FC236}">
                <a16:creationId xmlns:a16="http://schemas.microsoft.com/office/drawing/2014/main" id="{53FF70DA-2452-80EA-8628-F95F06D44DCD}"/>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2662926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74105-96ED-9225-8A98-6816C694AF2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FD1E3E-4EBD-AC52-2078-B30E3C19BD80}"/>
              </a:ext>
            </a:extLst>
          </p:cNvPr>
          <p:cNvSpPr>
            <a:spLocks noGrp="1"/>
          </p:cNvSpPr>
          <p:nvPr>
            <p:ph type="sldNum" sz="quarter" idx="12"/>
          </p:nvPr>
        </p:nvSpPr>
        <p:spPr/>
        <p:txBody>
          <a:bodyPr/>
          <a:lstStyle/>
          <a:p>
            <a:fld id="{DFA4CD3D-26C8-47FF-8D13-9B32BAAB4735}" type="slidenum">
              <a:rPr lang="en-US" smtClean="0"/>
              <a:t>37</a:t>
            </a:fld>
            <a:endParaRPr lang="en-US"/>
          </a:p>
        </p:txBody>
      </p:sp>
      <p:sp>
        <p:nvSpPr>
          <p:cNvPr id="3" name="Title 2">
            <a:extLst>
              <a:ext uri="{FF2B5EF4-FFF2-40B4-BE49-F238E27FC236}">
                <a16:creationId xmlns:a16="http://schemas.microsoft.com/office/drawing/2014/main" id="{F77CFD96-0888-DEE6-D04B-B6849CDD2082}"/>
              </a:ext>
            </a:extLst>
          </p:cNvPr>
          <p:cNvSpPr>
            <a:spLocks noGrp="1"/>
          </p:cNvSpPr>
          <p:nvPr>
            <p:ph type="title"/>
          </p:nvPr>
        </p:nvSpPr>
        <p:spPr>
          <a:xfrm>
            <a:off x="396429" y="466335"/>
            <a:ext cx="11398253" cy="838854"/>
          </a:xfrm>
        </p:spPr>
        <p:txBody>
          <a:bodyPr>
            <a:normAutofit/>
          </a:bodyPr>
          <a:lstStyle/>
          <a:p>
            <a:r>
              <a:rPr lang="en-US" sz="3600"/>
              <a:t>Contributions &amp; Takeaways</a:t>
            </a:r>
          </a:p>
        </p:txBody>
      </p:sp>
      <p:sp>
        <p:nvSpPr>
          <p:cNvPr id="5" name="Content Placeholder 4">
            <a:extLst>
              <a:ext uri="{FF2B5EF4-FFF2-40B4-BE49-F238E27FC236}">
                <a16:creationId xmlns:a16="http://schemas.microsoft.com/office/drawing/2014/main" id="{3A80F0CD-2786-5FE8-1530-DF63AE8E3442}"/>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r>
              <a:rPr lang="en-US"/>
              <a:t>Theory-driven</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1847070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2818E-21A9-DFF4-C310-B5915D1A5E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843EA8-FBDE-AA77-DDD9-BF8DD6ACFF46}"/>
              </a:ext>
            </a:extLst>
          </p:cNvPr>
          <p:cNvSpPr>
            <a:spLocks noGrp="1"/>
          </p:cNvSpPr>
          <p:nvPr>
            <p:ph type="sldNum" sz="quarter" idx="12"/>
          </p:nvPr>
        </p:nvSpPr>
        <p:spPr/>
        <p:txBody>
          <a:bodyPr/>
          <a:lstStyle/>
          <a:p>
            <a:fld id="{DFA4CD3D-26C8-47FF-8D13-9B32BAAB4735}" type="slidenum">
              <a:rPr lang="en-US" smtClean="0"/>
              <a:t>38</a:t>
            </a:fld>
            <a:endParaRPr lang="en-US"/>
          </a:p>
        </p:txBody>
      </p:sp>
      <p:sp>
        <p:nvSpPr>
          <p:cNvPr id="3" name="Title 2">
            <a:extLst>
              <a:ext uri="{FF2B5EF4-FFF2-40B4-BE49-F238E27FC236}">
                <a16:creationId xmlns:a16="http://schemas.microsoft.com/office/drawing/2014/main" id="{AAC5F42D-884C-2F37-BAE0-0FAD459C2795}"/>
              </a:ext>
            </a:extLst>
          </p:cNvPr>
          <p:cNvSpPr>
            <a:spLocks noGrp="1"/>
          </p:cNvSpPr>
          <p:nvPr>
            <p:ph type="title"/>
          </p:nvPr>
        </p:nvSpPr>
        <p:spPr>
          <a:xfrm>
            <a:off x="396429" y="466335"/>
            <a:ext cx="11398253" cy="838854"/>
          </a:xfrm>
        </p:spPr>
        <p:txBody>
          <a:bodyPr>
            <a:normAutofit/>
          </a:bodyPr>
          <a:lstStyle/>
          <a:p>
            <a:r>
              <a:rPr lang="en-US" sz="3600"/>
              <a:t>Contributions &amp; Takeaways</a:t>
            </a:r>
          </a:p>
        </p:txBody>
      </p:sp>
      <p:sp>
        <p:nvSpPr>
          <p:cNvPr id="5" name="Content Placeholder 4">
            <a:extLst>
              <a:ext uri="{FF2B5EF4-FFF2-40B4-BE49-F238E27FC236}">
                <a16:creationId xmlns:a16="http://schemas.microsoft.com/office/drawing/2014/main" id="{BD8B6CF5-8821-E578-5ADB-A47229D25626}"/>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r>
              <a:rPr lang="en-US"/>
              <a:t>Theory-driven</a:t>
            </a:r>
          </a:p>
          <a:p>
            <a:pPr marL="342900" indent="-342900">
              <a:buFont typeface="Arial" panose="020B0604020202020204" pitchFamily="34" charset="0"/>
              <a:buChar char="•"/>
            </a:pPr>
            <a:r>
              <a:rPr lang="en-US"/>
              <a:t>Applications to the management field</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2991004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1CBE-073C-7F8E-4C1E-2BE27733D0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BD4946-7131-707D-AF8E-741543F82E05}"/>
              </a:ext>
            </a:extLst>
          </p:cNvPr>
          <p:cNvSpPr>
            <a:spLocks noGrp="1"/>
          </p:cNvSpPr>
          <p:nvPr>
            <p:ph type="sldNum" sz="quarter" idx="12"/>
          </p:nvPr>
        </p:nvSpPr>
        <p:spPr/>
        <p:txBody>
          <a:bodyPr/>
          <a:lstStyle/>
          <a:p>
            <a:fld id="{DFA4CD3D-26C8-47FF-8D13-9B32BAAB4735}" type="slidenum">
              <a:rPr lang="en-US" smtClean="0"/>
              <a:t>39</a:t>
            </a:fld>
            <a:endParaRPr lang="en-US"/>
          </a:p>
        </p:txBody>
      </p:sp>
      <p:sp>
        <p:nvSpPr>
          <p:cNvPr id="3" name="Title 2">
            <a:extLst>
              <a:ext uri="{FF2B5EF4-FFF2-40B4-BE49-F238E27FC236}">
                <a16:creationId xmlns:a16="http://schemas.microsoft.com/office/drawing/2014/main" id="{39A8C381-D02E-4FE4-1087-5239835E5E18}"/>
              </a:ext>
            </a:extLst>
          </p:cNvPr>
          <p:cNvSpPr>
            <a:spLocks noGrp="1"/>
          </p:cNvSpPr>
          <p:nvPr>
            <p:ph type="title"/>
          </p:nvPr>
        </p:nvSpPr>
        <p:spPr>
          <a:xfrm>
            <a:off x="396429" y="466335"/>
            <a:ext cx="11398253" cy="838854"/>
          </a:xfrm>
        </p:spPr>
        <p:txBody>
          <a:bodyPr>
            <a:normAutofit/>
          </a:bodyPr>
          <a:lstStyle/>
          <a:p>
            <a:r>
              <a:rPr lang="en-US" sz="3600"/>
              <a:t>Contributions &amp; Takeaways</a:t>
            </a:r>
          </a:p>
        </p:txBody>
      </p:sp>
      <p:sp>
        <p:nvSpPr>
          <p:cNvPr id="5" name="Content Placeholder 4">
            <a:extLst>
              <a:ext uri="{FF2B5EF4-FFF2-40B4-BE49-F238E27FC236}">
                <a16:creationId xmlns:a16="http://schemas.microsoft.com/office/drawing/2014/main" id="{AE1CA7C7-5D67-7453-AAF2-8691226C6D0F}"/>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r>
              <a:rPr lang="en-US"/>
              <a:t>Theory-driven</a:t>
            </a:r>
          </a:p>
          <a:p>
            <a:pPr marL="342900" indent="-342900">
              <a:buFont typeface="Arial" panose="020B0604020202020204" pitchFamily="34" charset="0"/>
              <a:buChar char="•"/>
            </a:pPr>
            <a:r>
              <a:rPr lang="en-US"/>
              <a:t>Applications to the management field</a:t>
            </a:r>
          </a:p>
          <a:p>
            <a:pPr marL="342900" indent="-342900">
              <a:buFont typeface="Arial" panose="020B0604020202020204" pitchFamily="34" charset="0"/>
              <a:buChar char="•"/>
            </a:pPr>
            <a:r>
              <a:rPr lang="en-US"/>
              <a:t>Addresses a complex coding task</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3888734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F83E0-7A12-363B-5D6C-F6B54551FA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639650-FD37-5DD0-B429-E90B4A931358}"/>
              </a:ext>
            </a:extLst>
          </p:cNvPr>
          <p:cNvSpPr>
            <a:spLocks noGrp="1"/>
          </p:cNvSpPr>
          <p:nvPr>
            <p:ph type="sldNum" sz="quarter" idx="12"/>
          </p:nvPr>
        </p:nvSpPr>
        <p:spPr/>
        <p:txBody>
          <a:bodyPr/>
          <a:lstStyle/>
          <a:p>
            <a:fld id="{DFA4CD3D-26C8-47FF-8D13-9B32BAAB4735}" type="slidenum">
              <a:rPr lang="en-US" smtClean="0"/>
              <a:t>40</a:t>
            </a:fld>
            <a:endParaRPr lang="en-US"/>
          </a:p>
        </p:txBody>
      </p:sp>
      <p:sp>
        <p:nvSpPr>
          <p:cNvPr id="3" name="Title 2">
            <a:extLst>
              <a:ext uri="{FF2B5EF4-FFF2-40B4-BE49-F238E27FC236}">
                <a16:creationId xmlns:a16="http://schemas.microsoft.com/office/drawing/2014/main" id="{5BA2C949-BB63-E086-53FE-3EA5AD967D1A}"/>
              </a:ext>
            </a:extLst>
          </p:cNvPr>
          <p:cNvSpPr>
            <a:spLocks noGrp="1"/>
          </p:cNvSpPr>
          <p:nvPr>
            <p:ph type="title"/>
          </p:nvPr>
        </p:nvSpPr>
        <p:spPr>
          <a:xfrm>
            <a:off x="396429" y="466335"/>
            <a:ext cx="11398253" cy="838854"/>
          </a:xfrm>
        </p:spPr>
        <p:txBody>
          <a:bodyPr>
            <a:normAutofit/>
          </a:bodyPr>
          <a:lstStyle/>
          <a:p>
            <a:r>
              <a:rPr lang="en-US" sz="3600"/>
              <a:t>Contributions &amp; Takeaways</a:t>
            </a:r>
          </a:p>
        </p:txBody>
      </p:sp>
      <p:sp>
        <p:nvSpPr>
          <p:cNvPr id="5" name="Content Placeholder 4">
            <a:extLst>
              <a:ext uri="{FF2B5EF4-FFF2-40B4-BE49-F238E27FC236}">
                <a16:creationId xmlns:a16="http://schemas.microsoft.com/office/drawing/2014/main" id="{ACCFE72E-4903-6503-85CA-D96EC62F6D3E}"/>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r>
              <a:rPr lang="en-US"/>
              <a:t>Theory-driven</a:t>
            </a:r>
          </a:p>
          <a:p>
            <a:pPr marL="342900" indent="-342900">
              <a:buFont typeface="Arial" panose="020B0604020202020204" pitchFamily="34" charset="0"/>
              <a:buChar char="•"/>
            </a:pPr>
            <a:r>
              <a:rPr lang="en-US"/>
              <a:t>Applications to the management field</a:t>
            </a:r>
          </a:p>
          <a:p>
            <a:pPr marL="342900" indent="-342900">
              <a:buFont typeface="Arial" panose="020B0604020202020204" pitchFamily="34" charset="0"/>
              <a:buChar char="•"/>
            </a:pPr>
            <a:r>
              <a:rPr lang="en-US"/>
              <a:t>Addresses a complex coding task</a:t>
            </a:r>
          </a:p>
          <a:p>
            <a:pPr marL="342900" indent="-342900">
              <a:buFont typeface="Arial" panose="020B0604020202020204" pitchFamily="34" charset="0"/>
              <a:buChar char="•"/>
            </a:pPr>
            <a:r>
              <a:rPr lang="en-US"/>
              <a:t>Refining and scaling qualitative coding</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4178089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2F5EB-DCDE-0AB7-3A51-9E0111F5D6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8EF809-5AC4-81B7-1F42-55AB31971241}"/>
              </a:ext>
            </a:extLst>
          </p:cNvPr>
          <p:cNvSpPr>
            <a:spLocks noGrp="1"/>
          </p:cNvSpPr>
          <p:nvPr>
            <p:ph type="sldNum" sz="quarter" idx="12"/>
          </p:nvPr>
        </p:nvSpPr>
        <p:spPr/>
        <p:txBody>
          <a:bodyPr/>
          <a:lstStyle/>
          <a:p>
            <a:fld id="{DFA4CD3D-26C8-47FF-8D13-9B32BAAB4735}" type="slidenum">
              <a:rPr lang="en-US" smtClean="0"/>
              <a:t>41</a:t>
            </a:fld>
            <a:endParaRPr lang="en-US"/>
          </a:p>
        </p:txBody>
      </p:sp>
      <p:sp>
        <p:nvSpPr>
          <p:cNvPr id="3" name="Title 2">
            <a:extLst>
              <a:ext uri="{FF2B5EF4-FFF2-40B4-BE49-F238E27FC236}">
                <a16:creationId xmlns:a16="http://schemas.microsoft.com/office/drawing/2014/main" id="{82F7FB91-7A74-BA4A-00A5-58E1EDD77673}"/>
              </a:ext>
            </a:extLst>
          </p:cNvPr>
          <p:cNvSpPr>
            <a:spLocks noGrp="1"/>
          </p:cNvSpPr>
          <p:nvPr>
            <p:ph type="title"/>
          </p:nvPr>
        </p:nvSpPr>
        <p:spPr>
          <a:xfrm>
            <a:off x="396429" y="466335"/>
            <a:ext cx="11398253" cy="838854"/>
          </a:xfrm>
        </p:spPr>
        <p:txBody>
          <a:bodyPr>
            <a:normAutofit/>
          </a:bodyPr>
          <a:lstStyle/>
          <a:p>
            <a:r>
              <a:rPr lang="en-US" sz="3600"/>
              <a:t>Contributions &amp; Takeaways</a:t>
            </a:r>
          </a:p>
        </p:txBody>
      </p:sp>
      <p:sp>
        <p:nvSpPr>
          <p:cNvPr id="5" name="Content Placeholder 4">
            <a:extLst>
              <a:ext uri="{FF2B5EF4-FFF2-40B4-BE49-F238E27FC236}">
                <a16:creationId xmlns:a16="http://schemas.microsoft.com/office/drawing/2014/main" id="{7494E58B-DFE5-A6CF-092F-0CDC24E652BD}"/>
              </a:ext>
            </a:extLst>
          </p:cNvPr>
          <p:cNvSpPr>
            <a:spLocks noGrp="1"/>
          </p:cNvSpPr>
          <p:nvPr>
            <p:ph idx="1"/>
          </p:nvPr>
        </p:nvSpPr>
        <p:spPr>
          <a:xfrm>
            <a:off x="396429" y="1305189"/>
            <a:ext cx="11398254" cy="4662992"/>
          </a:xfrm>
        </p:spPr>
        <p:txBody>
          <a:bodyPr>
            <a:normAutofit/>
          </a:bodyPr>
          <a:lstStyle/>
          <a:p>
            <a:pPr marL="342900" indent="-342900">
              <a:buFont typeface="Arial" panose="020B0604020202020204" pitchFamily="34" charset="0"/>
              <a:buChar char="•"/>
            </a:pPr>
            <a:r>
              <a:rPr lang="en-US"/>
              <a:t>Theory-driven</a:t>
            </a:r>
          </a:p>
          <a:p>
            <a:pPr marL="342900" indent="-342900">
              <a:buFont typeface="Arial" panose="020B0604020202020204" pitchFamily="34" charset="0"/>
              <a:buChar char="•"/>
            </a:pPr>
            <a:r>
              <a:rPr lang="en-US"/>
              <a:t>Applications to the management field</a:t>
            </a:r>
          </a:p>
          <a:p>
            <a:pPr marL="342900" indent="-342900">
              <a:buFont typeface="Arial" panose="020B0604020202020204" pitchFamily="34" charset="0"/>
              <a:buChar char="•"/>
            </a:pPr>
            <a:r>
              <a:rPr lang="en-US"/>
              <a:t>Addresses a complex coding task</a:t>
            </a:r>
          </a:p>
          <a:p>
            <a:pPr marL="342900" indent="-342900">
              <a:buFont typeface="Arial" panose="020B0604020202020204" pitchFamily="34" charset="0"/>
              <a:buChar char="•"/>
            </a:pPr>
            <a:r>
              <a:rPr lang="en-US"/>
              <a:t>Refining and scaling qualitative coding</a:t>
            </a:r>
          </a:p>
          <a:p>
            <a:pPr marL="342900" indent="-342900">
              <a:buFont typeface="Arial" panose="020B0604020202020204" pitchFamily="34" charset="0"/>
              <a:buChar char="•"/>
            </a:pPr>
            <a:r>
              <a:rPr lang="en-US"/>
              <a:t>Treating GenAI as a coding partner</a:t>
            </a:r>
          </a:p>
          <a:p>
            <a:pPr marL="1028700" lvl="1" indent="-342900"/>
            <a:r>
              <a:rPr lang="en-US"/>
              <a:t>An imperfect process of meeting, discussing, and agreeing</a:t>
            </a:r>
          </a:p>
          <a:p>
            <a:pPr marL="1028700" lvl="1" indent="-342900"/>
            <a:r>
              <a:rPr lang="en-US"/>
              <a:t>Directing human attention</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3991629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57A4-26A7-4B7B-D9FA-632D0B51AB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C21BE6-85C8-027E-C5F5-7C6659FD343C}"/>
              </a:ext>
            </a:extLst>
          </p:cNvPr>
          <p:cNvSpPr>
            <a:spLocks noGrp="1"/>
          </p:cNvSpPr>
          <p:nvPr>
            <p:ph type="sldNum" sz="quarter" idx="12"/>
          </p:nvPr>
        </p:nvSpPr>
        <p:spPr/>
        <p:txBody>
          <a:bodyPr/>
          <a:lstStyle/>
          <a:p>
            <a:fld id="{DFA4CD3D-26C8-47FF-8D13-9B32BAAB4735}" type="slidenum">
              <a:rPr lang="en-US" smtClean="0"/>
              <a:t>42</a:t>
            </a:fld>
            <a:endParaRPr lang="en-US"/>
          </a:p>
        </p:txBody>
      </p:sp>
      <p:sp>
        <p:nvSpPr>
          <p:cNvPr id="3" name="Title 2">
            <a:extLst>
              <a:ext uri="{FF2B5EF4-FFF2-40B4-BE49-F238E27FC236}">
                <a16:creationId xmlns:a16="http://schemas.microsoft.com/office/drawing/2014/main" id="{7077BB8F-6514-ACDA-1C47-52E42FAA713B}"/>
              </a:ext>
            </a:extLst>
          </p:cNvPr>
          <p:cNvSpPr>
            <a:spLocks noGrp="1"/>
          </p:cNvSpPr>
          <p:nvPr>
            <p:ph type="title"/>
          </p:nvPr>
        </p:nvSpPr>
        <p:spPr>
          <a:xfrm>
            <a:off x="396429" y="466335"/>
            <a:ext cx="11398253" cy="838854"/>
          </a:xfrm>
        </p:spPr>
        <p:txBody>
          <a:bodyPr>
            <a:normAutofit/>
          </a:bodyPr>
          <a:lstStyle/>
          <a:p>
            <a:r>
              <a:rPr lang="en-US" sz="3600"/>
              <a:t>Next Steps…</a:t>
            </a:r>
          </a:p>
        </p:txBody>
      </p:sp>
      <p:sp>
        <p:nvSpPr>
          <p:cNvPr id="5" name="Content Placeholder 4">
            <a:extLst>
              <a:ext uri="{FF2B5EF4-FFF2-40B4-BE49-F238E27FC236}">
                <a16:creationId xmlns:a16="http://schemas.microsoft.com/office/drawing/2014/main" id="{E875B964-DBB3-EDCF-BC18-60E1C10C92A6}"/>
              </a:ext>
            </a:extLst>
          </p:cNvPr>
          <p:cNvSpPr>
            <a:spLocks noGrp="1"/>
          </p:cNvSpPr>
          <p:nvPr>
            <p:ph idx="1"/>
          </p:nvPr>
        </p:nvSpPr>
        <p:spPr>
          <a:xfrm>
            <a:off x="396429" y="1305188"/>
            <a:ext cx="11398254" cy="4762237"/>
          </a:xfrm>
        </p:spPr>
        <p:txBody>
          <a:bodyPr>
            <a:normAutofit/>
          </a:bodyPr>
          <a:lstStyle/>
          <a:p>
            <a:pPr marL="342900" indent="-342900">
              <a:buFont typeface="Arial" panose="020B0604020202020204" pitchFamily="34" charset="0"/>
              <a:buChar char="•"/>
            </a:pPr>
            <a:r>
              <a:rPr lang="en-US">
                <a:latin typeface="Buckeye Sans 2" pitchFamily="2" charset="0"/>
                <a:ea typeface="Buckeye Serif 2 Black" pitchFamily="2" charset="0"/>
              </a:rPr>
              <a:t>Comparing output across LMs</a:t>
            </a:r>
          </a:p>
          <a:p>
            <a:pPr marL="342900" indent="-342900">
              <a:buFont typeface="Arial" panose="020B0604020202020204" pitchFamily="34" charset="0"/>
              <a:buChar char="•"/>
            </a:pPr>
            <a:r>
              <a:rPr lang="en-US">
                <a:latin typeface="Buckeye Sans 2" pitchFamily="2" charset="0"/>
                <a:ea typeface="Buckeye Serif 2 Black" pitchFamily="2" charset="0"/>
              </a:rPr>
              <a:t>Prompting multiple times and checking for consistency </a:t>
            </a:r>
          </a:p>
          <a:p>
            <a:pPr marL="342900" indent="-342900">
              <a:buFont typeface="Arial" panose="020B0604020202020204" pitchFamily="34" charset="0"/>
              <a:buChar char="•"/>
            </a:pPr>
            <a:r>
              <a:rPr lang="en-US">
                <a:latin typeface="Buckeye Sans 2" pitchFamily="2" charset="0"/>
                <a:ea typeface="Buckeye Serif 2 Black" pitchFamily="2" charset="0"/>
              </a:rPr>
              <a:t>Few shot prompting and/or few shot learning</a:t>
            </a:r>
          </a:p>
          <a:p>
            <a:pPr marL="342900" indent="-342900">
              <a:buFont typeface="Arial" panose="020B0604020202020204" pitchFamily="34" charset="0"/>
              <a:buChar char="•"/>
            </a:pPr>
            <a:r>
              <a:rPr lang="en-US">
                <a:latin typeface="Buckeye Sans 2" pitchFamily="2" charset="0"/>
                <a:ea typeface="Buckeye Serif 2 Black" pitchFamily="2" charset="0"/>
              </a:rPr>
              <a:t>I</a:t>
            </a:r>
            <a:r>
              <a:rPr lang="en-US" sz="2400">
                <a:latin typeface="Buckeye Sans 2" pitchFamily="2" charset="0"/>
                <a:ea typeface="Buckeye Serif 2 Black" pitchFamily="2" charset="0"/>
              </a:rPr>
              <a:t>ncorporate a knowledge graph into LLM prompts to facilitate the automatic, linguistically nuanced, and consistent application of the codebook to the full corpus of documents (Pan et al., 2024)</a:t>
            </a:r>
          </a:p>
          <a:p>
            <a:pPr marL="342900" indent="-342900">
              <a:buFont typeface="Arial" panose="020B0604020202020204" pitchFamily="34" charset="0"/>
              <a:buChar char="•"/>
            </a:pPr>
            <a:r>
              <a:rPr lang="en-US">
                <a:latin typeface="Buckeye Sans 2" pitchFamily="2" charset="0"/>
                <a:ea typeface="Buckeye Serif 2 Black" pitchFamily="2" charset="0"/>
              </a:rPr>
              <a:t>Fine-tuning and specialized language model</a:t>
            </a:r>
            <a:endParaRPr lang="en-US" sz="2400">
              <a:latin typeface="Buckeye Sans 2" pitchFamily="2" charset="0"/>
              <a:ea typeface="Buckeye Serif 2 Black" pitchFamily="2" charset="0"/>
            </a:endParaRPr>
          </a:p>
        </p:txBody>
      </p:sp>
    </p:spTree>
    <p:extLst>
      <p:ext uri="{BB962C8B-B14F-4D97-AF65-F5344CB8AC3E}">
        <p14:creationId xmlns:p14="http://schemas.microsoft.com/office/powerpoint/2010/main" val="2339563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1FD944-8C4E-8BD7-F77D-5553D7198729}"/>
              </a:ext>
            </a:extLst>
          </p:cNvPr>
          <p:cNvSpPr>
            <a:spLocks noGrp="1"/>
          </p:cNvSpPr>
          <p:nvPr>
            <p:ph type="sldNum" sz="quarter" idx="12"/>
          </p:nvPr>
        </p:nvSpPr>
        <p:spPr/>
        <p:txBody>
          <a:bodyPr/>
          <a:lstStyle/>
          <a:p>
            <a:fld id="{DFA4CD3D-26C8-47FF-8D13-9B32BAAB4735}" type="slidenum">
              <a:rPr lang="en-US" smtClean="0"/>
              <a:t>43</a:t>
            </a:fld>
            <a:endParaRPr lang="en-US"/>
          </a:p>
        </p:txBody>
      </p:sp>
      <p:sp>
        <p:nvSpPr>
          <p:cNvPr id="3" name="Title 2">
            <a:extLst>
              <a:ext uri="{FF2B5EF4-FFF2-40B4-BE49-F238E27FC236}">
                <a16:creationId xmlns:a16="http://schemas.microsoft.com/office/drawing/2014/main" id="{9727560C-3A60-B8AF-2680-02BB9BFE0464}"/>
              </a:ext>
            </a:extLst>
          </p:cNvPr>
          <p:cNvSpPr>
            <a:spLocks noGrp="1"/>
          </p:cNvSpPr>
          <p:nvPr>
            <p:ph type="title"/>
          </p:nvPr>
        </p:nvSpPr>
        <p:spPr>
          <a:xfrm>
            <a:off x="690332" y="1632857"/>
            <a:ext cx="9762923" cy="1796143"/>
          </a:xfrm>
        </p:spPr>
        <p:txBody>
          <a:bodyPr/>
          <a:lstStyle/>
          <a:p>
            <a:r>
              <a:rPr lang="en-US"/>
              <a:t>Thank you — I welcome your questions and feedback.</a:t>
            </a:r>
          </a:p>
        </p:txBody>
      </p:sp>
    </p:spTree>
    <p:extLst>
      <p:ext uri="{BB962C8B-B14F-4D97-AF65-F5344CB8AC3E}">
        <p14:creationId xmlns:p14="http://schemas.microsoft.com/office/powerpoint/2010/main" val="17102328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9D2B95-0060-6030-1BFD-1372C7A06D78}"/>
              </a:ext>
            </a:extLst>
          </p:cNvPr>
          <p:cNvSpPr>
            <a:spLocks noGrp="1"/>
          </p:cNvSpPr>
          <p:nvPr>
            <p:ph type="sldNum" sz="quarter" idx="12"/>
          </p:nvPr>
        </p:nvSpPr>
        <p:spPr/>
        <p:txBody>
          <a:bodyPr/>
          <a:lstStyle/>
          <a:p>
            <a:fld id="{DFA4CD3D-26C8-47FF-8D13-9B32BAAB4735}" type="slidenum">
              <a:rPr lang="en-US" smtClean="0"/>
              <a:t>44</a:t>
            </a:fld>
            <a:endParaRPr lang="en-US"/>
          </a:p>
        </p:txBody>
      </p:sp>
      <p:sp>
        <p:nvSpPr>
          <p:cNvPr id="3" name="Title 2">
            <a:extLst>
              <a:ext uri="{FF2B5EF4-FFF2-40B4-BE49-F238E27FC236}">
                <a16:creationId xmlns:a16="http://schemas.microsoft.com/office/drawing/2014/main" id="{0EE1951E-22E2-8D5D-723F-305D7F1123FB}"/>
              </a:ext>
            </a:extLst>
          </p:cNvPr>
          <p:cNvSpPr>
            <a:spLocks noGrp="1"/>
          </p:cNvSpPr>
          <p:nvPr>
            <p:ph type="title"/>
          </p:nvPr>
        </p:nvSpPr>
        <p:spPr>
          <a:xfrm>
            <a:off x="396874" y="224588"/>
            <a:ext cx="11398253" cy="838854"/>
          </a:xfrm>
        </p:spPr>
        <p:txBody>
          <a:bodyPr>
            <a:normAutofit/>
          </a:bodyPr>
          <a:lstStyle/>
          <a:p>
            <a:r>
              <a:rPr lang="en-US" sz="3600"/>
              <a:t>References</a:t>
            </a:r>
          </a:p>
        </p:txBody>
      </p:sp>
      <p:sp>
        <p:nvSpPr>
          <p:cNvPr id="5" name="Content Placeholder 4">
            <a:extLst>
              <a:ext uri="{FF2B5EF4-FFF2-40B4-BE49-F238E27FC236}">
                <a16:creationId xmlns:a16="http://schemas.microsoft.com/office/drawing/2014/main" id="{8BF88E86-2144-0006-F471-06B63EAEF407}"/>
              </a:ext>
            </a:extLst>
          </p:cNvPr>
          <p:cNvSpPr>
            <a:spLocks noGrp="1"/>
          </p:cNvSpPr>
          <p:nvPr>
            <p:ph idx="1"/>
          </p:nvPr>
        </p:nvSpPr>
        <p:spPr>
          <a:xfrm>
            <a:off x="396873" y="805353"/>
            <a:ext cx="11795127" cy="5055121"/>
          </a:xfrm>
        </p:spPr>
        <p:txBody>
          <a:bodyPr>
            <a:noAutofit/>
          </a:bodyPr>
          <a:lstStyle/>
          <a:p>
            <a:r>
              <a:rPr lang="en-US" sz="900"/>
              <a:t>Auerbach, C., &amp; Silverstein, L. B. (2003). Qualitative Data: An Introduction to Coding and Analysis. NYU Press.</a:t>
            </a:r>
          </a:p>
          <a:p>
            <a:r>
              <a:rPr lang="en-US" sz="900"/>
              <a:t>Hodges, A., Ponce, T., &amp; Seawright, L. (2025). AI-Assisted Qualitative Coding: Comparing Human to Machine Outputs. 2025 IEEE International Professional Communication Conference (ProComm), 230–233. https://doi.org/10.1109/ProComm64814.2025.00051</a:t>
            </a:r>
          </a:p>
          <a:p>
            <a:r>
              <a:rPr lang="en-US" sz="900"/>
              <a:t>Højgaard Christiansen, L., &amp; Lounsbury, M. (2013). Strange Brew: Bridging Logics Via Institutional Bricolage and the Reconstitution of Organizational Identity. In M. Lounsbury &amp; E. </a:t>
            </a:r>
            <a:r>
              <a:rPr lang="en-US" sz="900" err="1"/>
              <a:t>Boxenbaum</a:t>
            </a:r>
            <a:r>
              <a:rPr lang="en-US" sz="900"/>
              <a:t> (Eds.), Research in the Sociology of Organizations (pp. 199–232). Emerald Group Publishing Limited. </a:t>
            </a:r>
            <a:r>
              <a:rPr lang="en-US" sz="900">
                <a:hlinkClick r:id="rId2"/>
              </a:rPr>
              <a:t>https://doi.org/10.1108/S0733-558X(2013)0039b020</a:t>
            </a:r>
            <a:endParaRPr lang="en-US" sz="900"/>
          </a:p>
          <a:p>
            <a:r>
              <a:rPr lang="en-US" sz="900"/>
              <a:t>Katz, A., Fleming, G. C., &amp; Main, J. (2024). Thematic Analysis with Open-Source Generative AI and Machine Learning: A New Method for Inductive Qualitative Codebook Development (No. arXiv:2410.03721). </a:t>
            </a:r>
            <a:r>
              <a:rPr lang="en-US" sz="900" err="1"/>
              <a:t>arXiv</a:t>
            </a:r>
            <a:r>
              <a:rPr lang="en-US" sz="900"/>
              <a:t>. https://doi.org/10.48550/arXiv.2410.03721</a:t>
            </a:r>
          </a:p>
          <a:p>
            <a:r>
              <a:rPr lang="en-US" sz="900"/>
              <a:t>LePere-Schloop, M. (2022). Nonprofit Role Classification Using Mission Descriptions and Supervised Machine Learning. Nonprofit and Voluntary Sector Quarterly, 51(5), 1207–1222. https://doi.org/10.1177/08997640211057393</a:t>
            </a:r>
          </a:p>
          <a:p>
            <a:r>
              <a:rPr lang="en-US" sz="900"/>
              <a:t>LePere-Schloop, M., Walk, M., &amp; Paarlberg, L. E. (2024). “We Expected a Revolution and Got a Slow Burn”: </a:t>
            </a:r>
            <a:r>
              <a:rPr lang="en-US" sz="900" err="1"/>
              <a:t>Microfoundations</a:t>
            </a:r>
            <a:r>
              <a:rPr lang="en-US" sz="900"/>
              <a:t> of Institutional Change in the Community Foundation Field. Nonprofit and Voluntary Sector Quarterly, 53(1), 159–185. https://doi.org/10.1177/08997640231152240</a:t>
            </a:r>
          </a:p>
          <a:p>
            <a:r>
              <a:rPr lang="en-US" sz="900"/>
              <a:t>Ma, J. (2021). Automated Coding Using Machine Learning and Remapping the U.S. Nonprofit Sector: A Guide and Benchmark. Nonprofit and Voluntary Sector Quarterly, 50(3), 662–687. https://doi.org/10.1177/0899764020968153</a:t>
            </a:r>
          </a:p>
          <a:p>
            <a:r>
              <a:rPr lang="en-US" sz="900"/>
              <a:t>Paarlberg, L. E. (2023). The Antecedents and Consequences of Multiple Logics in Community Foundations [Paper presentation]. European Research Network on Philanthropy (ERNOP) Conference 2023, Zagreb, Croatia.</a:t>
            </a:r>
          </a:p>
          <a:p>
            <a:r>
              <a:rPr lang="en-US" sz="900"/>
              <a:t>Pan, S., Luo, L., Wang, Y., Chen, C., Wang, J., &amp; Wu, X. (2024). Unifying Large Language Models and Knowledge Graphs: A Roadmap. IEEE Transactions on Knowledge and Data Engineering, 36(7), 3580–3599. https://doi.org/10.1109/TKDE.2024.3352100</a:t>
            </a:r>
          </a:p>
          <a:p>
            <a:r>
              <a:rPr lang="en-US" sz="900"/>
              <a:t>Saldaña, J. (2021). The Coding Manual for Qualitative Researchers (4th ed.). SAGE.</a:t>
            </a:r>
          </a:p>
          <a:p>
            <a:r>
              <a:rPr lang="en-US" sz="900"/>
              <a:t>Sammon, D., McCarthy, S., </a:t>
            </a:r>
            <a:r>
              <a:rPr lang="en-US" sz="900" err="1"/>
              <a:t>Thummadi</a:t>
            </a:r>
            <a:r>
              <a:rPr lang="en-US" sz="900"/>
              <a:t>, B. V., Wibisono, A., &amp; Fitzgerald, B. (2024). Exploring the Potential of Large Language Models (LLMs) for Grounded Theorizing: A Human-in-the-Loop Configuration. ICIS 2024 Proceedings.</a:t>
            </a:r>
          </a:p>
          <a:p>
            <a:r>
              <a:rPr lang="en-US" sz="900"/>
              <a:t>Sharma, A., &amp; Wallace, J. R. (2025). </a:t>
            </a:r>
            <a:r>
              <a:rPr lang="en-US" sz="900" err="1"/>
              <a:t>DeTAILS</a:t>
            </a:r>
            <a:r>
              <a:rPr lang="en-US" sz="900"/>
              <a:t>: Deep Thematic Analysis with Iterative LLM Support. Proceedings of the 7th ACM Conference on Conversational User Interfaces, 1–7. https://doi.org/10.1145/3719160.3735657</a:t>
            </a:r>
          </a:p>
          <a:p>
            <a:r>
              <a:rPr lang="en-US" sz="900"/>
              <a:t>Thornton, P. H., &amp; Ocasio, W. (1999). Institutional Logics and the Historical Contingency of Power in Organizations: Executive Succession in the Higher Education Publishing Industry, 1958– 1990. American Journal of Sociology, 105(3), 801–843. </a:t>
            </a:r>
            <a:r>
              <a:rPr lang="en-US" sz="900">
                <a:hlinkClick r:id="rId3"/>
              </a:rPr>
              <a:t>https://doi.org/10.1086/210361</a:t>
            </a:r>
            <a:endParaRPr lang="en-US" sz="900"/>
          </a:p>
          <a:p>
            <a:r>
              <a:rPr lang="en-US" sz="900"/>
              <a:t>Wiebe, J. P., Khan, R., Burns, S., &amp; Slotta, J. D. (2025.). Qualitative Research in the Age of LLMs: A Human-in-the-Loop Approach to Hybrid Thematic Analysis. ICLS 2025 Proceedings.</a:t>
            </a:r>
          </a:p>
          <a:p>
            <a:r>
              <a:rPr lang="en-US" sz="900"/>
              <a:t>Xiao, Z., Yuan, X., Liao, Q. V., Abdelghani, R., &amp; </a:t>
            </a:r>
            <a:r>
              <a:rPr lang="en-US" sz="900" err="1"/>
              <a:t>Oudeyer</a:t>
            </a:r>
            <a:r>
              <a:rPr lang="en-US" sz="900"/>
              <a:t>, P.-Y. (2023). Supporting Qualitative Analysis with Large Language Models: Combining Codebook with GPT-3 for Deductive Coding. 28th International Conference on Intelligent User Interfaces, 75–78. https://doi.org/10.1145/3581754.3584136</a:t>
            </a:r>
          </a:p>
        </p:txBody>
      </p:sp>
    </p:spTree>
    <p:extLst>
      <p:ext uri="{BB962C8B-B14F-4D97-AF65-F5344CB8AC3E}">
        <p14:creationId xmlns:p14="http://schemas.microsoft.com/office/powerpoint/2010/main" val="3882152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A77D92-99FA-25C4-92DE-5C08DE4A8CA4}"/>
              </a:ext>
            </a:extLst>
          </p:cNvPr>
          <p:cNvSpPr>
            <a:spLocks noGrp="1"/>
          </p:cNvSpPr>
          <p:nvPr>
            <p:ph type="sldNum" sz="quarter" idx="12"/>
          </p:nvPr>
        </p:nvSpPr>
        <p:spPr/>
        <p:txBody>
          <a:bodyPr/>
          <a:lstStyle/>
          <a:p>
            <a:fld id="{DFA4CD3D-26C8-47FF-8D13-9B32BAAB4735}" type="slidenum">
              <a:rPr lang="en-US" smtClean="0"/>
              <a:t>45</a:t>
            </a:fld>
            <a:endParaRPr lang="en-US"/>
          </a:p>
        </p:txBody>
      </p:sp>
      <p:sp>
        <p:nvSpPr>
          <p:cNvPr id="3" name="Title 2">
            <a:extLst>
              <a:ext uri="{FF2B5EF4-FFF2-40B4-BE49-F238E27FC236}">
                <a16:creationId xmlns:a16="http://schemas.microsoft.com/office/drawing/2014/main" id="{EFF04D46-2EF2-0B8C-A003-152D68A1A35E}"/>
              </a:ext>
            </a:extLst>
          </p:cNvPr>
          <p:cNvSpPr>
            <a:spLocks noGrp="1"/>
          </p:cNvSpPr>
          <p:nvPr>
            <p:ph type="title"/>
          </p:nvPr>
        </p:nvSpPr>
        <p:spPr>
          <a:xfrm>
            <a:off x="396874" y="623651"/>
            <a:ext cx="11398253" cy="838854"/>
          </a:xfrm>
        </p:spPr>
        <p:txBody>
          <a:bodyPr>
            <a:normAutofit/>
          </a:bodyPr>
          <a:lstStyle/>
          <a:p>
            <a:r>
              <a:rPr lang="en-US" sz="3600"/>
              <a:t>Defining Institutional Logics (ILs)</a:t>
            </a:r>
          </a:p>
        </p:txBody>
      </p:sp>
      <p:sp>
        <p:nvSpPr>
          <p:cNvPr id="5" name="Content Placeholder 4">
            <a:extLst>
              <a:ext uri="{FF2B5EF4-FFF2-40B4-BE49-F238E27FC236}">
                <a16:creationId xmlns:a16="http://schemas.microsoft.com/office/drawing/2014/main" id="{2E3C94CA-BD2F-4164-1EFD-0AFE7FCED561}"/>
              </a:ext>
            </a:extLst>
          </p:cNvPr>
          <p:cNvSpPr>
            <a:spLocks noGrp="1"/>
          </p:cNvSpPr>
          <p:nvPr>
            <p:ph idx="1"/>
          </p:nvPr>
        </p:nvSpPr>
        <p:spPr>
          <a:xfrm>
            <a:off x="396873" y="1602473"/>
            <a:ext cx="11398254" cy="2507411"/>
          </a:xfrm>
        </p:spPr>
        <p:txBody>
          <a:bodyPr/>
          <a:lstStyle/>
          <a:p>
            <a:pPr marL="0" marR="0" lvl="0" indent="0" algn="l" defTabSz="1218987" rtl="0" eaLnBrk="1" fontAlgn="auto" latinLnBrk="0" hangingPunct="1">
              <a:lnSpc>
                <a:spcPct val="107000"/>
              </a:lnSpc>
              <a:spcBef>
                <a:spcPts val="0"/>
              </a:spcBef>
              <a:spcAft>
                <a:spcPts val="800"/>
              </a:spcAft>
              <a:buClrTx/>
              <a:buSzTx/>
              <a:buFontTx/>
              <a:buNone/>
              <a:tabLst/>
              <a:defRPr/>
            </a:pPr>
            <a:r>
              <a:rPr kumimoji="0" lang="en-US" b="0" i="0" u="none" strike="noStrike" kern="1200" cap="none" spc="0" normalizeH="0" baseline="0" noProof="0">
                <a:ln>
                  <a:noFill/>
                </a:ln>
                <a:effectLst/>
                <a:uLnTx/>
                <a:uFillTx/>
                <a:latin typeface="Buckeye Sans 2" pitchFamily="2" charset="0"/>
                <a:ea typeface="Calibri" panose="020F0502020204030204" pitchFamily="34" charset="0"/>
              </a:rPr>
              <a:t>“the socially constructed, historical pattern of material practices, assumptions, values, beliefs, and rules by which individuals produce and reproduce their material subsistence, organize time and space, and provide meaning to their social reality” (Thornton &amp; Ocasio, 1999, p. 804).</a:t>
            </a:r>
            <a:endParaRPr kumimoji="0" lang="en-US" b="0" i="0" u="none" strike="noStrike" kern="100" cap="none" spc="0" normalizeH="0" baseline="0" noProof="0">
              <a:ln>
                <a:noFill/>
              </a:ln>
              <a:effectLst/>
              <a:uLnTx/>
              <a:uFillTx/>
              <a:latin typeface="Buckeye Sans 2" pitchFamily="2" charset="0"/>
              <a:ea typeface="Calibri" panose="020F0502020204030204" pitchFamily="34" charset="0"/>
              <a:cs typeface="Times New Roman" panose="02020603050405020304" pitchFamily="18" charset="0"/>
            </a:endParaRPr>
          </a:p>
          <a:p>
            <a:endParaRPr lang="en-US"/>
          </a:p>
        </p:txBody>
      </p:sp>
    </p:spTree>
    <p:extLst>
      <p:ext uri="{BB962C8B-B14F-4D97-AF65-F5344CB8AC3E}">
        <p14:creationId xmlns:p14="http://schemas.microsoft.com/office/powerpoint/2010/main" val="12334939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0F174-2F9E-DA55-4914-87A9DBB1CA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5E76F1-D82F-5236-49CA-BA6C575217D1}"/>
              </a:ext>
            </a:extLst>
          </p:cNvPr>
          <p:cNvSpPr>
            <a:spLocks noGrp="1"/>
          </p:cNvSpPr>
          <p:nvPr>
            <p:ph type="sldNum" sz="quarter" idx="12"/>
          </p:nvPr>
        </p:nvSpPr>
        <p:spPr/>
        <p:txBody>
          <a:bodyPr/>
          <a:lstStyle/>
          <a:p>
            <a:fld id="{DFA4CD3D-26C8-47FF-8D13-9B32BAAB4735}" type="slidenum">
              <a:rPr lang="en-US" smtClean="0"/>
              <a:t>46</a:t>
            </a:fld>
            <a:endParaRPr lang="en-US"/>
          </a:p>
        </p:txBody>
      </p:sp>
      <p:sp>
        <p:nvSpPr>
          <p:cNvPr id="6" name="Footer Placeholder 5">
            <a:extLst>
              <a:ext uri="{FF2B5EF4-FFF2-40B4-BE49-F238E27FC236}">
                <a16:creationId xmlns:a16="http://schemas.microsoft.com/office/drawing/2014/main" id="{ED9AC2D7-508F-49F8-6312-E3123A91D4F9}"/>
              </a:ext>
            </a:extLst>
          </p:cNvPr>
          <p:cNvSpPr>
            <a:spLocks noGrp="1"/>
          </p:cNvSpPr>
          <p:nvPr>
            <p:ph type="ftr" sz="quarter" idx="11"/>
          </p:nvPr>
        </p:nvSpPr>
        <p:spPr/>
        <p:txBody>
          <a:bodyPr/>
          <a:lstStyle/>
          <a:p>
            <a:endParaRPr lang="en-US"/>
          </a:p>
        </p:txBody>
      </p:sp>
      <p:graphicFrame>
        <p:nvGraphicFramePr>
          <p:cNvPr id="11" name="Table 10">
            <a:extLst>
              <a:ext uri="{FF2B5EF4-FFF2-40B4-BE49-F238E27FC236}">
                <a16:creationId xmlns:a16="http://schemas.microsoft.com/office/drawing/2014/main" id="{C49A6932-4D01-D6FB-2AFC-1C1999043298}"/>
              </a:ext>
            </a:extLst>
          </p:cNvPr>
          <p:cNvGraphicFramePr>
            <a:graphicFrameLocks noGrp="1"/>
          </p:cNvGraphicFramePr>
          <p:nvPr/>
        </p:nvGraphicFramePr>
        <p:xfrm>
          <a:off x="304800" y="-11892"/>
          <a:ext cx="11582400" cy="6840395"/>
        </p:xfrm>
        <a:graphic>
          <a:graphicData uri="http://schemas.openxmlformats.org/drawingml/2006/table">
            <a:tbl>
              <a:tblPr firstRow="1" firstCol="1" bandRow="1">
                <a:tableStyleId>{5C22544A-7EE6-4342-B048-85BDC9FD1C3A}</a:tableStyleId>
              </a:tblPr>
              <a:tblGrid>
                <a:gridCol w="2059849">
                  <a:extLst>
                    <a:ext uri="{9D8B030D-6E8A-4147-A177-3AD203B41FA5}">
                      <a16:colId xmlns:a16="http://schemas.microsoft.com/office/drawing/2014/main" val="1703916882"/>
                    </a:ext>
                  </a:extLst>
                </a:gridCol>
                <a:gridCol w="2414194">
                  <a:extLst>
                    <a:ext uri="{9D8B030D-6E8A-4147-A177-3AD203B41FA5}">
                      <a16:colId xmlns:a16="http://schemas.microsoft.com/office/drawing/2014/main" val="2487640800"/>
                    </a:ext>
                  </a:extLst>
                </a:gridCol>
                <a:gridCol w="2335449">
                  <a:extLst>
                    <a:ext uri="{9D8B030D-6E8A-4147-A177-3AD203B41FA5}">
                      <a16:colId xmlns:a16="http://schemas.microsoft.com/office/drawing/2014/main" val="4293996158"/>
                    </a:ext>
                  </a:extLst>
                </a:gridCol>
                <a:gridCol w="2713059">
                  <a:extLst>
                    <a:ext uri="{9D8B030D-6E8A-4147-A177-3AD203B41FA5}">
                      <a16:colId xmlns:a16="http://schemas.microsoft.com/office/drawing/2014/main" val="596788145"/>
                    </a:ext>
                  </a:extLst>
                </a:gridCol>
                <a:gridCol w="2059849">
                  <a:extLst>
                    <a:ext uri="{9D8B030D-6E8A-4147-A177-3AD203B41FA5}">
                      <a16:colId xmlns:a16="http://schemas.microsoft.com/office/drawing/2014/main" val="3478328217"/>
                    </a:ext>
                  </a:extLst>
                </a:gridCol>
              </a:tblGrid>
              <a:tr h="263509">
                <a:tc>
                  <a:txBody>
                    <a:bodyPr/>
                    <a:lstStyle/>
                    <a:p>
                      <a:pPr>
                        <a:lnSpc>
                          <a:spcPct val="107000"/>
                        </a:lnSpc>
                      </a:pPr>
                      <a:endParaRPr lang="en-US" sz="1400" kern="100">
                        <a:effectLst/>
                        <a:latin typeface="Aptos" panose="020B00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Philanthropic Community Trust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Donor Services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Public-Private Governance Logic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gn="ctr">
                        <a:lnSpc>
                          <a:spcPct val="107000"/>
                        </a:lnSpc>
                        <a:spcBef>
                          <a:spcPts val="0"/>
                        </a:spcBef>
                        <a:spcAft>
                          <a:spcPts val="0"/>
                        </a:spcAft>
                      </a:pPr>
                      <a:r>
                        <a:rPr lang="en-US" sz="1400" kern="0">
                          <a:effectLst/>
                        </a:rPr>
                        <a:t>Social Change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496500205"/>
                  </a:ext>
                </a:extLst>
              </a:tr>
              <a:tr h="262981">
                <a:tc gridSpan="5">
                  <a:txBody>
                    <a:bodyPr/>
                    <a:lstStyle/>
                    <a:p>
                      <a:pPr marL="0" marR="0" algn="ctr">
                        <a:lnSpc>
                          <a:spcPct val="107000"/>
                        </a:lnSpc>
                        <a:spcBef>
                          <a:spcPts val="0"/>
                        </a:spcBef>
                        <a:spcAft>
                          <a:spcPts val="0"/>
                        </a:spcAft>
                      </a:pPr>
                      <a:r>
                        <a:rPr lang="en-US" sz="1400" kern="100">
                          <a:effectLst/>
                        </a:rPr>
                        <a:t>Taken for Granted Ideational Elements </a:t>
                      </a:r>
                      <a:r>
                        <a:rPr lang="en-US" sz="1400" kern="0">
                          <a:effectLst/>
                        </a:rPr>
                        <a:t>(norms, values, schemas)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26130"/>
                  </a:ext>
                </a:extLst>
              </a:tr>
              <a:tr h="619854">
                <a:tc>
                  <a:txBody>
                    <a:bodyPr/>
                    <a:lstStyle/>
                    <a:p>
                      <a:pPr marL="0" marR="0">
                        <a:lnSpc>
                          <a:spcPct val="107000"/>
                        </a:lnSpc>
                        <a:spcBef>
                          <a:spcPts val="0"/>
                        </a:spcBef>
                        <a:spcAft>
                          <a:spcPts val="0"/>
                        </a:spcAft>
                      </a:pPr>
                      <a:r>
                        <a:rPr lang="en-US" sz="1400" kern="0">
                          <a:effectLst/>
                        </a:rPr>
                        <a:t>How community is defined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Shared sense of identity, values, and traditions of people from a geographic place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The interests, values, and identities of individual donors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Interdependence and shared fate of people in a geographic place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Socially constructed and contested process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1881047851"/>
                  </a:ext>
                </a:extLst>
              </a:tr>
              <a:tr h="1202427">
                <a:tc>
                  <a:txBody>
                    <a:bodyPr/>
                    <a:lstStyle/>
                    <a:p>
                      <a:pPr marL="0" marR="0">
                        <a:lnSpc>
                          <a:spcPct val="107000"/>
                        </a:lnSpc>
                        <a:spcBef>
                          <a:spcPts val="0"/>
                        </a:spcBef>
                        <a:spcAft>
                          <a:spcPts val="0"/>
                        </a:spcAft>
                      </a:pPr>
                      <a:r>
                        <a:rPr lang="en-US" sz="1400" kern="0">
                          <a:effectLst/>
                        </a:rPr>
                        <a:t>Basis of ideal of community philanthropy: Roles and responsibilities of those with privilege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Social Darwinism and civic culture produce an obligation for those who have benefitted from a place to give back.</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Philanthropy is an individual expressive act.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Scientific philanthropy, welfare capitalism, and neoliberalism regard private action as the preferred solution to social problems.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All people have inalienable rights to basic needs. The privileged have a moral obligation to right wrongs and stand up for those who are marginalized.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4212335463"/>
                  </a:ext>
                </a:extLst>
              </a:tr>
              <a:tr h="1011033">
                <a:tc>
                  <a:txBody>
                    <a:bodyPr/>
                    <a:lstStyle/>
                    <a:p>
                      <a:pPr marL="0" marR="0">
                        <a:lnSpc>
                          <a:spcPct val="107000"/>
                        </a:lnSpc>
                        <a:spcBef>
                          <a:spcPts val="0"/>
                        </a:spcBef>
                        <a:spcAft>
                          <a:spcPts val="0"/>
                        </a:spcAft>
                      </a:pPr>
                      <a:r>
                        <a:rPr lang="en-US" sz="1400" kern="0">
                          <a:effectLst/>
                        </a:rPr>
                        <a:t>Why the CF exists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Growing and preserving capital, building community legacy, giving back to maintain a sense of place, and responding to the community's emerging needs.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Mobilize donors and “steward” funds so donors can leave a personal legacy.</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Provide private solutions to public issues. It emphasizes cross-sector collaboration and strategic investment based on community needs.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Dismantle barriers that perpetuate disparity and inequality.</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202235717"/>
                  </a:ext>
                </a:extLst>
              </a:tr>
              <a:tr h="262981">
                <a:tc>
                  <a:txBody>
                    <a:bodyPr/>
                    <a:lstStyle/>
                    <a:p>
                      <a:pPr marL="0" marR="0">
                        <a:lnSpc>
                          <a:spcPct val="107000"/>
                        </a:lnSpc>
                        <a:spcBef>
                          <a:spcPts val="0"/>
                        </a:spcBef>
                        <a:spcAft>
                          <a:spcPts val="0"/>
                        </a:spcAft>
                      </a:pPr>
                      <a:r>
                        <a:rPr lang="en-US" sz="1400" kern="0">
                          <a:effectLst/>
                        </a:rPr>
                        <a:t>Basis of CF identity</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Charitable Bank</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Philanthropic Wealth Advisor</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Leader, Convener</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Advocate for Marginalized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1777127036"/>
                  </a:ext>
                </a:extLst>
              </a:tr>
              <a:tr h="262981">
                <a:tc gridSpan="5">
                  <a:txBody>
                    <a:bodyPr/>
                    <a:lstStyle/>
                    <a:p>
                      <a:pPr marL="0" marR="0" algn="ctr">
                        <a:lnSpc>
                          <a:spcPct val="107000"/>
                        </a:lnSpc>
                        <a:spcBef>
                          <a:spcPts val="0"/>
                        </a:spcBef>
                        <a:spcAft>
                          <a:spcPts val="0"/>
                        </a:spcAft>
                      </a:pPr>
                      <a:r>
                        <a:rPr lang="en-US" sz="1400" kern="0">
                          <a:effectLst/>
                        </a:rPr>
                        <a:t>Material Elements (practices, behaviors)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07326011"/>
                  </a:ext>
                </a:extLst>
              </a:tr>
              <a:tr h="1008236">
                <a:tc>
                  <a:txBody>
                    <a:bodyPr/>
                    <a:lstStyle/>
                    <a:p>
                      <a:pPr marL="0" marR="0">
                        <a:lnSpc>
                          <a:spcPct val="107000"/>
                        </a:lnSpc>
                        <a:spcBef>
                          <a:spcPts val="0"/>
                        </a:spcBef>
                        <a:spcAft>
                          <a:spcPts val="0"/>
                        </a:spcAft>
                      </a:pPr>
                      <a:r>
                        <a:rPr lang="en-US" sz="1400" kern="0">
                          <a:effectLst/>
                        </a:rPr>
                        <a:t>Who is centered in grantmaking processes and decisions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Reactive grantmaking that centers community betterment as understood by elites and established grantees and applicants.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Grantmaking preference for scholarships and charities— regardless of place. It centers the interests, values and identities of donors.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Research-based grantmaking that centers long-term community interests as understood by experts, professionals, and formal leaders.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Participatory, trust-based grantmaking that centers the lived experiences and insights of marginalized residents.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171826038"/>
                  </a:ext>
                </a:extLst>
              </a:tr>
              <a:tr h="619854">
                <a:tc>
                  <a:txBody>
                    <a:bodyPr/>
                    <a:lstStyle/>
                    <a:p>
                      <a:pPr marL="0" marR="0">
                        <a:lnSpc>
                          <a:spcPct val="107000"/>
                        </a:lnSpc>
                        <a:spcBef>
                          <a:spcPts val="0"/>
                        </a:spcBef>
                        <a:spcAft>
                          <a:spcPts val="0"/>
                        </a:spcAft>
                      </a:pPr>
                      <a:r>
                        <a:rPr lang="en-US" sz="1400" kern="0">
                          <a:effectLst/>
                        </a:rPr>
                        <a:t>Resource base for grantmaking and operational expenses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Unrestricted endowments, bequests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Management fees from donor-advised funds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Diversified funding including program-related investments, grants to the CF, public contracting</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Democratized donor base, giving circles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994654935"/>
                  </a:ext>
                </a:extLst>
              </a:tr>
              <a:tr h="425664">
                <a:tc>
                  <a:txBody>
                    <a:bodyPr/>
                    <a:lstStyle/>
                    <a:p>
                      <a:pPr marL="0" marR="0">
                        <a:lnSpc>
                          <a:spcPct val="107000"/>
                        </a:lnSpc>
                        <a:spcBef>
                          <a:spcPts val="0"/>
                        </a:spcBef>
                        <a:spcAft>
                          <a:spcPts val="0"/>
                        </a:spcAft>
                      </a:pPr>
                      <a:r>
                        <a:rPr lang="en-US" sz="1400" kern="0">
                          <a:effectLst/>
                        </a:rPr>
                        <a:t>Donors’ Relationship to CF</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Legacy Resource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Transactional Client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Community Impact Investors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tc>
                  <a:txBody>
                    <a:bodyPr/>
                    <a:lstStyle/>
                    <a:p>
                      <a:pPr marL="0" marR="0">
                        <a:lnSpc>
                          <a:spcPct val="107000"/>
                        </a:lnSpc>
                        <a:spcBef>
                          <a:spcPts val="0"/>
                        </a:spcBef>
                        <a:spcAft>
                          <a:spcPts val="0"/>
                        </a:spcAft>
                      </a:pPr>
                      <a:r>
                        <a:rPr lang="en-US" sz="1400" kern="0">
                          <a:effectLst/>
                        </a:rPr>
                        <a:t>Allies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24567" marR="24567" marT="16378" marB="16378" anchor="ctr"/>
                </a:tc>
                <a:extLst>
                  <a:ext uri="{0D108BD9-81ED-4DB2-BD59-A6C34878D82A}">
                    <a16:rowId xmlns:a16="http://schemas.microsoft.com/office/drawing/2014/main" val="2686932961"/>
                  </a:ext>
                </a:extLst>
              </a:tr>
            </a:tbl>
          </a:graphicData>
        </a:graphic>
      </p:graphicFrame>
    </p:spTree>
    <p:extLst>
      <p:ext uri="{BB962C8B-B14F-4D97-AF65-F5344CB8AC3E}">
        <p14:creationId xmlns:p14="http://schemas.microsoft.com/office/powerpoint/2010/main" val="30083461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43CF7-B4F6-231A-14BF-BB9C265B60CB}"/>
              </a:ext>
            </a:extLst>
          </p:cNvPr>
          <p:cNvSpPr>
            <a:spLocks noGrp="1"/>
          </p:cNvSpPr>
          <p:nvPr>
            <p:ph type="sldNum" sz="quarter" idx="12"/>
          </p:nvPr>
        </p:nvSpPr>
        <p:spPr/>
        <p:txBody>
          <a:bodyPr/>
          <a:lstStyle/>
          <a:p>
            <a:fld id="{DFA4CD3D-26C8-47FF-8D13-9B32BAAB4735}" type="slidenum">
              <a:rPr lang="en-US" smtClean="0"/>
              <a:t>47</a:t>
            </a:fld>
            <a:endParaRPr lang="en-US"/>
          </a:p>
        </p:txBody>
      </p:sp>
      <p:graphicFrame>
        <p:nvGraphicFramePr>
          <p:cNvPr id="9" name="Table 8">
            <a:extLst>
              <a:ext uri="{FF2B5EF4-FFF2-40B4-BE49-F238E27FC236}">
                <a16:creationId xmlns:a16="http://schemas.microsoft.com/office/drawing/2014/main" id="{632F4A4F-AA94-50BC-8A42-7B9A149B1E66}"/>
              </a:ext>
            </a:extLst>
          </p:cNvPr>
          <p:cNvGraphicFramePr>
            <a:graphicFrameLocks noGrp="1"/>
          </p:cNvGraphicFramePr>
          <p:nvPr>
            <p:extLst>
              <p:ext uri="{D42A27DB-BD31-4B8C-83A1-F6EECF244321}">
                <p14:modId xmlns:p14="http://schemas.microsoft.com/office/powerpoint/2010/main" val="4016781852"/>
              </p:ext>
            </p:extLst>
          </p:nvPr>
        </p:nvGraphicFramePr>
        <p:xfrm>
          <a:off x="725129" y="643366"/>
          <a:ext cx="10741742" cy="5571267"/>
        </p:xfrm>
        <a:graphic>
          <a:graphicData uri="http://schemas.openxmlformats.org/drawingml/2006/table">
            <a:tbl>
              <a:tblPr firstRow="1" firstCol="1" bandRow="1">
                <a:tableStyleId>{5C22544A-7EE6-4342-B048-85BDC9FD1C3A}</a:tableStyleId>
              </a:tblPr>
              <a:tblGrid>
                <a:gridCol w="3921225">
                  <a:extLst>
                    <a:ext uri="{9D8B030D-6E8A-4147-A177-3AD203B41FA5}">
                      <a16:colId xmlns:a16="http://schemas.microsoft.com/office/drawing/2014/main" val="843814320"/>
                    </a:ext>
                  </a:extLst>
                </a:gridCol>
                <a:gridCol w="6820517">
                  <a:extLst>
                    <a:ext uri="{9D8B030D-6E8A-4147-A177-3AD203B41FA5}">
                      <a16:colId xmlns:a16="http://schemas.microsoft.com/office/drawing/2014/main" val="75127865"/>
                    </a:ext>
                  </a:extLst>
                </a:gridCol>
              </a:tblGrid>
              <a:tr h="289141">
                <a:tc>
                  <a:txBody>
                    <a:bodyPr/>
                    <a:lstStyle/>
                    <a:p>
                      <a:pPr marL="0" marR="0">
                        <a:lnSpc>
                          <a:spcPct val="107000"/>
                        </a:lnSpc>
                        <a:spcBef>
                          <a:spcPts val="0"/>
                        </a:spcBef>
                        <a:spcAft>
                          <a:spcPts val="0"/>
                        </a:spcAft>
                      </a:pPr>
                      <a:r>
                        <a:rPr lang="en-US" sz="1400" kern="0">
                          <a:effectLst/>
                        </a:rPr>
                        <a:t>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400" kern="0">
                          <a:effectLst/>
                        </a:rPr>
                        <a:t>Excerpt Examples from Qualitative Coding</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44618823"/>
                  </a:ext>
                </a:extLst>
              </a:tr>
              <a:tr h="2050628">
                <a:tc>
                  <a:txBody>
                    <a:bodyPr/>
                    <a:lstStyle/>
                    <a:p>
                      <a:pPr marL="0" marR="0">
                        <a:lnSpc>
                          <a:spcPct val="107000"/>
                        </a:lnSpc>
                        <a:spcBef>
                          <a:spcPts val="0"/>
                        </a:spcBef>
                        <a:spcAft>
                          <a:spcPts val="0"/>
                        </a:spcAft>
                      </a:pPr>
                      <a:r>
                        <a:rPr lang="en-US" sz="1400" kern="0">
                          <a:effectLst/>
                        </a:rPr>
                        <a:t>Philanthropic Community Trust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400" kern="0">
                          <a:effectLst/>
                        </a:rPr>
                        <a:t>“Our responsibility to you—to our region—is to use our assets wisely in support of your deep commitment to the vital work”</a:t>
                      </a:r>
                      <a:endParaRPr lang="en-US" sz="1400" kern="100">
                        <a:effectLst/>
                      </a:endParaRPr>
                    </a:p>
                    <a:p>
                      <a:pPr marL="0" marR="0">
                        <a:lnSpc>
                          <a:spcPct val="107000"/>
                        </a:lnSpc>
                        <a:spcBef>
                          <a:spcPts val="1200"/>
                        </a:spcBef>
                        <a:spcAft>
                          <a:spcPts val="0"/>
                        </a:spcAft>
                      </a:pPr>
                      <a:r>
                        <a:rPr lang="en-US" sz="1400" kern="0">
                          <a:effectLst/>
                        </a:rPr>
                        <a:t>“To inspire others forever, join our 235+ Legacy Society Members.”</a:t>
                      </a:r>
                      <a:endParaRPr lang="en-US" sz="1400" kern="100">
                        <a:effectLst/>
                      </a:endParaRPr>
                    </a:p>
                    <a:p>
                      <a:pPr marL="0" marR="0">
                        <a:lnSpc>
                          <a:spcPct val="107000"/>
                        </a:lnSpc>
                        <a:spcBef>
                          <a:spcPts val="1200"/>
                        </a:spcBef>
                        <a:spcAft>
                          <a:spcPts val="0"/>
                        </a:spcAft>
                      </a:pPr>
                      <a:r>
                        <a:rPr lang="en-US" sz="1400" kern="0">
                          <a:effectLst/>
                        </a:rPr>
                        <a:t>“Unrestricted funds provide flexibility to respond to the broad and changing needs in the community, now and in the future.”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51942207"/>
                  </a:ext>
                </a:extLst>
              </a:tr>
              <a:tr h="3231498">
                <a:tc>
                  <a:txBody>
                    <a:bodyPr/>
                    <a:lstStyle/>
                    <a:p>
                      <a:pPr marL="0" marR="0">
                        <a:lnSpc>
                          <a:spcPct val="107000"/>
                        </a:lnSpc>
                        <a:spcBef>
                          <a:spcPts val="0"/>
                        </a:spcBef>
                        <a:spcAft>
                          <a:spcPts val="0"/>
                        </a:spcAft>
                      </a:pPr>
                      <a:r>
                        <a:rPr lang="en-US" sz="1400" kern="0">
                          <a:effectLst/>
                        </a:rPr>
                        <a:t>Donor Services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400" kern="0">
                          <a:effectLst/>
                        </a:rPr>
                        <a:t>“Many of the funds are endowed, and all have the purpose of helping with causes our donors care about. Anyone can be a philanthropist.”</a:t>
                      </a:r>
                      <a:endParaRPr lang="en-US" sz="1400" kern="100">
                        <a:effectLst/>
                      </a:endParaRPr>
                    </a:p>
                    <a:p>
                      <a:pPr marL="0" marR="0">
                        <a:lnSpc>
                          <a:spcPct val="107000"/>
                        </a:lnSpc>
                        <a:spcBef>
                          <a:spcPts val="1200"/>
                        </a:spcBef>
                        <a:spcAft>
                          <a:spcPts val="0"/>
                        </a:spcAft>
                      </a:pPr>
                      <a:r>
                        <a:rPr lang="en-US" sz="1400" kern="0">
                          <a:effectLst/>
                        </a:rPr>
                        <a:t>“All these types of funds can be set up in a way to memorialize a loved one or honor a family/individual.”</a:t>
                      </a:r>
                      <a:endParaRPr lang="en-US" sz="1400" kern="100">
                        <a:effectLst/>
                      </a:endParaRPr>
                    </a:p>
                    <a:p>
                      <a:pPr marL="0" marR="0">
                        <a:lnSpc>
                          <a:spcPct val="107000"/>
                        </a:lnSpc>
                        <a:spcBef>
                          <a:spcPts val="1200"/>
                        </a:spcBef>
                        <a:spcAft>
                          <a:spcPts val="0"/>
                        </a:spcAft>
                      </a:pPr>
                      <a:r>
                        <a:rPr lang="en-US" sz="1400" kern="0">
                          <a:effectLst/>
                        </a:rPr>
                        <a:t>“All donations allow individuals to directly engage in philanthropy – giving to those things that matter most to them.”</a:t>
                      </a:r>
                      <a:endParaRPr lang="en-US" sz="1400" kern="100">
                        <a:effectLst/>
                      </a:endParaRPr>
                    </a:p>
                    <a:p>
                      <a:pPr marL="0" marR="0">
                        <a:lnSpc>
                          <a:spcPct val="107000"/>
                        </a:lnSpc>
                        <a:spcBef>
                          <a:spcPts val="1200"/>
                        </a:spcBef>
                        <a:spcAft>
                          <a:spcPts val="0"/>
                        </a:spcAft>
                      </a:pPr>
                      <a:r>
                        <a:rPr lang="en-US" sz="1400" kern="0">
                          <a:effectLst/>
                        </a:rPr>
                        <a:t>“Establish a charitable fund now, so you can see the impact of your generosity on community charities”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3705627"/>
                  </a:ext>
                </a:extLst>
              </a:tr>
            </a:tbl>
          </a:graphicData>
        </a:graphic>
      </p:graphicFrame>
    </p:spTree>
    <p:extLst>
      <p:ext uri="{BB962C8B-B14F-4D97-AF65-F5344CB8AC3E}">
        <p14:creationId xmlns:p14="http://schemas.microsoft.com/office/powerpoint/2010/main" val="22224857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43CF7-B4F6-231A-14BF-BB9C265B60CB}"/>
              </a:ext>
            </a:extLst>
          </p:cNvPr>
          <p:cNvSpPr>
            <a:spLocks noGrp="1"/>
          </p:cNvSpPr>
          <p:nvPr>
            <p:ph type="sldNum" sz="quarter" idx="12"/>
          </p:nvPr>
        </p:nvSpPr>
        <p:spPr/>
        <p:txBody>
          <a:bodyPr/>
          <a:lstStyle/>
          <a:p>
            <a:fld id="{DFA4CD3D-26C8-47FF-8D13-9B32BAAB4735}" type="slidenum">
              <a:rPr lang="en-US" smtClean="0"/>
              <a:t>48</a:t>
            </a:fld>
            <a:endParaRPr lang="en-US"/>
          </a:p>
        </p:txBody>
      </p:sp>
      <p:graphicFrame>
        <p:nvGraphicFramePr>
          <p:cNvPr id="3" name="Table 2">
            <a:extLst>
              <a:ext uri="{FF2B5EF4-FFF2-40B4-BE49-F238E27FC236}">
                <a16:creationId xmlns:a16="http://schemas.microsoft.com/office/drawing/2014/main" id="{30A7E2CB-6147-6E11-4C5E-D8D25E834EE2}"/>
              </a:ext>
            </a:extLst>
          </p:cNvPr>
          <p:cNvGraphicFramePr>
            <a:graphicFrameLocks noGrp="1"/>
          </p:cNvGraphicFramePr>
          <p:nvPr>
            <p:extLst>
              <p:ext uri="{D42A27DB-BD31-4B8C-83A1-F6EECF244321}">
                <p14:modId xmlns:p14="http://schemas.microsoft.com/office/powerpoint/2010/main" val="1815867888"/>
              </p:ext>
            </p:extLst>
          </p:nvPr>
        </p:nvGraphicFramePr>
        <p:xfrm>
          <a:off x="560318" y="769914"/>
          <a:ext cx="11071364" cy="5318172"/>
        </p:xfrm>
        <a:graphic>
          <a:graphicData uri="http://schemas.openxmlformats.org/drawingml/2006/table">
            <a:tbl>
              <a:tblPr firstRow="1" firstCol="1" bandRow="1">
                <a:tableStyleId>{5C22544A-7EE6-4342-B048-85BDC9FD1C3A}</a:tableStyleId>
              </a:tblPr>
              <a:tblGrid>
                <a:gridCol w="4041551">
                  <a:extLst>
                    <a:ext uri="{9D8B030D-6E8A-4147-A177-3AD203B41FA5}">
                      <a16:colId xmlns:a16="http://schemas.microsoft.com/office/drawing/2014/main" val="825341760"/>
                    </a:ext>
                  </a:extLst>
                </a:gridCol>
                <a:gridCol w="7029813">
                  <a:extLst>
                    <a:ext uri="{9D8B030D-6E8A-4147-A177-3AD203B41FA5}">
                      <a16:colId xmlns:a16="http://schemas.microsoft.com/office/drawing/2014/main" val="454865475"/>
                    </a:ext>
                  </a:extLst>
                </a:gridCol>
              </a:tblGrid>
              <a:tr h="332322">
                <a:tc>
                  <a:txBody>
                    <a:bodyPr/>
                    <a:lstStyle/>
                    <a:p>
                      <a:pPr marL="0" marR="0">
                        <a:lnSpc>
                          <a:spcPct val="107000"/>
                        </a:lnSpc>
                        <a:spcBef>
                          <a:spcPts val="0"/>
                        </a:spcBef>
                        <a:spcAft>
                          <a:spcPts val="0"/>
                        </a:spcAft>
                      </a:pPr>
                      <a:r>
                        <a:rPr lang="en-US" sz="1400" kern="0">
                          <a:effectLst/>
                        </a:rPr>
                        <a:t>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39777" marR="39777" marT="0" marB="0" anchor="ctr"/>
                </a:tc>
                <a:tc>
                  <a:txBody>
                    <a:bodyPr/>
                    <a:lstStyle/>
                    <a:p>
                      <a:pPr marL="0" marR="0">
                        <a:lnSpc>
                          <a:spcPct val="107000"/>
                        </a:lnSpc>
                        <a:spcBef>
                          <a:spcPts val="0"/>
                        </a:spcBef>
                        <a:spcAft>
                          <a:spcPts val="0"/>
                        </a:spcAft>
                      </a:pPr>
                      <a:r>
                        <a:rPr lang="en-US" sz="1400" kern="0">
                          <a:effectLst/>
                        </a:rPr>
                        <a:t>Excerpt Examples from Qualitative Coding</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39777" marR="39777" marT="0" marB="0" anchor="ctr"/>
                </a:tc>
                <a:extLst>
                  <a:ext uri="{0D108BD9-81ED-4DB2-BD59-A6C34878D82A}">
                    <a16:rowId xmlns:a16="http://schemas.microsoft.com/office/drawing/2014/main" val="4219111064"/>
                  </a:ext>
                </a:extLst>
              </a:tr>
              <a:tr h="2170117">
                <a:tc>
                  <a:txBody>
                    <a:bodyPr/>
                    <a:lstStyle/>
                    <a:p>
                      <a:pPr marL="0" marR="0">
                        <a:lnSpc>
                          <a:spcPct val="107000"/>
                        </a:lnSpc>
                        <a:spcBef>
                          <a:spcPts val="0"/>
                        </a:spcBef>
                        <a:spcAft>
                          <a:spcPts val="0"/>
                        </a:spcAft>
                      </a:pPr>
                      <a:r>
                        <a:rPr lang="en-US" sz="1400" kern="0">
                          <a:effectLst/>
                        </a:rPr>
                        <a:t>Public-Private Governance Logic </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39777" marR="39777" marT="0" marB="0" anchor="ctr"/>
                </a:tc>
                <a:tc>
                  <a:txBody>
                    <a:bodyPr/>
                    <a:lstStyle/>
                    <a:p>
                      <a:pPr marL="0" marR="0">
                        <a:lnSpc>
                          <a:spcPct val="107000"/>
                        </a:lnSpc>
                        <a:spcBef>
                          <a:spcPts val="0"/>
                        </a:spcBef>
                        <a:spcAft>
                          <a:spcPts val="0"/>
                        </a:spcAft>
                      </a:pPr>
                      <a:r>
                        <a:rPr lang="en-US" sz="1400" kern="0">
                          <a:effectLst/>
                        </a:rPr>
                        <a:t>“We offer support beyond the grant check. We strive to be champions for our grantees, amplify their work, and serve as a connector and partner.”</a:t>
                      </a:r>
                      <a:endParaRPr lang="en-US" sz="1400" kern="100">
                        <a:effectLst/>
                      </a:endParaRPr>
                    </a:p>
                    <a:p>
                      <a:pPr marL="0" marR="0">
                        <a:lnSpc>
                          <a:spcPct val="107000"/>
                        </a:lnSpc>
                        <a:spcBef>
                          <a:spcPts val="1200"/>
                        </a:spcBef>
                        <a:spcAft>
                          <a:spcPts val="0"/>
                        </a:spcAft>
                      </a:pPr>
                      <a:r>
                        <a:rPr lang="en-US" sz="1400" kern="0">
                          <a:effectLst/>
                        </a:rPr>
                        <a:t>“We offer a number of opportunities for fund advisors to engage in impact investing.”</a:t>
                      </a:r>
                      <a:endParaRPr lang="en-US" sz="1400" kern="100">
                        <a:effectLst/>
                      </a:endParaRPr>
                    </a:p>
                    <a:p>
                      <a:pPr marL="0" marR="0">
                        <a:lnSpc>
                          <a:spcPct val="107000"/>
                        </a:lnSpc>
                        <a:spcBef>
                          <a:spcPts val="1200"/>
                        </a:spcBef>
                        <a:spcAft>
                          <a:spcPts val="0"/>
                        </a:spcAft>
                      </a:pPr>
                      <a:r>
                        <a:rPr lang="en-US" sz="1400" kern="0">
                          <a:effectLst/>
                        </a:rPr>
                        <a:t>“The robust strategic planning process, guided by our consulting team…included numerous surveys, focus groups and one-on-one interviews with community leaders”</a:t>
                      </a:r>
                      <a:endParaRPr lang="en-US" sz="1400" kern="100">
                        <a:effectLst/>
                      </a:endParaRPr>
                    </a:p>
                    <a:p>
                      <a:pPr marL="0" marR="0">
                        <a:lnSpc>
                          <a:spcPct val="107000"/>
                        </a:lnSpc>
                        <a:spcBef>
                          <a:spcPts val="1200"/>
                        </a:spcBef>
                        <a:spcAft>
                          <a:spcPts val="0"/>
                        </a:spcAft>
                      </a:pPr>
                      <a:r>
                        <a:rPr lang="en-US" sz="1400" kern="0">
                          <a:effectLst/>
                        </a:rPr>
                        <a:t>“The [foundation] is a resource, a connector and a facilitator, nimble and ready to respond to community needs as they evolve”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39777" marR="39777" marT="0" marB="0" anchor="ctr"/>
                </a:tc>
                <a:extLst>
                  <a:ext uri="{0D108BD9-81ED-4DB2-BD59-A6C34878D82A}">
                    <a16:rowId xmlns:a16="http://schemas.microsoft.com/office/drawing/2014/main" val="1861073323"/>
                  </a:ext>
                </a:extLst>
              </a:tr>
              <a:tr h="2815733">
                <a:tc>
                  <a:txBody>
                    <a:bodyPr/>
                    <a:lstStyle/>
                    <a:p>
                      <a:pPr marL="0" marR="0">
                        <a:lnSpc>
                          <a:spcPct val="107000"/>
                        </a:lnSpc>
                        <a:spcBef>
                          <a:spcPts val="0"/>
                        </a:spcBef>
                        <a:spcAft>
                          <a:spcPts val="0"/>
                        </a:spcAft>
                      </a:pPr>
                      <a:r>
                        <a:rPr lang="en-US" sz="1400" kern="0">
                          <a:effectLst/>
                        </a:rPr>
                        <a:t>Social Change Logic</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39777" marR="39777" marT="0" marB="0" anchor="ctr"/>
                </a:tc>
                <a:tc>
                  <a:txBody>
                    <a:bodyPr/>
                    <a:lstStyle/>
                    <a:p>
                      <a:pPr marL="0" marR="0">
                        <a:lnSpc>
                          <a:spcPct val="107000"/>
                        </a:lnSpc>
                        <a:spcBef>
                          <a:spcPts val="0"/>
                        </a:spcBef>
                        <a:spcAft>
                          <a:spcPts val="0"/>
                        </a:spcAft>
                      </a:pPr>
                      <a:r>
                        <a:rPr lang="en-US" sz="1400" kern="0">
                          <a:effectLst/>
                        </a:rPr>
                        <a:t>“[Place-based community]: an inclusive community. Together. Forward. Bold. An exceptional place where everyone thrives.”</a:t>
                      </a:r>
                      <a:endParaRPr lang="en-US" sz="1400" kern="100">
                        <a:effectLst/>
                      </a:endParaRPr>
                    </a:p>
                    <a:p>
                      <a:pPr marL="0" marR="0">
                        <a:lnSpc>
                          <a:spcPct val="107000"/>
                        </a:lnSpc>
                        <a:spcBef>
                          <a:spcPts val="1200"/>
                        </a:spcBef>
                        <a:spcAft>
                          <a:spcPts val="0"/>
                        </a:spcAft>
                      </a:pPr>
                      <a:r>
                        <a:rPr lang="en-US" sz="1400" kern="0">
                          <a:effectLst/>
                        </a:rPr>
                        <a:t>“Access to higher education is vital to creating thriving, equitable communities”</a:t>
                      </a:r>
                      <a:endParaRPr lang="en-US" sz="1400" kern="100">
                        <a:effectLst/>
                      </a:endParaRPr>
                    </a:p>
                    <a:p>
                      <a:pPr marL="0" marR="0">
                        <a:lnSpc>
                          <a:spcPct val="107000"/>
                        </a:lnSpc>
                        <a:spcBef>
                          <a:spcPts val="1200"/>
                        </a:spcBef>
                        <a:spcAft>
                          <a:spcPts val="0"/>
                        </a:spcAft>
                      </a:pPr>
                      <a:r>
                        <a:rPr lang="en-US" sz="1400" kern="0">
                          <a:effectLst/>
                        </a:rPr>
                        <a:t>“We prioritize investing in BIPOC-led organizing and systems change work. We know this work is often overlooked, underfunded, and underestimated.” </a:t>
                      </a:r>
                      <a:endParaRPr lang="en-US" sz="1400" kern="100">
                        <a:effectLst/>
                      </a:endParaRPr>
                    </a:p>
                    <a:p>
                      <a:pPr marL="0" marR="0">
                        <a:lnSpc>
                          <a:spcPct val="107000"/>
                        </a:lnSpc>
                        <a:spcBef>
                          <a:spcPts val="1200"/>
                        </a:spcBef>
                        <a:spcAft>
                          <a:spcPts val="0"/>
                        </a:spcAft>
                      </a:pPr>
                      <a:r>
                        <a:rPr lang="en-US" sz="1400" kern="0">
                          <a:effectLst/>
                        </a:rPr>
                        <a:t>“</a:t>
                      </a:r>
                      <a:r>
                        <a:rPr lang="en-US" sz="1400" kern="100">
                          <a:effectLst/>
                        </a:rPr>
                        <a:t>Social Justice Fund supports work to obtain equitable economic, political &amp; social opportunities for all”</a:t>
                      </a:r>
                    </a:p>
                    <a:p>
                      <a:pPr marL="0" marR="0">
                        <a:lnSpc>
                          <a:spcPct val="107000"/>
                        </a:lnSpc>
                        <a:spcBef>
                          <a:spcPts val="1200"/>
                        </a:spcBef>
                        <a:spcAft>
                          <a:spcPts val="0"/>
                        </a:spcAft>
                      </a:pPr>
                      <a:r>
                        <a:rPr lang="en-US" sz="1400" kern="0">
                          <a:effectLst/>
                        </a:rPr>
                        <a:t>“Despite the obstacles, we continue to strive for a region where opportunity and prosperity are within reach for all.”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39777" marR="39777" marT="0" marB="0" anchor="ctr"/>
                </a:tc>
                <a:extLst>
                  <a:ext uri="{0D108BD9-81ED-4DB2-BD59-A6C34878D82A}">
                    <a16:rowId xmlns:a16="http://schemas.microsoft.com/office/drawing/2014/main" val="4246057650"/>
                  </a:ext>
                </a:extLst>
              </a:tr>
            </a:tbl>
          </a:graphicData>
        </a:graphic>
      </p:graphicFrame>
    </p:spTree>
    <p:extLst>
      <p:ext uri="{BB962C8B-B14F-4D97-AF65-F5344CB8AC3E}">
        <p14:creationId xmlns:p14="http://schemas.microsoft.com/office/powerpoint/2010/main" val="3919890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A77D92-99FA-25C4-92DE-5C08DE4A8CA4}"/>
              </a:ext>
            </a:extLst>
          </p:cNvPr>
          <p:cNvSpPr>
            <a:spLocks noGrp="1"/>
          </p:cNvSpPr>
          <p:nvPr>
            <p:ph type="sldNum" sz="quarter" idx="12"/>
          </p:nvPr>
        </p:nvSpPr>
        <p:spPr/>
        <p:txBody>
          <a:bodyPr/>
          <a:lstStyle/>
          <a:p>
            <a:fld id="{DFA4CD3D-26C8-47FF-8D13-9B32BAAB4735}" type="slidenum">
              <a:rPr lang="en-US" smtClean="0"/>
              <a:t>49</a:t>
            </a:fld>
            <a:endParaRPr lang="en-US"/>
          </a:p>
        </p:txBody>
      </p:sp>
      <p:sp>
        <p:nvSpPr>
          <p:cNvPr id="3" name="Title 2">
            <a:extLst>
              <a:ext uri="{FF2B5EF4-FFF2-40B4-BE49-F238E27FC236}">
                <a16:creationId xmlns:a16="http://schemas.microsoft.com/office/drawing/2014/main" id="{EFF04D46-2EF2-0B8C-A003-152D68A1A35E}"/>
              </a:ext>
            </a:extLst>
          </p:cNvPr>
          <p:cNvSpPr>
            <a:spLocks noGrp="1"/>
          </p:cNvSpPr>
          <p:nvPr>
            <p:ph type="title"/>
          </p:nvPr>
        </p:nvSpPr>
        <p:spPr>
          <a:xfrm>
            <a:off x="396874" y="623651"/>
            <a:ext cx="11398253" cy="838854"/>
          </a:xfrm>
        </p:spPr>
        <p:txBody>
          <a:bodyPr>
            <a:normAutofit/>
          </a:bodyPr>
          <a:lstStyle/>
          <a:p>
            <a:r>
              <a:rPr lang="en-US" sz="3600"/>
              <a:t>What Can ILs Help Us Learn?</a:t>
            </a:r>
          </a:p>
        </p:txBody>
      </p:sp>
      <p:sp>
        <p:nvSpPr>
          <p:cNvPr id="5" name="Content Placeholder 4">
            <a:extLst>
              <a:ext uri="{FF2B5EF4-FFF2-40B4-BE49-F238E27FC236}">
                <a16:creationId xmlns:a16="http://schemas.microsoft.com/office/drawing/2014/main" id="{2E3C94CA-BD2F-4164-1EFD-0AFE7FCED561}"/>
              </a:ext>
            </a:extLst>
          </p:cNvPr>
          <p:cNvSpPr>
            <a:spLocks noGrp="1"/>
          </p:cNvSpPr>
          <p:nvPr>
            <p:ph idx="1"/>
          </p:nvPr>
        </p:nvSpPr>
        <p:spPr>
          <a:xfrm>
            <a:off x="396873" y="1602473"/>
            <a:ext cx="11398254" cy="4178895"/>
          </a:xfrm>
        </p:spPr>
        <p:txBody>
          <a:bodyPr>
            <a:normAutofit/>
          </a:bodyPr>
          <a:lstStyle/>
          <a:p>
            <a:pPr marL="342900" marR="0" lvl="0" indent="-342900" algn="l" defTabSz="1218987"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t>Multiple levels of analysis</a:t>
            </a:r>
          </a:p>
          <a:p>
            <a:pPr marL="342900" marR="0" lvl="0" indent="-342900" algn="l" defTabSz="1218987"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t>Guide sensemaking and decision-making</a:t>
            </a:r>
          </a:p>
          <a:p>
            <a:pPr marL="342900" marR="0" lvl="0" indent="-342900" algn="l" defTabSz="1218987"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t>Shape attention</a:t>
            </a:r>
          </a:p>
          <a:p>
            <a:pPr marL="342900" marR="0" lvl="0" indent="-342900" algn="l" defTabSz="1218987"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t>Stability and change</a:t>
            </a:r>
          </a:p>
          <a:p>
            <a:pPr marL="342900" marR="0" lvl="0" indent="-342900" algn="l" defTabSz="1218987"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t>Organizational identity</a:t>
            </a:r>
          </a:p>
          <a:p>
            <a:pPr marL="342900" indent="-342900" defTabSz="1218987">
              <a:lnSpc>
                <a:spcPct val="107000"/>
              </a:lnSpc>
              <a:spcBef>
                <a:spcPts val="0"/>
              </a:spcBef>
              <a:spcAft>
                <a:spcPts val="800"/>
              </a:spcAft>
              <a:buClrTx/>
              <a:buSzTx/>
              <a:buFont typeface="Arial" panose="020B0604020202020204" pitchFamily="34" charset="0"/>
              <a:buChar char="•"/>
              <a:defRPr/>
            </a:pPr>
            <a:r>
              <a:rPr lang="en-US"/>
              <a:t>Responses to institutional complexity (Greenwood et al., 2011)</a:t>
            </a:r>
          </a:p>
          <a:p>
            <a:pPr marL="342900" marR="0" lvl="0" indent="-342900" algn="l" defTabSz="1218987"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US"/>
              <a:t>Institutional bricolage (</a:t>
            </a:r>
            <a:r>
              <a:rPr lang="en-US" err="1"/>
              <a:t>Højgaard</a:t>
            </a:r>
            <a:r>
              <a:rPr lang="en-US"/>
              <a:t> Christiansen &amp; Lounsbury, 2013)</a:t>
            </a:r>
          </a:p>
          <a:p>
            <a:pPr marL="342900" marR="0" lvl="0" indent="-342900" algn="l" defTabSz="1218987" rtl="0" eaLnBrk="1" fontAlgn="auto" latinLnBrk="0" hangingPunct="1">
              <a:lnSpc>
                <a:spcPct val="107000"/>
              </a:lnSpc>
              <a:spcBef>
                <a:spcPts val="0"/>
              </a:spcBef>
              <a:spcAft>
                <a:spcPts val="800"/>
              </a:spcAft>
              <a:buClrTx/>
              <a:buSzTx/>
              <a:buFont typeface="Arial" panose="020B0604020202020204" pitchFamily="34" charset="0"/>
              <a:buChar char="•"/>
              <a:tabLst/>
              <a:defRPr/>
            </a:pPr>
            <a:endParaRPr lang="en-US"/>
          </a:p>
        </p:txBody>
      </p:sp>
    </p:spTree>
    <p:extLst>
      <p:ext uri="{BB962C8B-B14F-4D97-AF65-F5344CB8AC3E}">
        <p14:creationId xmlns:p14="http://schemas.microsoft.com/office/powerpoint/2010/main" val="366389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F9461-997B-4901-291E-73B0D062B3DD}"/>
              </a:ext>
            </a:extLst>
          </p:cNvPr>
          <p:cNvSpPr>
            <a:spLocks noGrp="1"/>
          </p:cNvSpPr>
          <p:nvPr>
            <p:ph type="sldNum" sz="quarter" idx="12"/>
          </p:nvPr>
        </p:nvSpPr>
        <p:spPr/>
        <p:txBody>
          <a:bodyPr/>
          <a:lstStyle/>
          <a:p>
            <a:fld id="{DFA4CD3D-26C8-47FF-8D13-9B32BAAB4735}" type="slidenum">
              <a:rPr lang="en-US" smtClean="0"/>
              <a:t>50</a:t>
            </a:fld>
            <a:endParaRPr lang="en-US"/>
          </a:p>
        </p:txBody>
      </p:sp>
      <p:sp>
        <p:nvSpPr>
          <p:cNvPr id="3" name="Title 2">
            <a:extLst>
              <a:ext uri="{FF2B5EF4-FFF2-40B4-BE49-F238E27FC236}">
                <a16:creationId xmlns:a16="http://schemas.microsoft.com/office/drawing/2014/main" id="{8F6B3568-CC2F-CC35-D8B4-D8220D68897F}"/>
              </a:ext>
            </a:extLst>
          </p:cNvPr>
          <p:cNvSpPr>
            <a:spLocks noGrp="1"/>
          </p:cNvSpPr>
          <p:nvPr>
            <p:ph type="title"/>
          </p:nvPr>
        </p:nvSpPr>
        <p:spPr>
          <a:xfrm>
            <a:off x="396873" y="515497"/>
            <a:ext cx="11398253" cy="838854"/>
          </a:xfrm>
        </p:spPr>
        <p:txBody>
          <a:bodyPr>
            <a:normAutofit/>
          </a:bodyPr>
          <a:lstStyle/>
          <a:p>
            <a:r>
              <a:rPr lang="en-US" sz="3600"/>
              <a:t>Evidence of Institutional Bricolage</a:t>
            </a:r>
          </a:p>
        </p:txBody>
      </p:sp>
      <p:pic>
        <p:nvPicPr>
          <p:cNvPr id="8" name="Content Placeholder 7">
            <a:extLst>
              <a:ext uri="{FF2B5EF4-FFF2-40B4-BE49-F238E27FC236}">
                <a16:creationId xmlns:a16="http://schemas.microsoft.com/office/drawing/2014/main" id="{47E3A3AB-38A9-AAC7-5BF7-D71CE786D74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8125" t="29609" r="12295" b="41473"/>
          <a:stretch/>
        </p:blipFill>
        <p:spPr>
          <a:xfrm>
            <a:off x="227505" y="1858295"/>
            <a:ext cx="11736990" cy="2399071"/>
          </a:xfrm>
        </p:spPr>
      </p:pic>
    </p:spTree>
    <p:extLst>
      <p:ext uri="{BB962C8B-B14F-4D97-AF65-F5344CB8AC3E}">
        <p14:creationId xmlns:p14="http://schemas.microsoft.com/office/powerpoint/2010/main" val="23440033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F9461-997B-4901-291E-73B0D062B3DD}"/>
              </a:ext>
            </a:extLst>
          </p:cNvPr>
          <p:cNvSpPr>
            <a:spLocks noGrp="1"/>
          </p:cNvSpPr>
          <p:nvPr>
            <p:ph type="sldNum" sz="quarter" idx="12"/>
          </p:nvPr>
        </p:nvSpPr>
        <p:spPr/>
        <p:txBody>
          <a:bodyPr/>
          <a:lstStyle/>
          <a:p>
            <a:fld id="{DFA4CD3D-26C8-47FF-8D13-9B32BAAB4735}" type="slidenum">
              <a:rPr lang="en-US" smtClean="0"/>
              <a:t>51</a:t>
            </a:fld>
            <a:endParaRPr lang="en-US"/>
          </a:p>
        </p:txBody>
      </p:sp>
      <p:sp>
        <p:nvSpPr>
          <p:cNvPr id="3" name="Title 2">
            <a:extLst>
              <a:ext uri="{FF2B5EF4-FFF2-40B4-BE49-F238E27FC236}">
                <a16:creationId xmlns:a16="http://schemas.microsoft.com/office/drawing/2014/main" id="{8F6B3568-CC2F-CC35-D8B4-D8220D68897F}"/>
              </a:ext>
            </a:extLst>
          </p:cNvPr>
          <p:cNvSpPr>
            <a:spLocks noGrp="1"/>
          </p:cNvSpPr>
          <p:nvPr>
            <p:ph type="title"/>
          </p:nvPr>
        </p:nvSpPr>
        <p:spPr>
          <a:xfrm>
            <a:off x="396873" y="476166"/>
            <a:ext cx="11398253" cy="838854"/>
          </a:xfrm>
        </p:spPr>
        <p:txBody>
          <a:bodyPr>
            <a:normAutofit/>
          </a:bodyPr>
          <a:lstStyle/>
          <a:p>
            <a:r>
              <a:rPr lang="en-US" sz="3600"/>
              <a:t>Data</a:t>
            </a:r>
          </a:p>
        </p:txBody>
      </p:sp>
      <p:sp>
        <p:nvSpPr>
          <p:cNvPr id="5" name="Content Placeholder 4">
            <a:extLst>
              <a:ext uri="{FF2B5EF4-FFF2-40B4-BE49-F238E27FC236}">
                <a16:creationId xmlns:a16="http://schemas.microsoft.com/office/drawing/2014/main" id="{B098E5B9-458F-529A-D7D4-B51F7E72EECD}"/>
              </a:ext>
            </a:extLst>
          </p:cNvPr>
          <p:cNvSpPr>
            <a:spLocks noGrp="1"/>
          </p:cNvSpPr>
          <p:nvPr>
            <p:ph idx="1"/>
          </p:nvPr>
        </p:nvSpPr>
        <p:spPr>
          <a:xfrm>
            <a:off x="396872" y="1088528"/>
            <a:ext cx="11398254" cy="4445278"/>
          </a:xfrm>
        </p:spPr>
        <p:txBody>
          <a:bodyPr>
            <a:normAutofit/>
          </a:bodyPr>
          <a:lstStyle/>
          <a:p>
            <a:pPr marL="285750" indent="-285750">
              <a:lnSpc>
                <a:spcPct val="100000"/>
              </a:lnSpc>
              <a:buFont typeface="Arial" panose="020B0604020202020204" pitchFamily="34" charset="0"/>
              <a:buChar char="•"/>
            </a:pPr>
            <a:r>
              <a:rPr lang="en-US">
                <a:latin typeface="Buckeye Sans 2" pitchFamily="2" charset="0"/>
                <a:ea typeface="Buckeye Serif 2 Black" pitchFamily="2" charset="0"/>
              </a:rPr>
              <a:t>Current corpus is 2,822 annual reports</a:t>
            </a:r>
          </a:p>
          <a:p>
            <a:pPr marL="285750" indent="-285750">
              <a:lnSpc>
                <a:spcPct val="100000"/>
              </a:lnSpc>
              <a:buFont typeface="Arial" panose="020B0604020202020204" pitchFamily="34" charset="0"/>
              <a:buChar char="•"/>
            </a:pPr>
            <a:r>
              <a:rPr lang="en-US">
                <a:latin typeface="Buckeye Sans 2" pitchFamily="2" charset="0"/>
                <a:ea typeface="Buckeye Serif 2 Black" pitchFamily="2" charset="0"/>
              </a:rPr>
              <a:t>Collection process is active, and we are contacting organizations that do not have reports posted online</a:t>
            </a:r>
          </a:p>
          <a:p>
            <a:pPr marL="285750" indent="-285750">
              <a:lnSpc>
                <a:spcPct val="100000"/>
              </a:lnSpc>
              <a:buFont typeface="Arial" panose="020B0604020202020204" pitchFamily="34" charset="0"/>
              <a:buChar char="•"/>
            </a:pPr>
            <a:r>
              <a:rPr lang="en-US">
                <a:latin typeface="Buckeye Sans 2" pitchFamily="2" charset="0"/>
                <a:ea typeface="Buckeye Serif 2 Black" pitchFamily="2" charset="0"/>
              </a:rPr>
              <a:t>Qualitative stratified sample</a:t>
            </a:r>
          </a:p>
          <a:p>
            <a:pPr marL="971550" lvl="1" indent="-285750">
              <a:lnSpc>
                <a:spcPct val="100000"/>
              </a:lnSpc>
            </a:pPr>
            <a:r>
              <a:rPr lang="en-US">
                <a:latin typeface="Buckeye Sans 2" pitchFamily="2" charset="0"/>
                <a:ea typeface="Buckeye Serif 2 Black" pitchFamily="2" charset="0"/>
              </a:rPr>
              <a:t>Stratifying the population of CFs with at least one publicly available annual report from 2010-2023 by asset size (small, medium, large) using financial data collected through IRS 990 forms</a:t>
            </a:r>
          </a:p>
          <a:p>
            <a:pPr marL="971550" lvl="1" indent="-285750">
              <a:lnSpc>
                <a:spcPct val="100000"/>
              </a:lnSpc>
            </a:pPr>
            <a:r>
              <a:rPr lang="en-US">
                <a:latin typeface="Buckeye Sans 2" pitchFamily="2" charset="0"/>
                <a:ea typeface="Buckeye Serif 2 Black" pitchFamily="2" charset="0"/>
              </a:rPr>
              <a:t>1-2 organizations reflecting each logic (LePere-Schloop et al., 2024)</a:t>
            </a:r>
          </a:p>
          <a:p>
            <a:pPr marL="285750" indent="-285750">
              <a:lnSpc>
                <a:spcPct val="150000"/>
              </a:lnSpc>
              <a:buFont typeface="Arial" panose="020B0604020202020204" pitchFamily="34" charset="0"/>
              <a:buChar char="•"/>
            </a:pPr>
            <a:endParaRPr lang="en-US" sz="2200">
              <a:latin typeface="Buckeye Sans 2" pitchFamily="2" charset="0"/>
              <a:ea typeface="Buckeye Serif 2 Black" pitchFamily="2" charset="0"/>
            </a:endParaRPr>
          </a:p>
          <a:p>
            <a:pPr marL="285750" indent="-285750">
              <a:lnSpc>
                <a:spcPct val="150000"/>
              </a:lnSpc>
              <a:buFont typeface="Arial" panose="020B0604020202020204" pitchFamily="34" charset="0"/>
              <a:buChar char="•"/>
            </a:pPr>
            <a:endParaRPr lang="en-US" sz="2200">
              <a:latin typeface="Buckeye Sans 2" pitchFamily="2" charset="0"/>
              <a:ea typeface="Buckeye Serif 2 Black" pitchFamily="2" charset="0"/>
            </a:endParaRPr>
          </a:p>
        </p:txBody>
      </p:sp>
    </p:spTree>
    <p:extLst>
      <p:ext uri="{BB962C8B-B14F-4D97-AF65-F5344CB8AC3E}">
        <p14:creationId xmlns:p14="http://schemas.microsoft.com/office/powerpoint/2010/main" val="39051638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F9461-997B-4901-291E-73B0D062B3DD}"/>
              </a:ext>
            </a:extLst>
          </p:cNvPr>
          <p:cNvSpPr>
            <a:spLocks noGrp="1"/>
          </p:cNvSpPr>
          <p:nvPr>
            <p:ph type="sldNum" sz="quarter" idx="12"/>
          </p:nvPr>
        </p:nvSpPr>
        <p:spPr/>
        <p:txBody>
          <a:bodyPr/>
          <a:lstStyle/>
          <a:p>
            <a:fld id="{DFA4CD3D-26C8-47FF-8D13-9B32BAAB4735}" type="slidenum">
              <a:rPr lang="en-US" smtClean="0"/>
              <a:t>52</a:t>
            </a:fld>
            <a:endParaRPr lang="en-US"/>
          </a:p>
        </p:txBody>
      </p:sp>
      <p:sp>
        <p:nvSpPr>
          <p:cNvPr id="3" name="Title 2">
            <a:extLst>
              <a:ext uri="{FF2B5EF4-FFF2-40B4-BE49-F238E27FC236}">
                <a16:creationId xmlns:a16="http://schemas.microsoft.com/office/drawing/2014/main" id="{8F6B3568-CC2F-CC35-D8B4-D8220D68897F}"/>
              </a:ext>
            </a:extLst>
          </p:cNvPr>
          <p:cNvSpPr>
            <a:spLocks noGrp="1"/>
          </p:cNvSpPr>
          <p:nvPr>
            <p:ph type="title"/>
          </p:nvPr>
        </p:nvSpPr>
        <p:spPr>
          <a:xfrm>
            <a:off x="396873" y="466335"/>
            <a:ext cx="11398253" cy="838854"/>
          </a:xfrm>
        </p:spPr>
        <p:txBody>
          <a:bodyPr>
            <a:normAutofit/>
          </a:bodyPr>
          <a:lstStyle/>
          <a:p>
            <a:r>
              <a:rPr lang="en-US" sz="3600"/>
              <a:t>Tools</a:t>
            </a:r>
          </a:p>
        </p:txBody>
      </p:sp>
      <p:sp>
        <p:nvSpPr>
          <p:cNvPr id="5" name="Content Placeholder 4">
            <a:extLst>
              <a:ext uri="{FF2B5EF4-FFF2-40B4-BE49-F238E27FC236}">
                <a16:creationId xmlns:a16="http://schemas.microsoft.com/office/drawing/2014/main" id="{B098E5B9-458F-529A-D7D4-B51F7E72EECD}"/>
              </a:ext>
            </a:extLst>
          </p:cNvPr>
          <p:cNvSpPr>
            <a:spLocks noGrp="1"/>
          </p:cNvSpPr>
          <p:nvPr>
            <p:ph idx="1"/>
          </p:nvPr>
        </p:nvSpPr>
        <p:spPr>
          <a:xfrm>
            <a:off x="396429" y="1265508"/>
            <a:ext cx="11398254" cy="4015454"/>
          </a:xfrm>
        </p:spPr>
        <p:txBody>
          <a:bodyPr>
            <a:normAutofit/>
          </a:bodyPr>
          <a:lstStyle/>
          <a:p>
            <a:pPr marL="342900" indent="-342900">
              <a:buFont typeface="Arial" panose="020B0604020202020204" pitchFamily="34" charset="0"/>
              <a:buChar char="•"/>
            </a:pPr>
            <a:r>
              <a:rPr lang="en-US"/>
              <a:t>Python, using Gemini API</a:t>
            </a:r>
          </a:p>
          <a:p>
            <a:pPr marL="1028700" lvl="1" indent="-342900"/>
            <a:r>
              <a:rPr lang="en-US"/>
              <a:t>Flash 2.0</a:t>
            </a:r>
          </a:p>
          <a:p>
            <a:pPr marL="1028700" lvl="1" indent="-342900"/>
            <a:r>
              <a:rPr lang="en-US"/>
              <a:t>Context window is up to 1 million tokens </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endParaRPr lang="en-US"/>
          </a:p>
        </p:txBody>
      </p:sp>
    </p:spTree>
    <p:extLst>
      <p:ext uri="{BB962C8B-B14F-4D97-AF65-F5344CB8AC3E}">
        <p14:creationId xmlns:p14="http://schemas.microsoft.com/office/powerpoint/2010/main" val="16666097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510E9-9157-D8EB-2B8E-82874FC922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708F3A-7642-2376-8B89-3B0416EE61C2}"/>
              </a:ext>
            </a:extLst>
          </p:cNvPr>
          <p:cNvSpPr>
            <a:spLocks noGrp="1"/>
          </p:cNvSpPr>
          <p:nvPr>
            <p:ph type="sldNum" sz="quarter" idx="12"/>
          </p:nvPr>
        </p:nvSpPr>
        <p:spPr/>
        <p:txBody>
          <a:bodyPr/>
          <a:lstStyle/>
          <a:p>
            <a:fld id="{DFA4CD3D-26C8-47FF-8D13-9B32BAAB4735}" type="slidenum">
              <a:rPr lang="en-US" smtClean="0"/>
              <a:t>53</a:t>
            </a:fld>
            <a:endParaRPr lang="en-US"/>
          </a:p>
        </p:txBody>
      </p:sp>
      <p:sp>
        <p:nvSpPr>
          <p:cNvPr id="3" name="Title 2">
            <a:extLst>
              <a:ext uri="{FF2B5EF4-FFF2-40B4-BE49-F238E27FC236}">
                <a16:creationId xmlns:a16="http://schemas.microsoft.com/office/drawing/2014/main" id="{68379351-61A2-1007-B967-8D7AC7EBFC63}"/>
              </a:ext>
            </a:extLst>
          </p:cNvPr>
          <p:cNvSpPr>
            <a:spLocks noGrp="1"/>
          </p:cNvSpPr>
          <p:nvPr>
            <p:ph type="title"/>
          </p:nvPr>
        </p:nvSpPr>
        <p:spPr>
          <a:xfrm>
            <a:off x="396873" y="466335"/>
            <a:ext cx="11398253" cy="838854"/>
          </a:xfrm>
        </p:spPr>
        <p:txBody>
          <a:bodyPr>
            <a:normAutofit/>
          </a:bodyPr>
          <a:lstStyle/>
          <a:p>
            <a:r>
              <a:rPr lang="en-US" sz="3600"/>
              <a:t>Computational Approaches</a:t>
            </a:r>
          </a:p>
        </p:txBody>
      </p:sp>
      <p:sp>
        <p:nvSpPr>
          <p:cNvPr id="5" name="Content Placeholder 4">
            <a:extLst>
              <a:ext uri="{FF2B5EF4-FFF2-40B4-BE49-F238E27FC236}">
                <a16:creationId xmlns:a16="http://schemas.microsoft.com/office/drawing/2014/main" id="{F837A259-9A4D-5E31-2904-C018C689F360}"/>
              </a:ext>
            </a:extLst>
          </p:cNvPr>
          <p:cNvSpPr>
            <a:spLocks noGrp="1"/>
          </p:cNvSpPr>
          <p:nvPr>
            <p:ph idx="1"/>
          </p:nvPr>
        </p:nvSpPr>
        <p:spPr>
          <a:xfrm>
            <a:off x="396429" y="1265508"/>
            <a:ext cx="11398254" cy="4015454"/>
          </a:xfrm>
        </p:spPr>
        <p:txBody>
          <a:bodyPr>
            <a:normAutofit/>
          </a:bodyPr>
          <a:lstStyle/>
          <a:p>
            <a:pPr marL="342900" indent="-342900">
              <a:buFont typeface="Arial" panose="020B0604020202020204" pitchFamily="34" charset="0"/>
              <a:buChar char="•"/>
            </a:pPr>
            <a:r>
              <a:rPr lang="en-US"/>
              <a:t>Term Frequency-Inverse Document Frequency (TF-IDF)</a:t>
            </a:r>
          </a:p>
          <a:p>
            <a:pPr marL="1028700" lvl="1" indent="-342900"/>
            <a:r>
              <a:rPr lang="en-US"/>
              <a:t>Measures word importance by balancing frequency and rarity across a corpus</a:t>
            </a:r>
          </a:p>
          <a:p>
            <a:pPr marL="342900" indent="-342900">
              <a:buFont typeface="Arial" panose="020B0604020202020204" pitchFamily="34" charset="0"/>
              <a:buChar char="•"/>
            </a:pPr>
            <a:r>
              <a:rPr lang="en-US"/>
              <a:t>Principal Component Analysis (PCA)</a:t>
            </a:r>
          </a:p>
          <a:p>
            <a:pPr marL="1028700" lvl="1" indent="-342900"/>
            <a:r>
              <a:rPr lang="en-US"/>
              <a:t>Represents embeddings and reduces dimensionality to 2 or 3 components</a:t>
            </a:r>
          </a:p>
          <a:p>
            <a:pPr marL="1028700" lvl="1" indent="-342900"/>
            <a:r>
              <a:rPr lang="en-US"/>
              <a:t>Maximizes variability</a:t>
            </a:r>
          </a:p>
          <a:p>
            <a:pPr marL="342900" indent="-342900">
              <a:buFont typeface="Arial" panose="020B0604020202020204" pitchFamily="34" charset="0"/>
              <a:buChar char="•"/>
            </a:pPr>
            <a:r>
              <a:rPr lang="en-US"/>
              <a:t>Uniform Manifold Approximation Projection – supervised (UMAP)</a:t>
            </a:r>
          </a:p>
          <a:p>
            <a:pPr marL="1028700" lvl="1" indent="-342900"/>
            <a:r>
              <a:rPr lang="en-US"/>
              <a:t>Distance between points, with respect for labels</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endParaRPr lang="en-US"/>
          </a:p>
        </p:txBody>
      </p:sp>
    </p:spTree>
    <p:extLst>
      <p:ext uri="{BB962C8B-B14F-4D97-AF65-F5344CB8AC3E}">
        <p14:creationId xmlns:p14="http://schemas.microsoft.com/office/powerpoint/2010/main" val="30028341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41976E-8D68-5D4C-11DA-4F8BF3BDCA6E}"/>
              </a:ext>
            </a:extLst>
          </p:cNvPr>
          <p:cNvSpPr>
            <a:spLocks noGrp="1"/>
          </p:cNvSpPr>
          <p:nvPr>
            <p:ph type="sldNum" sz="quarter" idx="12"/>
          </p:nvPr>
        </p:nvSpPr>
        <p:spPr/>
        <p:txBody>
          <a:bodyPr/>
          <a:lstStyle/>
          <a:p>
            <a:fld id="{DFA4CD3D-26C8-47FF-8D13-9B32BAAB4735}" type="slidenum">
              <a:rPr lang="en-US" smtClean="0"/>
              <a:t>54</a:t>
            </a:fld>
            <a:endParaRPr lang="en-US"/>
          </a:p>
        </p:txBody>
      </p:sp>
      <p:sp>
        <p:nvSpPr>
          <p:cNvPr id="3" name="Title 2">
            <a:extLst>
              <a:ext uri="{FF2B5EF4-FFF2-40B4-BE49-F238E27FC236}">
                <a16:creationId xmlns:a16="http://schemas.microsoft.com/office/drawing/2014/main" id="{C2C21F7C-9B39-E7BC-FEC7-AFF3E829AF65}"/>
              </a:ext>
            </a:extLst>
          </p:cNvPr>
          <p:cNvSpPr>
            <a:spLocks noGrp="1"/>
          </p:cNvSpPr>
          <p:nvPr>
            <p:ph type="title"/>
          </p:nvPr>
        </p:nvSpPr>
        <p:spPr/>
        <p:txBody>
          <a:bodyPr/>
          <a:lstStyle/>
          <a:p>
            <a:r>
              <a:rPr lang="en-US"/>
              <a:t>Phase 1: Qualitative Approach</a:t>
            </a:r>
          </a:p>
        </p:txBody>
      </p:sp>
    </p:spTree>
    <p:extLst>
      <p:ext uri="{BB962C8B-B14F-4D97-AF65-F5344CB8AC3E}">
        <p14:creationId xmlns:p14="http://schemas.microsoft.com/office/powerpoint/2010/main" val="33205235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D4B16-E0FA-55A2-56AC-C9DA1DCF63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347115-CCE9-3276-7242-3D2AC39B73DD}"/>
              </a:ext>
            </a:extLst>
          </p:cNvPr>
          <p:cNvSpPr>
            <a:spLocks noGrp="1"/>
          </p:cNvSpPr>
          <p:nvPr>
            <p:ph type="sldNum" sz="quarter" idx="12"/>
          </p:nvPr>
        </p:nvSpPr>
        <p:spPr/>
        <p:txBody>
          <a:bodyPr/>
          <a:lstStyle/>
          <a:p>
            <a:fld id="{DFA4CD3D-26C8-47FF-8D13-9B32BAAB4735}" type="slidenum">
              <a:rPr lang="en-US" smtClean="0"/>
              <a:t>55</a:t>
            </a:fld>
            <a:endParaRPr lang="en-US"/>
          </a:p>
        </p:txBody>
      </p:sp>
      <p:sp>
        <p:nvSpPr>
          <p:cNvPr id="3" name="Title 2">
            <a:extLst>
              <a:ext uri="{FF2B5EF4-FFF2-40B4-BE49-F238E27FC236}">
                <a16:creationId xmlns:a16="http://schemas.microsoft.com/office/drawing/2014/main" id="{EAAD7634-A2B0-D20A-6CC0-6D1702EB3FFE}"/>
              </a:ext>
            </a:extLst>
          </p:cNvPr>
          <p:cNvSpPr>
            <a:spLocks noGrp="1"/>
          </p:cNvSpPr>
          <p:nvPr>
            <p:ph type="title"/>
          </p:nvPr>
        </p:nvSpPr>
        <p:spPr>
          <a:xfrm>
            <a:off x="396873" y="505660"/>
            <a:ext cx="11706637" cy="838854"/>
          </a:xfrm>
        </p:spPr>
        <p:txBody>
          <a:bodyPr>
            <a:noAutofit/>
          </a:bodyPr>
          <a:lstStyle/>
          <a:p>
            <a:r>
              <a:rPr lang="en-US" sz="3600"/>
              <a:t>Case: ILs of Community Foundations (CFs)</a:t>
            </a:r>
          </a:p>
        </p:txBody>
      </p:sp>
      <p:sp>
        <p:nvSpPr>
          <p:cNvPr id="7" name="Content Placeholder 4">
            <a:extLst>
              <a:ext uri="{FF2B5EF4-FFF2-40B4-BE49-F238E27FC236}">
                <a16:creationId xmlns:a16="http://schemas.microsoft.com/office/drawing/2014/main" id="{2AF0CD3B-8165-37E2-158E-39FF96E5A6C7}"/>
              </a:ext>
            </a:extLst>
          </p:cNvPr>
          <p:cNvSpPr txBox="1">
            <a:spLocks/>
          </p:cNvSpPr>
          <p:nvPr/>
        </p:nvSpPr>
        <p:spPr>
          <a:xfrm>
            <a:off x="396873" y="1421273"/>
            <a:ext cx="11398254" cy="401545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a:t>Community foundations are</a:t>
            </a:r>
          </a:p>
          <a:p>
            <a:pPr marL="1028700" lvl="1" indent="-342900"/>
            <a:r>
              <a:rPr lang="en-US">
                <a:latin typeface="Buckeye Sans 2" pitchFamily="2" charset="0"/>
              </a:rPr>
              <a:t>place-based grantmaking public charities that c</a:t>
            </a:r>
            <a:r>
              <a:rPr lang="en-US"/>
              <a:t>ollect donations from a broad base of individuals and distribute funds</a:t>
            </a:r>
          </a:p>
          <a:p>
            <a:pPr marL="342900" indent="-342900">
              <a:buFont typeface="Arial" panose="020B0604020202020204" pitchFamily="34" charset="0"/>
              <a:buChar char="•"/>
            </a:pPr>
            <a:r>
              <a:rPr lang="en-US"/>
              <a:t>Ideal CF logics (Paarlberg, 2023)</a:t>
            </a:r>
          </a:p>
          <a:p>
            <a:pPr marL="1028700" lvl="1" indent="-342900"/>
            <a:r>
              <a:rPr lang="en-US"/>
              <a:t>Philanthropic Community Trust</a:t>
            </a:r>
          </a:p>
          <a:p>
            <a:pPr marL="1028700" lvl="1" indent="-342900"/>
            <a:r>
              <a:rPr lang="en-US"/>
              <a:t>Donor Services</a:t>
            </a:r>
          </a:p>
          <a:p>
            <a:pPr marL="1028700" lvl="1" indent="-342900"/>
            <a:r>
              <a:rPr lang="en-US"/>
              <a:t>Public-Private Governance</a:t>
            </a:r>
          </a:p>
          <a:p>
            <a:pPr marL="1028700" lvl="1" indent="-342900"/>
            <a:r>
              <a:rPr lang="en-US"/>
              <a:t>Social Change Philanthropy</a:t>
            </a:r>
          </a:p>
          <a:p>
            <a:pPr marL="342900" indent="-342900">
              <a:buFont typeface="Arial" panose="020B0604020202020204" pitchFamily="34" charset="0"/>
              <a:buChar char="•"/>
            </a:pPr>
            <a:r>
              <a:rPr lang="en-US"/>
              <a:t>Institutional bricolage (</a:t>
            </a:r>
            <a:r>
              <a:rPr lang="en-US" err="1"/>
              <a:t>Højgaard</a:t>
            </a:r>
            <a:r>
              <a:rPr lang="en-US"/>
              <a:t> Christiansen &amp; Lounsbury, 2013)</a:t>
            </a:r>
          </a:p>
          <a:p>
            <a:endParaRPr lang="en-US"/>
          </a:p>
        </p:txBody>
      </p:sp>
    </p:spTree>
    <p:extLst>
      <p:ext uri="{BB962C8B-B14F-4D97-AF65-F5344CB8AC3E}">
        <p14:creationId xmlns:p14="http://schemas.microsoft.com/office/powerpoint/2010/main" val="3271310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F9461-997B-4901-291E-73B0D062B3DD}"/>
              </a:ext>
            </a:extLst>
          </p:cNvPr>
          <p:cNvSpPr>
            <a:spLocks noGrp="1"/>
          </p:cNvSpPr>
          <p:nvPr>
            <p:ph type="sldNum" sz="quarter" idx="12"/>
          </p:nvPr>
        </p:nvSpPr>
        <p:spPr/>
        <p:txBody>
          <a:bodyPr/>
          <a:lstStyle/>
          <a:p>
            <a:fld id="{DFA4CD3D-26C8-47FF-8D13-9B32BAAB4735}" type="slidenum">
              <a:rPr lang="en-US" smtClean="0"/>
              <a:t>56</a:t>
            </a:fld>
            <a:endParaRPr lang="en-US"/>
          </a:p>
        </p:txBody>
      </p:sp>
      <p:sp>
        <p:nvSpPr>
          <p:cNvPr id="3" name="Title 2">
            <a:extLst>
              <a:ext uri="{FF2B5EF4-FFF2-40B4-BE49-F238E27FC236}">
                <a16:creationId xmlns:a16="http://schemas.microsoft.com/office/drawing/2014/main" id="{8F6B3568-CC2F-CC35-D8B4-D8220D68897F}"/>
              </a:ext>
            </a:extLst>
          </p:cNvPr>
          <p:cNvSpPr>
            <a:spLocks noGrp="1"/>
          </p:cNvSpPr>
          <p:nvPr>
            <p:ph type="title"/>
          </p:nvPr>
        </p:nvSpPr>
        <p:spPr>
          <a:xfrm>
            <a:off x="396873" y="495832"/>
            <a:ext cx="11398253" cy="838854"/>
          </a:xfrm>
        </p:spPr>
        <p:txBody>
          <a:bodyPr>
            <a:normAutofit/>
          </a:bodyPr>
          <a:lstStyle/>
          <a:p>
            <a:r>
              <a:rPr lang="en-US" sz="3600"/>
              <a:t>Qualitative Approach</a:t>
            </a:r>
          </a:p>
        </p:txBody>
      </p:sp>
      <p:sp>
        <p:nvSpPr>
          <p:cNvPr id="5" name="Content Placeholder 4">
            <a:extLst>
              <a:ext uri="{FF2B5EF4-FFF2-40B4-BE49-F238E27FC236}">
                <a16:creationId xmlns:a16="http://schemas.microsoft.com/office/drawing/2014/main" id="{B098E5B9-458F-529A-D7D4-B51F7E72EECD}"/>
              </a:ext>
            </a:extLst>
          </p:cNvPr>
          <p:cNvSpPr>
            <a:spLocks noGrp="1"/>
          </p:cNvSpPr>
          <p:nvPr>
            <p:ph idx="1"/>
          </p:nvPr>
        </p:nvSpPr>
        <p:spPr>
          <a:xfrm>
            <a:off x="396429" y="1403161"/>
            <a:ext cx="11398254" cy="4015454"/>
          </a:xfrm>
        </p:spPr>
        <p:txBody>
          <a:bodyPr>
            <a:normAutofit/>
          </a:bodyPr>
          <a:lstStyle/>
          <a:p>
            <a:pPr marL="342900" indent="-342900">
              <a:buFont typeface="Arial" panose="020B0604020202020204" pitchFamily="34" charset="0"/>
              <a:buChar char="•"/>
            </a:pPr>
            <a:r>
              <a:rPr lang="en-US"/>
              <a:t>Constructed a codebook of ideal CF logics</a:t>
            </a:r>
          </a:p>
          <a:p>
            <a:pPr marL="342900" indent="-342900">
              <a:buFont typeface="Arial" panose="020B0604020202020204" pitchFamily="34" charset="0"/>
              <a:buChar char="•"/>
            </a:pPr>
            <a:r>
              <a:rPr lang="en-US"/>
              <a:t>Stratified random sample of twenty-five reports</a:t>
            </a:r>
          </a:p>
          <a:p>
            <a:pPr marL="342900" indent="-342900">
              <a:buFont typeface="Arial" panose="020B0604020202020204" pitchFamily="34" charset="0"/>
              <a:buChar char="•"/>
            </a:pPr>
            <a:r>
              <a:rPr lang="en-US"/>
              <a:t>Two-cycle coding</a:t>
            </a:r>
          </a:p>
          <a:p>
            <a:pPr marL="1028700" lvl="1" indent="-342900"/>
            <a:r>
              <a:rPr lang="en-US"/>
              <a:t>Provisional (</a:t>
            </a:r>
            <a:r>
              <a:rPr lang="en-US" err="1"/>
              <a:t>Saldaña</a:t>
            </a:r>
            <a:r>
              <a:rPr lang="en-US"/>
              <a:t>, 2021)</a:t>
            </a:r>
          </a:p>
          <a:p>
            <a:pPr marL="1028700" lvl="1" indent="-342900"/>
            <a:r>
              <a:rPr lang="en-US"/>
              <a:t>Elaborative (Auerbach &amp; Silverstein, 2003)</a:t>
            </a:r>
          </a:p>
          <a:p>
            <a:pPr marL="342900" indent="-342900">
              <a:buFont typeface="Arial" panose="020B0604020202020204" pitchFamily="34" charset="0"/>
              <a:buChar char="•"/>
            </a:pPr>
            <a:r>
              <a:rPr lang="en-US"/>
              <a:t>Final codes were applied to annual report excerpts </a:t>
            </a:r>
          </a:p>
          <a:p>
            <a:pPr marL="342900" indent="-342900"/>
            <a:endParaRPr lang="en-US"/>
          </a:p>
          <a:p>
            <a:endParaRPr lang="en-US"/>
          </a:p>
        </p:txBody>
      </p:sp>
    </p:spTree>
    <p:extLst>
      <p:ext uri="{BB962C8B-B14F-4D97-AF65-F5344CB8AC3E}">
        <p14:creationId xmlns:p14="http://schemas.microsoft.com/office/powerpoint/2010/main" val="36474305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F9461-997B-4901-291E-73B0D062B3DD}"/>
              </a:ext>
            </a:extLst>
          </p:cNvPr>
          <p:cNvSpPr>
            <a:spLocks noGrp="1"/>
          </p:cNvSpPr>
          <p:nvPr>
            <p:ph type="sldNum" sz="quarter" idx="12"/>
          </p:nvPr>
        </p:nvSpPr>
        <p:spPr/>
        <p:txBody>
          <a:bodyPr/>
          <a:lstStyle/>
          <a:p>
            <a:fld id="{DFA4CD3D-26C8-47FF-8D13-9B32BAAB4735}" type="slidenum">
              <a:rPr lang="en-US" smtClean="0"/>
              <a:t>57</a:t>
            </a:fld>
            <a:endParaRPr lang="en-US"/>
          </a:p>
        </p:txBody>
      </p:sp>
      <p:sp>
        <p:nvSpPr>
          <p:cNvPr id="3" name="Title 2">
            <a:extLst>
              <a:ext uri="{FF2B5EF4-FFF2-40B4-BE49-F238E27FC236}">
                <a16:creationId xmlns:a16="http://schemas.microsoft.com/office/drawing/2014/main" id="{8F6B3568-CC2F-CC35-D8B4-D8220D68897F}"/>
              </a:ext>
            </a:extLst>
          </p:cNvPr>
          <p:cNvSpPr>
            <a:spLocks noGrp="1"/>
          </p:cNvSpPr>
          <p:nvPr>
            <p:ph type="title"/>
          </p:nvPr>
        </p:nvSpPr>
        <p:spPr>
          <a:xfrm>
            <a:off x="396873" y="505662"/>
            <a:ext cx="11398253" cy="838854"/>
          </a:xfrm>
        </p:spPr>
        <p:txBody>
          <a:bodyPr>
            <a:normAutofit/>
          </a:bodyPr>
          <a:lstStyle/>
          <a:p>
            <a:r>
              <a:rPr lang="en-US" sz="3600"/>
              <a:t>Qualitative Findings</a:t>
            </a:r>
          </a:p>
        </p:txBody>
      </p:sp>
      <p:sp>
        <p:nvSpPr>
          <p:cNvPr id="5" name="Content Placeholder 4">
            <a:extLst>
              <a:ext uri="{FF2B5EF4-FFF2-40B4-BE49-F238E27FC236}">
                <a16:creationId xmlns:a16="http://schemas.microsoft.com/office/drawing/2014/main" id="{B098E5B9-458F-529A-D7D4-B51F7E72EECD}"/>
              </a:ext>
            </a:extLst>
          </p:cNvPr>
          <p:cNvSpPr>
            <a:spLocks noGrp="1"/>
          </p:cNvSpPr>
          <p:nvPr>
            <p:ph idx="1"/>
          </p:nvPr>
        </p:nvSpPr>
        <p:spPr>
          <a:xfrm>
            <a:off x="396429" y="1412992"/>
            <a:ext cx="11398254" cy="4015454"/>
          </a:xfrm>
        </p:spPr>
        <p:txBody>
          <a:bodyPr>
            <a:normAutofit fontScale="92500" lnSpcReduction="10000"/>
          </a:bodyPr>
          <a:lstStyle/>
          <a:p>
            <a:r>
              <a:rPr lang="en-US" i="1">
                <a:solidFill>
                  <a:schemeClr val="accent1"/>
                </a:solidFill>
              </a:rPr>
              <a:t>Philanthropic Community Trust: </a:t>
            </a:r>
            <a:r>
              <a:rPr lang="en-US"/>
              <a:t>“Our responsibility to you—to our region—is to use our assets wisely in support of your deep commitment to the vital work.”</a:t>
            </a:r>
          </a:p>
          <a:p>
            <a:endParaRPr lang="en-US"/>
          </a:p>
          <a:p>
            <a:r>
              <a:rPr lang="en-US" i="1">
                <a:solidFill>
                  <a:schemeClr val="accent1"/>
                </a:solidFill>
              </a:rPr>
              <a:t>Donor Services: </a:t>
            </a:r>
            <a:r>
              <a:rPr lang="en-US"/>
              <a:t>“All donations allow individuals to directly engage in philanthropy – giving to those things that matter most to them.”</a:t>
            </a:r>
          </a:p>
          <a:p>
            <a:endParaRPr lang="en-US" i="1">
              <a:solidFill>
                <a:schemeClr val="accent1"/>
              </a:solidFill>
            </a:endParaRPr>
          </a:p>
          <a:p>
            <a:r>
              <a:rPr lang="en-US" i="1">
                <a:solidFill>
                  <a:schemeClr val="accent1"/>
                </a:solidFill>
              </a:rPr>
              <a:t>Public-Private Governance: </a:t>
            </a:r>
            <a:r>
              <a:rPr lang="en-US"/>
              <a:t>“We offer support beyond the grant check. We strive to be champions for our grantees, amplify their work, and serve as a connector and partner.”</a:t>
            </a:r>
          </a:p>
          <a:p>
            <a:endParaRPr lang="en-US"/>
          </a:p>
          <a:p>
            <a:r>
              <a:rPr lang="en-US" i="1">
                <a:solidFill>
                  <a:schemeClr val="accent1"/>
                </a:solidFill>
              </a:rPr>
              <a:t>Social Change: </a:t>
            </a:r>
            <a:r>
              <a:rPr lang="en-US"/>
              <a:t>“Social Justice Fund supports work to obtain equitable economic, political &amp; social opportunities for all.”</a:t>
            </a:r>
          </a:p>
        </p:txBody>
      </p:sp>
      <p:sp>
        <p:nvSpPr>
          <p:cNvPr id="4" name="Rectangle: Rounded Corners 3">
            <a:extLst>
              <a:ext uri="{FF2B5EF4-FFF2-40B4-BE49-F238E27FC236}">
                <a16:creationId xmlns:a16="http://schemas.microsoft.com/office/drawing/2014/main" id="{75D9A4C4-D5C6-9C8E-2FA5-6296FD5A41FB}"/>
              </a:ext>
            </a:extLst>
          </p:cNvPr>
          <p:cNvSpPr/>
          <p:nvPr/>
        </p:nvSpPr>
        <p:spPr>
          <a:xfrm>
            <a:off x="396429" y="2304661"/>
            <a:ext cx="11332151" cy="933061"/>
          </a:xfrm>
          <a:prstGeom prst="roundRect">
            <a:avLst/>
          </a:prstGeom>
          <a:noFill/>
          <a:ln w="57150">
            <a:solidFill>
              <a:srgbClr val="BA0C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58493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7DE4B-47FF-33AB-8F97-E39BF12681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34CF9B-47FA-6ACC-67EC-892B3952CC15}"/>
              </a:ext>
            </a:extLst>
          </p:cNvPr>
          <p:cNvSpPr>
            <a:spLocks noGrp="1"/>
          </p:cNvSpPr>
          <p:nvPr>
            <p:ph type="sldNum" sz="quarter" idx="12"/>
          </p:nvPr>
        </p:nvSpPr>
        <p:spPr/>
        <p:txBody>
          <a:bodyPr/>
          <a:lstStyle/>
          <a:p>
            <a:fld id="{DFA4CD3D-26C8-47FF-8D13-9B32BAAB4735}" type="slidenum">
              <a:rPr lang="en-US" smtClean="0"/>
              <a:t>58</a:t>
            </a:fld>
            <a:endParaRPr lang="en-US"/>
          </a:p>
        </p:txBody>
      </p:sp>
      <p:sp>
        <p:nvSpPr>
          <p:cNvPr id="3" name="Title 2">
            <a:extLst>
              <a:ext uri="{FF2B5EF4-FFF2-40B4-BE49-F238E27FC236}">
                <a16:creationId xmlns:a16="http://schemas.microsoft.com/office/drawing/2014/main" id="{F4083E4C-F042-4BC0-A737-67F1296C813B}"/>
              </a:ext>
            </a:extLst>
          </p:cNvPr>
          <p:cNvSpPr>
            <a:spLocks noGrp="1"/>
          </p:cNvSpPr>
          <p:nvPr>
            <p:ph type="title"/>
          </p:nvPr>
        </p:nvSpPr>
        <p:spPr>
          <a:xfrm>
            <a:off x="396429" y="466335"/>
            <a:ext cx="11398253" cy="838854"/>
          </a:xfrm>
        </p:spPr>
        <p:txBody>
          <a:bodyPr>
            <a:normAutofit/>
          </a:bodyPr>
          <a:lstStyle/>
          <a:p>
            <a:r>
              <a:rPr lang="en-US" sz="3600"/>
              <a:t>An Overview: AI &amp; Human-in-the-loop</a:t>
            </a:r>
          </a:p>
        </p:txBody>
      </p:sp>
      <p:sp>
        <p:nvSpPr>
          <p:cNvPr id="5" name="Content Placeholder 4">
            <a:extLst>
              <a:ext uri="{FF2B5EF4-FFF2-40B4-BE49-F238E27FC236}">
                <a16:creationId xmlns:a16="http://schemas.microsoft.com/office/drawing/2014/main" id="{0F7FFEB2-0100-B9D3-5C52-6E609F95A232}"/>
              </a:ext>
            </a:extLst>
          </p:cNvPr>
          <p:cNvSpPr>
            <a:spLocks noGrp="1"/>
          </p:cNvSpPr>
          <p:nvPr>
            <p:ph idx="1"/>
          </p:nvPr>
        </p:nvSpPr>
        <p:spPr>
          <a:xfrm>
            <a:off x="396429" y="1305188"/>
            <a:ext cx="11398254" cy="4762237"/>
          </a:xfrm>
        </p:spPr>
        <p:txBody>
          <a:bodyPr>
            <a:normAutofit/>
          </a:bodyPr>
          <a:lstStyle/>
          <a:p>
            <a:pPr marL="342900" indent="-342900">
              <a:buFont typeface="Arial" panose="020B0604020202020204" pitchFamily="34" charset="0"/>
              <a:buChar char="•"/>
            </a:pPr>
            <a:r>
              <a:rPr lang="en-US" sz="2400">
                <a:latin typeface="Buckeye Sans 2" pitchFamily="2" charset="0"/>
                <a:ea typeface="Buckeye Serif 2 Black" pitchFamily="2" charset="0"/>
              </a:rPr>
              <a:t>Ask a GenAI for the narratives present in the qualitative excerpts</a:t>
            </a:r>
          </a:p>
          <a:p>
            <a:pPr marL="342900" indent="-342900">
              <a:buFont typeface="Arial" panose="020B0604020202020204" pitchFamily="34" charset="0"/>
              <a:buChar char="•"/>
            </a:pPr>
            <a:r>
              <a:rPr lang="en-US">
                <a:latin typeface="Buckeye Sans 2" pitchFamily="2" charset="0"/>
                <a:ea typeface="Buckeye Serif 2 Black" pitchFamily="2" charset="0"/>
              </a:rPr>
              <a:t>Integrate narratives with codebook language as a prompt</a:t>
            </a:r>
          </a:p>
          <a:p>
            <a:pPr marL="342900" indent="-342900">
              <a:buFont typeface="Arial" panose="020B0604020202020204" pitchFamily="34" charset="0"/>
              <a:buChar char="•"/>
            </a:pPr>
            <a:r>
              <a:rPr lang="en-US">
                <a:latin typeface="Buckeye Sans 2" pitchFamily="2" charset="0"/>
                <a:ea typeface="Buckeye Serif 2 Black" pitchFamily="2" charset="0"/>
              </a:rPr>
              <a:t>Identify scenarios where LM classification does not align with qualitative codes</a:t>
            </a:r>
          </a:p>
          <a:p>
            <a:pPr marL="342900" indent="-342900">
              <a:buFont typeface="Arial" panose="020B0604020202020204" pitchFamily="34" charset="0"/>
              <a:buChar char="•"/>
            </a:pPr>
            <a:r>
              <a:rPr lang="en-US">
                <a:latin typeface="Buckeye Sans 2" pitchFamily="2" charset="0"/>
                <a:ea typeface="Buckeye Serif 2 Black" pitchFamily="2" charset="0"/>
              </a:rPr>
              <a:t>Shift toward continuous classification</a:t>
            </a:r>
          </a:p>
          <a:p>
            <a:pPr marL="342900" indent="-342900">
              <a:buFont typeface="Arial" panose="020B0604020202020204" pitchFamily="34" charset="0"/>
              <a:buChar char="•"/>
            </a:pPr>
            <a:r>
              <a:rPr lang="en-US">
                <a:latin typeface="Buckeye Sans 2" pitchFamily="2" charset="0"/>
                <a:ea typeface="Buckeye Serif 2 Black" pitchFamily="2" charset="0"/>
              </a:rPr>
              <a:t>Again, identify failed cases</a:t>
            </a:r>
          </a:p>
          <a:p>
            <a:pPr marL="342900" indent="-342900">
              <a:buFont typeface="Arial" panose="020B0604020202020204" pitchFamily="34" charset="0"/>
              <a:buChar char="•"/>
            </a:pPr>
            <a:r>
              <a:rPr lang="en-US">
                <a:latin typeface="Buckeye Sans 2" pitchFamily="2" charset="0"/>
                <a:ea typeface="Buckeye Serif 2 Black" pitchFamily="2" charset="0"/>
              </a:rPr>
              <a:t>Asking GenAI for feedback about prompt</a:t>
            </a:r>
          </a:p>
          <a:p>
            <a:pPr marL="342900" indent="-342900">
              <a:buFont typeface="Arial" panose="020B0604020202020204" pitchFamily="34" charset="0"/>
              <a:buChar char="•"/>
            </a:pPr>
            <a:r>
              <a:rPr lang="en-US">
                <a:latin typeface="Buckeye Sans 2" pitchFamily="2" charset="0"/>
                <a:ea typeface="Buckeye Serif 2 Black" pitchFamily="2" charset="0"/>
              </a:rPr>
              <a:t>Attending to details </a:t>
            </a:r>
          </a:p>
          <a:p>
            <a:pPr marL="1028700" lvl="1" indent="-342900"/>
            <a:r>
              <a:rPr lang="en-US">
                <a:latin typeface="Buckeye Sans 2" pitchFamily="2" charset="0"/>
                <a:ea typeface="Buckeye Serif 2 Black" pitchFamily="2" charset="0"/>
              </a:rPr>
              <a:t>Setting a role </a:t>
            </a:r>
          </a:p>
          <a:p>
            <a:pPr marL="1028700" lvl="1" indent="-342900"/>
            <a:r>
              <a:rPr lang="en-US">
                <a:latin typeface="Buckeye Sans 2" pitchFamily="2" charset="0"/>
                <a:ea typeface="Buckeye Serif 2 Black" pitchFamily="2" charset="0"/>
              </a:rPr>
              <a:t>Signaling important rules</a:t>
            </a:r>
          </a:p>
        </p:txBody>
      </p:sp>
    </p:spTree>
    <p:extLst>
      <p:ext uri="{BB962C8B-B14F-4D97-AF65-F5344CB8AC3E}">
        <p14:creationId xmlns:p14="http://schemas.microsoft.com/office/powerpoint/2010/main" val="14955652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A48765-D457-CF50-FCC8-35745EE44DEE}"/>
              </a:ext>
            </a:extLst>
          </p:cNvPr>
          <p:cNvSpPr>
            <a:spLocks noGrp="1"/>
          </p:cNvSpPr>
          <p:nvPr>
            <p:ph type="sldNum" sz="quarter" idx="12"/>
          </p:nvPr>
        </p:nvSpPr>
        <p:spPr/>
        <p:txBody>
          <a:bodyPr/>
          <a:lstStyle/>
          <a:p>
            <a:fld id="{DFA4CD3D-26C8-47FF-8D13-9B32BAAB4735}" type="slidenum">
              <a:rPr lang="en-US" smtClean="0"/>
              <a:t>59</a:t>
            </a:fld>
            <a:endParaRPr lang="en-US"/>
          </a:p>
        </p:txBody>
      </p:sp>
      <p:sp>
        <p:nvSpPr>
          <p:cNvPr id="6" name="Footer Placeholder 5">
            <a:extLst>
              <a:ext uri="{FF2B5EF4-FFF2-40B4-BE49-F238E27FC236}">
                <a16:creationId xmlns:a16="http://schemas.microsoft.com/office/drawing/2014/main" id="{A299DCF1-7699-29D9-61BE-53AA2D9F875B}"/>
              </a:ext>
            </a:extLst>
          </p:cNvPr>
          <p:cNvSpPr>
            <a:spLocks noGrp="1"/>
          </p:cNvSpPr>
          <p:nvPr>
            <p:ph type="ftr" sz="quarter" idx="11"/>
          </p:nvPr>
        </p:nvSpPr>
        <p:spPr/>
        <p:txBody>
          <a:bodyPr/>
          <a:lstStyle/>
          <a:p>
            <a:endParaRPr lang="en-US"/>
          </a:p>
        </p:txBody>
      </p:sp>
      <p:sp>
        <p:nvSpPr>
          <p:cNvPr id="7" name="Content Placeholder 4">
            <a:extLst>
              <a:ext uri="{FF2B5EF4-FFF2-40B4-BE49-F238E27FC236}">
                <a16:creationId xmlns:a16="http://schemas.microsoft.com/office/drawing/2014/main" id="{521A8A7E-4221-1C70-0010-BC1A78AB207A}"/>
              </a:ext>
            </a:extLst>
          </p:cNvPr>
          <p:cNvSpPr>
            <a:spLocks noGrp="1"/>
          </p:cNvSpPr>
          <p:nvPr>
            <p:ph idx="1"/>
          </p:nvPr>
        </p:nvSpPr>
        <p:spPr>
          <a:xfrm>
            <a:off x="396429" y="1305188"/>
            <a:ext cx="11398254" cy="4762237"/>
          </a:xfrm>
        </p:spPr>
        <p:txBody>
          <a:bodyPr>
            <a:normAutofit/>
          </a:bodyPr>
          <a:lstStyle/>
          <a:p>
            <a:pPr marL="342900" indent="-342900">
              <a:buFont typeface="Arial" panose="020B0604020202020204" pitchFamily="34" charset="0"/>
              <a:buChar char="•"/>
            </a:pPr>
            <a:r>
              <a:rPr lang="en-US">
                <a:latin typeface="Buckeye Sans 2" pitchFamily="2" charset="0"/>
                <a:ea typeface="Buckeye Serif 2 Black" pitchFamily="2" charset="0"/>
              </a:rPr>
              <a:t>Harmonic mean of precision and recall (Ma, 2020)</a:t>
            </a:r>
          </a:p>
          <a:p>
            <a:pPr marL="1028700" lvl="1" indent="-342900"/>
            <a:r>
              <a:rPr lang="en-US">
                <a:latin typeface="Buckeye Sans 2" pitchFamily="2" charset="0"/>
                <a:ea typeface="Buckeye Serif 2 Black" pitchFamily="2" charset="0"/>
              </a:rPr>
              <a:t>Precision – “how many predicted observations are correct?” (p. 675)</a:t>
            </a:r>
          </a:p>
          <a:p>
            <a:pPr marL="1028700" lvl="1" indent="-342900"/>
            <a:r>
              <a:rPr lang="en-US">
                <a:latin typeface="Buckeye Sans 2" pitchFamily="2" charset="0"/>
                <a:ea typeface="Buckeye Serif 2 Black" pitchFamily="2" charset="0"/>
              </a:rPr>
              <a:t>Recall – “how many observations are correctly predicted?” (p. 675)</a:t>
            </a:r>
          </a:p>
          <a:p>
            <a:pPr marL="342900" indent="-342900">
              <a:buFont typeface="Arial" panose="020B0604020202020204" pitchFamily="34" charset="0"/>
              <a:buChar char="•"/>
            </a:pPr>
            <a:r>
              <a:rPr lang="en-US">
                <a:latin typeface="Buckeye Sans 2" pitchFamily="2" charset="0"/>
                <a:ea typeface="Buckeye Serif 2 Black" pitchFamily="2" charset="0"/>
              </a:rPr>
              <a:t>Intercoder reliability (Landis &amp; Koch, 1977)</a:t>
            </a:r>
          </a:p>
          <a:p>
            <a:pPr marL="1028700" lvl="1" indent="-342900"/>
            <a:r>
              <a:rPr lang="en-US" sz="2000">
                <a:latin typeface="Buckeye Sans 2" pitchFamily="2" charset="0"/>
                <a:ea typeface="Buckeye Serif 2 Black" pitchFamily="2" charset="0"/>
              </a:rPr>
              <a:t>Should be between 0.80-1.00</a:t>
            </a:r>
          </a:p>
          <a:p>
            <a:pPr marL="1028700" lvl="1" indent="-342900"/>
            <a:r>
              <a:rPr lang="en-US" sz="2000">
                <a:latin typeface="Buckeye Sans 2" pitchFamily="2" charset="0"/>
                <a:ea typeface="Buckeye Serif 2 Black" pitchFamily="2" charset="0"/>
              </a:rPr>
              <a:t>Kappa measure</a:t>
            </a:r>
            <a:endParaRPr lang="en-US">
              <a:latin typeface="Buckeye Sans 2" pitchFamily="2" charset="0"/>
              <a:ea typeface="Buckeye Serif 2 Black" pitchFamily="2" charset="0"/>
            </a:endParaRPr>
          </a:p>
          <a:p>
            <a:pPr marL="342900" indent="-342900">
              <a:buFont typeface="Arial" panose="020B0604020202020204" pitchFamily="34" charset="0"/>
              <a:buChar char="•"/>
            </a:pPr>
            <a:endParaRPr lang="en-US"/>
          </a:p>
        </p:txBody>
      </p:sp>
      <p:sp>
        <p:nvSpPr>
          <p:cNvPr id="8" name="Title 2">
            <a:extLst>
              <a:ext uri="{FF2B5EF4-FFF2-40B4-BE49-F238E27FC236}">
                <a16:creationId xmlns:a16="http://schemas.microsoft.com/office/drawing/2014/main" id="{07EE2C3C-6D38-1AA9-D6A2-7849C65C81C4}"/>
              </a:ext>
            </a:extLst>
          </p:cNvPr>
          <p:cNvSpPr txBox="1">
            <a:spLocks/>
          </p:cNvSpPr>
          <p:nvPr/>
        </p:nvSpPr>
        <p:spPr>
          <a:xfrm>
            <a:off x="396429" y="466335"/>
            <a:ext cx="11398253" cy="838854"/>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4400" b="1" i="0" kern="1200">
                <a:solidFill>
                  <a:schemeClr val="accent1"/>
                </a:solidFill>
                <a:latin typeface="Buckeye Serif 2 Black" pitchFamily="2" charset="77"/>
                <a:ea typeface="Buckeye Serif 2 Black" pitchFamily="2" charset="77"/>
                <a:cs typeface="+mj-cs"/>
              </a:defRPr>
            </a:lvl1pPr>
          </a:lstStyle>
          <a:p>
            <a:r>
              <a:rPr lang="en-US" sz="3600"/>
              <a:t>Measuring Performance of Human-in-the-Loop Codes</a:t>
            </a:r>
          </a:p>
        </p:txBody>
      </p:sp>
    </p:spTree>
    <p:extLst>
      <p:ext uri="{BB962C8B-B14F-4D97-AF65-F5344CB8AC3E}">
        <p14:creationId xmlns:p14="http://schemas.microsoft.com/office/powerpoint/2010/main" val="1242276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6B41C-8F08-5092-0947-443B7CA1C5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6C12B9-9A79-CAB8-D6E3-FADC043EE6B1}"/>
              </a:ext>
            </a:extLst>
          </p:cNvPr>
          <p:cNvSpPr>
            <a:spLocks noGrp="1"/>
          </p:cNvSpPr>
          <p:nvPr>
            <p:ph type="sldNum" sz="quarter" idx="12"/>
          </p:nvPr>
        </p:nvSpPr>
        <p:spPr/>
        <p:txBody>
          <a:bodyPr/>
          <a:lstStyle/>
          <a:p>
            <a:fld id="{DFA4CD3D-26C8-47FF-8D13-9B32BAAB4735}" type="slidenum">
              <a:rPr lang="en-US" smtClean="0"/>
              <a:t>60</a:t>
            </a:fld>
            <a:endParaRPr lang="en-US"/>
          </a:p>
        </p:txBody>
      </p:sp>
      <p:sp>
        <p:nvSpPr>
          <p:cNvPr id="6" name="Footer Placeholder 5">
            <a:extLst>
              <a:ext uri="{FF2B5EF4-FFF2-40B4-BE49-F238E27FC236}">
                <a16:creationId xmlns:a16="http://schemas.microsoft.com/office/drawing/2014/main" id="{04BF34F4-5E07-7213-DA5B-A507103124E9}"/>
              </a:ext>
            </a:extLst>
          </p:cNvPr>
          <p:cNvSpPr>
            <a:spLocks noGrp="1"/>
          </p:cNvSpPr>
          <p:nvPr>
            <p:ph type="ftr" sz="quarter" idx="11"/>
          </p:nvPr>
        </p:nvSpPr>
        <p:spPr/>
        <p:txBody>
          <a:bodyPr/>
          <a:lstStyle/>
          <a:p>
            <a:endParaRPr lang="en-US"/>
          </a:p>
        </p:txBody>
      </p:sp>
      <p:sp>
        <p:nvSpPr>
          <p:cNvPr id="8" name="Title 2">
            <a:extLst>
              <a:ext uri="{FF2B5EF4-FFF2-40B4-BE49-F238E27FC236}">
                <a16:creationId xmlns:a16="http://schemas.microsoft.com/office/drawing/2014/main" id="{AF1488AA-0707-95D3-5A16-702B425453E0}"/>
              </a:ext>
            </a:extLst>
          </p:cNvPr>
          <p:cNvSpPr txBox="1">
            <a:spLocks/>
          </p:cNvSpPr>
          <p:nvPr/>
        </p:nvSpPr>
        <p:spPr>
          <a:xfrm>
            <a:off x="396429" y="466335"/>
            <a:ext cx="11398253" cy="83885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accent1"/>
                </a:solidFill>
                <a:latin typeface="Buckeye Serif 2 Black" pitchFamily="2" charset="77"/>
                <a:ea typeface="Buckeye Serif 2 Black" pitchFamily="2" charset="77"/>
                <a:cs typeface="+mj-cs"/>
              </a:defRPr>
            </a:lvl1pPr>
          </a:lstStyle>
          <a:p>
            <a:r>
              <a:rPr lang="en-US" sz="3600"/>
              <a:t>Example of Inconsistent LM Output</a:t>
            </a:r>
          </a:p>
        </p:txBody>
      </p:sp>
      <p:sp>
        <p:nvSpPr>
          <p:cNvPr id="5" name="Rectangle: Rounded Corners 4">
            <a:extLst>
              <a:ext uri="{FF2B5EF4-FFF2-40B4-BE49-F238E27FC236}">
                <a16:creationId xmlns:a16="http://schemas.microsoft.com/office/drawing/2014/main" id="{B87F9B69-A23A-9C25-D7A0-C855685BAFF2}"/>
              </a:ext>
            </a:extLst>
          </p:cNvPr>
          <p:cNvSpPr/>
          <p:nvPr/>
        </p:nvSpPr>
        <p:spPr>
          <a:xfrm>
            <a:off x="503432" y="1154347"/>
            <a:ext cx="10255359" cy="1053831"/>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a:solidFill>
                  <a:schemeClr val="tx1"/>
                </a:solidFill>
              </a:rPr>
              <a:t>“WE BENEFIT WHEN ALL CHICAGOANS HAVE THE OPPORTUNITY TO PARTICIPATE IN OUR ECONOMY.”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311,315)</a:t>
            </a:r>
          </a:p>
        </p:txBody>
      </p:sp>
      <p:sp>
        <p:nvSpPr>
          <p:cNvPr id="10" name="TextBox 9">
            <a:extLst>
              <a:ext uri="{FF2B5EF4-FFF2-40B4-BE49-F238E27FC236}">
                <a16:creationId xmlns:a16="http://schemas.microsoft.com/office/drawing/2014/main" id="{2DF6891A-B2BA-BEE9-09B4-4C5550AAF02F}"/>
              </a:ext>
            </a:extLst>
          </p:cNvPr>
          <p:cNvSpPr txBox="1"/>
          <p:nvPr/>
        </p:nvSpPr>
        <p:spPr>
          <a:xfrm>
            <a:off x="503431" y="2531100"/>
            <a:ext cx="10255359" cy="1754326"/>
          </a:xfrm>
          <a:prstGeom prst="rect">
            <a:avLst/>
          </a:prstGeom>
          <a:noFill/>
        </p:spPr>
        <p:txBody>
          <a:bodyPr wrap="square">
            <a:spAutoFit/>
          </a:bodyPr>
          <a:lstStyle/>
          <a:p>
            <a:r>
              <a:rPr lang="en-US" sz="1800" b="0" i="0" u="none" strike="noStrike">
                <a:solidFill>
                  <a:srgbClr val="000000"/>
                </a:solidFill>
                <a:effectLst/>
                <a:latin typeface="Calibri" panose="020F0502020204030204" pitchFamily="34" charset="0"/>
              </a:rPr>
              <a:t>Justification: </a:t>
            </a:r>
            <a:r>
              <a:rPr lang="en-US" sz="1800" b="0" i="0" u="none" strike="noStrike" err="1">
                <a:solidFill>
                  <a:srgbClr val="000000"/>
                </a:solidFill>
                <a:effectLst/>
                <a:latin typeface="Calibri" panose="020F0502020204030204" pitchFamily="34" charset="0"/>
              </a:rPr>
              <a:t>RawScores</a:t>
            </a:r>
            <a:r>
              <a:rPr lang="en-US" sz="1800" b="0" i="0" u="none" strike="noStrike">
                <a:solidFill>
                  <a:srgbClr val="000000"/>
                </a:solidFill>
                <a:effectLst/>
                <a:latin typeface="Calibri" panose="020F0502020204030204" pitchFamily="34" charset="0"/>
              </a:rPr>
              <a:t>=PCT=5;DS=5;PPG=10;SC=80; The excerpt broadly mentions economic opportunity, which could relate to the community, but it is not explicitly about responsible fund management, so it receives a low score. The excerpt does not mention donor preferences or vehicles, so it receives a low score. The excerpt hints at economic development, but it is not explicitly about cross-sector collaboration, so it receives a low score. The excerpt focuses on equitable economic participation, aligning with the social change logic.</a:t>
            </a:r>
            <a:r>
              <a:rPr lang="en-US"/>
              <a:t> </a:t>
            </a:r>
          </a:p>
        </p:txBody>
      </p:sp>
      <p:sp>
        <p:nvSpPr>
          <p:cNvPr id="12" name="TextBox 11">
            <a:extLst>
              <a:ext uri="{FF2B5EF4-FFF2-40B4-BE49-F238E27FC236}">
                <a16:creationId xmlns:a16="http://schemas.microsoft.com/office/drawing/2014/main" id="{CC74D939-022D-873D-ECC0-520D48796617}"/>
              </a:ext>
            </a:extLst>
          </p:cNvPr>
          <p:cNvSpPr txBox="1"/>
          <p:nvPr/>
        </p:nvSpPr>
        <p:spPr>
          <a:xfrm>
            <a:off x="503431" y="4489124"/>
            <a:ext cx="10255359" cy="1200329"/>
          </a:xfrm>
          <a:prstGeom prst="rect">
            <a:avLst/>
          </a:prstGeom>
          <a:noFill/>
        </p:spPr>
        <p:txBody>
          <a:bodyPr wrap="square">
            <a:spAutoFit/>
          </a:bodyPr>
          <a:lstStyle/>
          <a:p>
            <a:r>
              <a:rPr lang="en-US" sz="1800" b="0" i="0" u="none" strike="noStrike">
                <a:solidFill>
                  <a:srgbClr val="000000"/>
                </a:solidFill>
                <a:effectLst/>
                <a:latin typeface="Calibri" panose="020F0502020204030204" pitchFamily="34" charset="0"/>
              </a:rPr>
              <a:t>Justification: </a:t>
            </a:r>
            <a:r>
              <a:rPr lang="en-US" sz="1800" b="0" i="0" u="none" strike="noStrike" err="1">
                <a:solidFill>
                  <a:srgbClr val="000000"/>
                </a:solidFill>
                <a:effectLst/>
                <a:latin typeface="Calibri" panose="020F0502020204030204" pitchFamily="34" charset="0"/>
              </a:rPr>
              <a:t>RawScores</a:t>
            </a:r>
            <a:r>
              <a:rPr lang="en-US" sz="1800" b="0" i="0" u="none" strike="noStrike">
                <a:solidFill>
                  <a:srgbClr val="000000"/>
                </a:solidFill>
                <a:effectLst/>
                <a:latin typeface="Calibri" panose="020F0502020204030204" pitchFamily="34" charset="0"/>
              </a:rPr>
              <a:t>=PCT=0;DS=0;PPG=0;SC=100; The excerpt focuses on economic opportunity for all Chicagoans, which aligns with addressing systemic inequities and promoting a more inclusive society, thus Social Change. There is no mention of fund management, donor intent, or cross-sector collaboration, so the other logics are not applicable.</a:t>
            </a:r>
            <a:r>
              <a:rPr lang="en-US"/>
              <a:t> </a:t>
            </a:r>
          </a:p>
        </p:txBody>
      </p:sp>
    </p:spTree>
    <p:extLst>
      <p:ext uri="{BB962C8B-B14F-4D97-AF65-F5344CB8AC3E}">
        <p14:creationId xmlns:p14="http://schemas.microsoft.com/office/powerpoint/2010/main" val="1778817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A47E6-969F-E399-0743-08A1A87BC4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67ADEB-CEC8-A343-C8FA-D96B26CA17FE}"/>
              </a:ext>
            </a:extLst>
          </p:cNvPr>
          <p:cNvSpPr>
            <a:spLocks noGrp="1"/>
          </p:cNvSpPr>
          <p:nvPr>
            <p:ph type="sldNum" sz="quarter" idx="12"/>
          </p:nvPr>
        </p:nvSpPr>
        <p:spPr/>
        <p:txBody>
          <a:bodyPr/>
          <a:lstStyle/>
          <a:p>
            <a:fld id="{DFA4CD3D-26C8-47FF-8D13-9B32BAAB4735}" type="slidenum">
              <a:rPr lang="en-US" smtClean="0"/>
              <a:t>61</a:t>
            </a:fld>
            <a:endParaRPr lang="en-US"/>
          </a:p>
        </p:txBody>
      </p:sp>
      <p:sp>
        <p:nvSpPr>
          <p:cNvPr id="6" name="Footer Placeholder 5">
            <a:extLst>
              <a:ext uri="{FF2B5EF4-FFF2-40B4-BE49-F238E27FC236}">
                <a16:creationId xmlns:a16="http://schemas.microsoft.com/office/drawing/2014/main" id="{A5DA8F65-48D0-7C0D-EF8E-FF8A8818FBDE}"/>
              </a:ext>
            </a:extLst>
          </p:cNvPr>
          <p:cNvSpPr>
            <a:spLocks noGrp="1"/>
          </p:cNvSpPr>
          <p:nvPr>
            <p:ph type="ftr" sz="quarter" idx="11"/>
          </p:nvPr>
        </p:nvSpPr>
        <p:spPr/>
        <p:txBody>
          <a:bodyPr/>
          <a:lstStyle/>
          <a:p>
            <a:endParaRPr lang="en-US"/>
          </a:p>
        </p:txBody>
      </p:sp>
      <p:sp>
        <p:nvSpPr>
          <p:cNvPr id="7" name="Content Placeholder 4">
            <a:extLst>
              <a:ext uri="{FF2B5EF4-FFF2-40B4-BE49-F238E27FC236}">
                <a16:creationId xmlns:a16="http://schemas.microsoft.com/office/drawing/2014/main" id="{AB528455-1494-2EBA-571E-7C15FDCA3019}"/>
              </a:ext>
            </a:extLst>
          </p:cNvPr>
          <p:cNvSpPr>
            <a:spLocks noGrp="1"/>
          </p:cNvSpPr>
          <p:nvPr>
            <p:ph idx="1"/>
          </p:nvPr>
        </p:nvSpPr>
        <p:spPr>
          <a:xfrm>
            <a:off x="396429" y="1305188"/>
            <a:ext cx="11398254" cy="4762237"/>
          </a:xfrm>
        </p:spPr>
        <p:txBody>
          <a:bodyPr>
            <a:normAutofit/>
          </a:bodyPr>
          <a:lstStyle/>
          <a:p>
            <a:pPr marL="342900" indent="-342900">
              <a:buFont typeface="Arial" panose="020B0604020202020204" pitchFamily="34" charset="0"/>
              <a:buChar char="•"/>
            </a:pPr>
            <a:r>
              <a:rPr lang="en-US">
                <a:latin typeface="Buckeye Sans 2" pitchFamily="2" charset="0"/>
                <a:ea typeface="Buckeye Serif 2 Black" pitchFamily="2" charset="0"/>
              </a:rPr>
              <a:t>Emerging findings from human-in-the-loop strategies informed codebook improvement</a:t>
            </a:r>
          </a:p>
          <a:p>
            <a:pPr marL="342900" indent="-342900">
              <a:buFont typeface="Arial" panose="020B0604020202020204" pitchFamily="34" charset="0"/>
              <a:buChar char="•"/>
            </a:pPr>
            <a:r>
              <a:rPr lang="en-US">
                <a:latin typeface="Buckeye Sans 2" pitchFamily="2" charset="0"/>
                <a:ea typeface="Buckeye Serif 2 Black" pitchFamily="2" charset="0"/>
              </a:rPr>
              <a:t>LM used refined codebook to produce a knowledge graph of subject-predicate-object relationships</a:t>
            </a:r>
          </a:p>
          <a:p>
            <a:pPr marL="342900" indent="-342900">
              <a:buFont typeface="Arial" panose="020B0604020202020204" pitchFamily="34" charset="0"/>
              <a:buChar char="•"/>
            </a:pPr>
            <a:r>
              <a:rPr lang="en-US">
                <a:latin typeface="Buckeye Sans 2" pitchFamily="2" charset="0"/>
                <a:ea typeface="Buckeye Serif 2 Black" pitchFamily="2" charset="0"/>
              </a:rPr>
              <a:t>This is what a knowledge graph is, this is why we think it would be a good thing to try</a:t>
            </a:r>
          </a:p>
          <a:p>
            <a:pPr marL="1028700" lvl="1" indent="-342900"/>
            <a:r>
              <a:rPr lang="en-US">
                <a:latin typeface="Buckeye Sans 2" pitchFamily="2" charset="0"/>
                <a:ea typeface="Buckeye Serif 2 Black" pitchFamily="2" charset="0"/>
              </a:rPr>
              <a:t>ML with rules-based approach</a:t>
            </a:r>
          </a:p>
          <a:p>
            <a:pPr marL="342900" indent="-342900">
              <a:buFont typeface="Arial" panose="020B0604020202020204" pitchFamily="34" charset="0"/>
              <a:buChar char="•"/>
            </a:pPr>
            <a:endParaRPr lang="en-US"/>
          </a:p>
        </p:txBody>
      </p:sp>
      <p:sp>
        <p:nvSpPr>
          <p:cNvPr id="8" name="Title 2">
            <a:extLst>
              <a:ext uri="{FF2B5EF4-FFF2-40B4-BE49-F238E27FC236}">
                <a16:creationId xmlns:a16="http://schemas.microsoft.com/office/drawing/2014/main" id="{2185B06D-9C84-8799-BCEE-2B5EC8C14327}"/>
              </a:ext>
            </a:extLst>
          </p:cNvPr>
          <p:cNvSpPr txBox="1">
            <a:spLocks/>
          </p:cNvSpPr>
          <p:nvPr/>
        </p:nvSpPr>
        <p:spPr>
          <a:xfrm>
            <a:off x="396429" y="466335"/>
            <a:ext cx="11398253" cy="83885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chemeClr val="accent1"/>
                </a:solidFill>
                <a:latin typeface="Buckeye Serif 2 Black" pitchFamily="2" charset="77"/>
                <a:ea typeface="Buckeye Serif 2 Black" pitchFamily="2" charset="77"/>
                <a:cs typeface="+mj-cs"/>
              </a:defRPr>
            </a:lvl1pPr>
          </a:lstStyle>
          <a:p>
            <a:r>
              <a:rPr lang="en-US" sz="3600"/>
              <a:t>Knowledge Graph</a:t>
            </a:r>
          </a:p>
        </p:txBody>
      </p:sp>
    </p:spTree>
    <p:extLst>
      <p:ext uri="{BB962C8B-B14F-4D97-AF65-F5344CB8AC3E}">
        <p14:creationId xmlns:p14="http://schemas.microsoft.com/office/powerpoint/2010/main" val="16931505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F69F0-B527-866A-415B-64269B8B78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66BF00-FC19-1CAD-9C62-2AA6EEA71565}"/>
              </a:ext>
            </a:extLst>
          </p:cNvPr>
          <p:cNvSpPr>
            <a:spLocks noGrp="1"/>
          </p:cNvSpPr>
          <p:nvPr>
            <p:ph type="sldNum" sz="quarter" idx="12"/>
          </p:nvPr>
        </p:nvSpPr>
        <p:spPr/>
        <p:txBody>
          <a:bodyPr/>
          <a:lstStyle/>
          <a:p>
            <a:fld id="{DFA4CD3D-26C8-47FF-8D13-9B32BAAB4735}" type="slidenum">
              <a:rPr lang="en-US" smtClean="0"/>
              <a:t>62</a:t>
            </a:fld>
            <a:endParaRPr lang="en-US"/>
          </a:p>
        </p:txBody>
      </p:sp>
      <p:sp>
        <p:nvSpPr>
          <p:cNvPr id="3" name="Title 2">
            <a:extLst>
              <a:ext uri="{FF2B5EF4-FFF2-40B4-BE49-F238E27FC236}">
                <a16:creationId xmlns:a16="http://schemas.microsoft.com/office/drawing/2014/main" id="{5AE7D19A-A98E-A8D3-F374-0AA31B28FB15}"/>
              </a:ext>
            </a:extLst>
          </p:cNvPr>
          <p:cNvSpPr>
            <a:spLocks noGrp="1"/>
          </p:cNvSpPr>
          <p:nvPr>
            <p:ph type="title"/>
          </p:nvPr>
        </p:nvSpPr>
        <p:spPr>
          <a:xfrm>
            <a:off x="396429" y="466335"/>
            <a:ext cx="11398253" cy="838854"/>
          </a:xfrm>
        </p:spPr>
        <p:txBody>
          <a:bodyPr>
            <a:normAutofit/>
          </a:bodyPr>
          <a:lstStyle/>
          <a:p>
            <a:r>
              <a:rPr lang="en-US" sz="3600"/>
              <a:t>Public-Private Governance Failed Match Examples</a:t>
            </a:r>
          </a:p>
        </p:txBody>
      </p:sp>
      <p:sp>
        <p:nvSpPr>
          <p:cNvPr id="11" name="Rectangle: Rounded Corners 10">
            <a:extLst>
              <a:ext uri="{FF2B5EF4-FFF2-40B4-BE49-F238E27FC236}">
                <a16:creationId xmlns:a16="http://schemas.microsoft.com/office/drawing/2014/main" id="{0501F74E-EBE2-EC9C-EDC2-83752465C607}"/>
              </a:ext>
            </a:extLst>
          </p:cNvPr>
          <p:cNvSpPr/>
          <p:nvPr/>
        </p:nvSpPr>
        <p:spPr>
          <a:xfrm>
            <a:off x="396429" y="1206230"/>
            <a:ext cx="4289898" cy="1566154"/>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202324"/>
                </a:solidFill>
                <a:effectLst/>
                <a:uLnTx/>
                <a:uFillTx/>
                <a:latin typeface="Buckeye Sans"/>
                <a:ea typeface="+mn-ea"/>
                <a:cs typeface="+mn-cs"/>
              </a:rPr>
              <a:t>“strategic grantmaking”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7)</a:t>
            </a:r>
          </a:p>
        </p:txBody>
      </p:sp>
      <p:sp>
        <p:nvSpPr>
          <p:cNvPr id="13" name="TextBox 12">
            <a:extLst>
              <a:ext uri="{FF2B5EF4-FFF2-40B4-BE49-F238E27FC236}">
                <a16:creationId xmlns:a16="http://schemas.microsoft.com/office/drawing/2014/main" id="{CF066D40-81B8-5BEF-C2E5-38C67FA814B0}"/>
              </a:ext>
            </a:extLst>
          </p:cNvPr>
          <p:cNvSpPr txBox="1"/>
          <p:nvPr/>
        </p:nvSpPr>
        <p:spPr>
          <a:xfrm>
            <a:off x="5021904" y="1300123"/>
            <a:ext cx="6094378" cy="1477328"/>
          </a:xfrm>
          <a:prstGeom prst="rect">
            <a:avLst/>
          </a:prstGeom>
          <a:noFill/>
        </p:spPr>
        <p:txBody>
          <a:bodyPr wrap="square">
            <a:spAutoFit/>
          </a:bodyPr>
          <a:lstStyle/>
          <a:p>
            <a:r>
              <a:rPr lang="en-US"/>
              <a:t>Justification: </a:t>
            </a:r>
            <a:r>
              <a:rPr lang="en-US" err="1"/>
              <a:t>RawScores</a:t>
            </a:r>
            <a:r>
              <a:rPr lang="en-US"/>
              <a:t>=PCT=3;DS=2;PPG=3;SC=2; Strategic grantmaking suggests responsible allocation of funds (PCT). It could be aligned with donor intent (DS). It could also be part of a larger public-private initiative (PPG). It could also be part of a social change initiative (SC).</a:t>
            </a:r>
          </a:p>
        </p:txBody>
      </p:sp>
      <p:sp>
        <p:nvSpPr>
          <p:cNvPr id="14" name="Rectangle: Rounded Corners 13">
            <a:extLst>
              <a:ext uri="{FF2B5EF4-FFF2-40B4-BE49-F238E27FC236}">
                <a16:creationId xmlns:a16="http://schemas.microsoft.com/office/drawing/2014/main" id="{198BE762-7C77-6BAE-C9FD-1174B03869C8}"/>
              </a:ext>
            </a:extLst>
          </p:cNvPr>
          <p:cNvSpPr/>
          <p:nvPr/>
        </p:nvSpPr>
        <p:spPr>
          <a:xfrm>
            <a:off x="396429" y="3226339"/>
            <a:ext cx="6094378" cy="2688077"/>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rPr>
              <a:t>“The Community Impact Fund, a mechanism to provide financial resources to Long Beach nonprofits, was established to create real solutions to local challenges. Each year the LBCF Board of Directors identify the most pressing issues facing our city. For more than two decades, LBCF has worked closely with nonprofits who are on the front line of housing and homelessness, poverty, education, youth development, mental health, crime prevention, and more.”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18)</a:t>
            </a:r>
          </a:p>
        </p:txBody>
      </p:sp>
      <p:sp>
        <p:nvSpPr>
          <p:cNvPr id="16" name="TextBox 15">
            <a:extLst>
              <a:ext uri="{FF2B5EF4-FFF2-40B4-BE49-F238E27FC236}">
                <a16:creationId xmlns:a16="http://schemas.microsoft.com/office/drawing/2014/main" id="{3C192ADE-285F-5E00-7AE9-AA8D0AF8AA50}"/>
              </a:ext>
            </a:extLst>
          </p:cNvPr>
          <p:cNvSpPr txBox="1"/>
          <p:nvPr/>
        </p:nvSpPr>
        <p:spPr>
          <a:xfrm>
            <a:off x="6673174" y="2890472"/>
            <a:ext cx="4873264" cy="3693319"/>
          </a:xfrm>
          <a:prstGeom prst="rect">
            <a:avLst/>
          </a:prstGeom>
          <a:noFill/>
        </p:spPr>
        <p:txBody>
          <a:bodyPr wrap="square">
            <a:spAutoFit/>
          </a:bodyPr>
          <a:lstStyle/>
          <a:p>
            <a:r>
              <a:rPr lang="en-US" err="1"/>
              <a:t>RawScores</a:t>
            </a:r>
            <a:r>
              <a:rPr lang="en-US"/>
              <a:t>=PCT=60;DS=0;PPG=20;SC=20; The excerpt describes the Community Impact Fund as a mechanism to address local challenges, aligning with the foundation's role in improving the community. There is no mention of donor influence or preferences, so donor services is not applicable. The excerpt mentions the board identifying pressing issues and working with nonprofits, suggesting a collaborative approach to problem-solving. The excerpt mentions addressing issues like poverty and education, which can be linked to social change, but the framing is more general than focusing on systemic inequities.</a:t>
            </a:r>
          </a:p>
        </p:txBody>
      </p:sp>
    </p:spTree>
    <p:extLst>
      <p:ext uri="{BB962C8B-B14F-4D97-AF65-F5344CB8AC3E}">
        <p14:creationId xmlns:p14="http://schemas.microsoft.com/office/powerpoint/2010/main" val="27805495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54500-EC1A-92A6-7C40-08CDAB5DE6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FB85ED-130C-573C-91C0-A7FC0F676C5E}"/>
              </a:ext>
            </a:extLst>
          </p:cNvPr>
          <p:cNvSpPr>
            <a:spLocks noGrp="1"/>
          </p:cNvSpPr>
          <p:nvPr>
            <p:ph type="sldNum" sz="quarter" idx="12"/>
          </p:nvPr>
        </p:nvSpPr>
        <p:spPr/>
        <p:txBody>
          <a:bodyPr/>
          <a:lstStyle/>
          <a:p>
            <a:fld id="{DFA4CD3D-26C8-47FF-8D13-9B32BAAB4735}" type="slidenum">
              <a:rPr lang="en-US" smtClean="0"/>
              <a:t>63</a:t>
            </a:fld>
            <a:endParaRPr lang="en-US"/>
          </a:p>
        </p:txBody>
      </p:sp>
      <p:sp>
        <p:nvSpPr>
          <p:cNvPr id="3" name="Title 2">
            <a:extLst>
              <a:ext uri="{FF2B5EF4-FFF2-40B4-BE49-F238E27FC236}">
                <a16:creationId xmlns:a16="http://schemas.microsoft.com/office/drawing/2014/main" id="{F23CC00F-F5CA-F93C-1E10-1291F1E1526F}"/>
              </a:ext>
            </a:extLst>
          </p:cNvPr>
          <p:cNvSpPr>
            <a:spLocks noGrp="1"/>
          </p:cNvSpPr>
          <p:nvPr>
            <p:ph type="title"/>
          </p:nvPr>
        </p:nvSpPr>
        <p:spPr>
          <a:xfrm>
            <a:off x="396429" y="466335"/>
            <a:ext cx="11398253" cy="838854"/>
          </a:xfrm>
        </p:spPr>
        <p:txBody>
          <a:bodyPr>
            <a:normAutofit/>
          </a:bodyPr>
          <a:lstStyle/>
          <a:p>
            <a:r>
              <a:rPr lang="en-US" sz="3600"/>
              <a:t>GenAI Challenges for Qualitative Coding</a:t>
            </a:r>
          </a:p>
        </p:txBody>
      </p:sp>
      <p:sp>
        <p:nvSpPr>
          <p:cNvPr id="5" name="Content Placeholder 4">
            <a:extLst>
              <a:ext uri="{FF2B5EF4-FFF2-40B4-BE49-F238E27FC236}">
                <a16:creationId xmlns:a16="http://schemas.microsoft.com/office/drawing/2014/main" id="{F63E0FE0-7299-30B5-B2CE-FCC28E11CDCF}"/>
              </a:ext>
            </a:extLst>
          </p:cNvPr>
          <p:cNvSpPr>
            <a:spLocks noGrp="1"/>
          </p:cNvSpPr>
          <p:nvPr>
            <p:ph idx="1"/>
          </p:nvPr>
        </p:nvSpPr>
        <p:spPr>
          <a:xfrm>
            <a:off x="396429" y="1305188"/>
            <a:ext cx="11398254" cy="4762237"/>
          </a:xfrm>
        </p:spPr>
        <p:txBody>
          <a:bodyPr>
            <a:normAutofit/>
          </a:bodyPr>
          <a:lstStyle/>
          <a:p>
            <a:pPr marL="342900" indent="-342900">
              <a:buFont typeface="Arial" panose="020B0604020202020204" pitchFamily="34" charset="0"/>
              <a:buChar char="•"/>
            </a:pPr>
            <a:r>
              <a:rPr lang="en-US"/>
              <a:t>Context</a:t>
            </a:r>
          </a:p>
          <a:p>
            <a:pPr marL="1028700" lvl="1" indent="-342900"/>
            <a:r>
              <a:rPr lang="en-US"/>
              <a:t>Generalization</a:t>
            </a:r>
          </a:p>
          <a:p>
            <a:pPr marL="1028700" lvl="1" indent="-342900"/>
            <a:r>
              <a:rPr lang="en-US"/>
              <a:t>Excerpt size</a:t>
            </a:r>
          </a:p>
          <a:p>
            <a:pPr marL="342900" indent="-342900">
              <a:buFont typeface="Arial" panose="020B0604020202020204" pitchFamily="34" charset="0"/>
              <a:buChar char="•"/>
            </a:pPr>
            <a:r>
              <a:rPr lang="en-US"/>
              <a:t>Rule “strictness”</a:t>
            </a:r>
          </a:p>
          <a:p>
            <a:pPr marL="1028700" lvl="1" indent="-342900"/>
            <a:r>
              <a:rPr lang="en-US"/>
              <a:t>“assign each logic an independent integer </a:t>
            </a:r>
            <a:r>
              <a:rPr lang="en-US" err="1"/>
              <a:t>raw_score</a:t>
            </a:r>
            <a:r>
              <a:rPr lang="en-US"/>
              <a:t> from 0 to 5 (0 = absent, 5 = exclusive/overwhelming emphasis). Convert the raw scores to integer probabilities (points) that sum to exactly 100.”</a:t>
            </a:r>
          </a:p>
          <a:p>
            <a:pPr marL="342900" indent="-342900">
              <a:buFont typeface="Arial" panose="020B0604020202020204" pitchFamily="34" charset="0"/>
              <a:buChar char="•"/>
            </a:pPr>
            <a:r>
              <a:rPr lang="en-US"/>
              <a:t>Forgetting</a:t>
            </a:r>
          </a:p>
          <a:p>
            <a:pPr marL="342900" indent="-342900">
              <a:buFont typeface="Arial" panose="020B0604020202020204" pitchFamily="34" charset="0"/>
              <a:buChar char="•"/>
            </a:pPr>
            <a:r>
              <a:rPr lang="en-US"/>
              <a:t>Inconsistencies across iterations</a:t>
            </a:r>
          </a:p>
          <a:p>
            <a:pPr marL="1028700" lvl="1" indent="-342900"/>
            <a:endParaRPr lang="en-US"/>
          </a:p>
        </p:txBody>
      </p:sp>
    </p:spTree>
    <p:extLst>
      <p:ext uri="{BB962C8B-B14F-4D97-AF65-F5344CB8AC3E}">
        <p14:creationId xmlns:p14="http://schemas.microsoft.com/office/powerpoint/2010/main" val="21846546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490AC-B763-5B32-8309-BDCF0CEE4A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02481B-2159-5A69-887B-437C7A1AD58C}"/>
              </a:ext>
            </a:extLst>
          </p:cNvPr>
          <p:cNvSpPr>
            <a:spLocks noGrp="1"/>
          </p:cNvSpPr>
          <p:nvPr>
            <p:ph type="sldNum" sz="quarter" idx="12"/>
          </p:nvPr>
        </p:nvSpPr>
        <p:spPr/>
        <p:txBody>
          <a:bodyPr/>
          <a:lstStyle/>
          <a:p>
            <a:fld id="{DFA4CD3D-26C8-47FF-8D13-9B32BAAB4735}" type="slidenum">
              <a:rPr lang="en-US" smtClean="0"/>
              <a:t>64</a:t>
            </a:fld>
            <a:endParaRPr lang="en-US"/>
          </a:p>
        </p:txBody>
      </p:sp>
      <p:sp>
        <p:nvSpPr>
          <p:cNvPr id="3" name="Title 2">
            <a:extLst>
              <a:ext uri="{FF2B5EF4-FFF2-40B4-BE49-F238E27FC236}">
                <a16:creationId xmlns:a16="http://schemas.microsoft.com/office/drawing/2014/main" id="{2381A44D-582E-BA3A-165B-A88FCFE57878}"/>
              </a:ext>
            </a:extLst>
          </p:cNvPr>
          <p:cNvSpPr>
            <a:spLocks noGrp="1"/>
          </p:cNvSpPr>
          <p:nvPr>
            <p:ph type="title"/>
          </p:nvPr>
        </p:nvSpPr>
        <p:spPr>
          <a:xfrm>
            <a:off x="396429" y="466335"/>
            <a:ext cx="11398253" cy="838854"/>
          </a:xfrm>
        </p:spPr>
        <p:txBody>
          <a:bodyPr>
            <a:normAutofit/>
          </a:bodyPr>
          <a:lstStyle/>
          <a:p>
            <a:r>
              <a:rPr lang="en-US" sz="3600"/>
              <a:t>Prompt</a:t>
            </a:r>
          </a:p>
        </p:txBody>
      </p:sp>
      <p:sp>
        <p:nvSpPr>
          <p:cNvPr id="4" name="TextBox 3">
            <a:extLst>
              <a:ext uri="{FF2B5EF4-FFF2-40B4-BE49-F238E27FC236}">
                <a16:creationId xmlns:a16="http://schemas.microsoft.com/office/drawing/2014/main" id="{1CB93BE4-63DF-D0AD-C712-2B79A007F989}"/>
              </a:ext>
            </a:extLst>
          </p:cNvPr>
          <p:cNvSpPr txBox="1"/>
          <p:nvPr/>
        </p:nvSpPr>
        <p:spPr>
          <a:xfrm>
            <a:off x="519064" y="1090642"/>
            <a:ext cx="11275618" cy="4524315"/>
          </a:xfrm>
          <a:prstGeom prst="rect">
            <a:avLst/>
          </a:prstGeom>
          <a:solidFill>
            <a:schemeClr val="bg1">
              <a:lumMod val="95000"/>
            </a:schemeClr>
          </a:solidFill>
          <a:ln w="28575">
            <a:solidFill>
              <a:schemeClr val="tx1"/>
            </a:solidFill>
          </a:ln>
        </p:spPr>
        <p:txBody>
          <a:bodyPr wrap="square" rtlCol="0">
            <a:spAutoFit/>
          </a:bodyPr>
          <a:lstStyle/>
          <a:p>
            <a:r>
              <a:rPr lang="en-US"/>
              <a:t>I am going to provide a series of excerpts. An excerpt can be as short as one word or as long as multiple paragraphs. You are evaluating text excerpts for the presence of four logics. All excerpts are pulled from community foundation annual reports, so there will be a lot of similar language across excerpts including but not limited to community foundations, philanthropy, communities, and donors. In some cases, an excerpt may represent only one logic; in other cases, multiple logics may be present within a single excerpt. Here are brief definitions of each logic, with some decision rules:</a:t>
            </a:r>
          </a:p>
          <a:p>
            <a:endParaRPr lang="en-US"/>
          </a:p>
          <a:p>
            <a:r>
              <a:rPr lang="en-US"/>
              <a:t>Philanthropic Community Trust: The philanthropic community trust logic focuses on the foundations commitment to the principled investment, stewardship, and management of donor funds. It stresses transparency, accountability, and effective investment strategies. This logic emphasizes flexibility and responsiveness, via unrestricted endowments and fast responses to the communitys most pressing needs. Thus, the community foundation addresses both immediate needs and plans for the long-term needs of the foundation and the community. This logic highlights local identity, connecting donors and organizations within the local community, supporting local needs, and improving the place that community members live, learn, work, and play. </a:t>
            </a:r>
            <a:r>
              <a:rPr lang="en-US" u="sng">
                <a:uFill>
                  <a:solidFill>
                    <a:srgbClr val="BA0C2F"/>
                  </a:solidFill>
                </a:uFill>
              </a:rPr>
              <a:t>However, this logic should not be treated as a 'catch all.' Philanthropic Community Trust applies for excerpts discussing responsible management of funds, asset growth, emergency/rapid funding, and improving the community.</a:t>
            </a:r>
          </a:p>
        </p:txBody>
      </p:sp>
    </p:spTree>
    <p:extLst>
      <p:ext uri="{BB962C8B-B14F-4D97-AF65-F5344CB8AC3E}">
        <p14:creationId xmlns:p14="http://schemas.microsoft.com/office/powerpoint/2010/main" val="1089590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9D10-48F8-51D2-1D2B-6B5D5F3265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F32A17-1734-6F72-46CA-A8C7BD937C3D}"/>
              </a:ext>
            </a:extLst>
          </p:cNvPr>
          <p:cNvSpPr>
            <a:spLocks noGrp="1"/>
          </p:cNvSpPr>
          <p:nvPr>
            <p:ph type="sldNum" sz="quarter" idx="12"/>
          </p:nvPr>
        </p:nvSpPr>
        <p:spPr/>
        <p:txBody>
          <a:bodyPr/>
          <a:lstStyle/>
          <a:p>
            <a:fld id="{DFA4CD3D-26C8-47FF-8D13-9B32BAAB4735}" type="slidenum">
              <a:rPr lang="en-US" smtClean="0"/>
              <a:t>65</a:t>
            </a:fld>
            <a:endParaRPr lang="en-US"/>
          </a:p>
        </p:txBody>
      </p:sp>
      <p:sp>
        <p:nvSpPr>
          <p:cNvPr id="3" name="Title 2">
            <a:extLst>
              <a:ext uri="{FF2B5EF4-FFF2-40B4-BE49-F238E27FC236}">
                <a16:creationId xmlns:a16="http://schemas.microsoft.com/office/drawing/2014/main" id="{500DD9F9-CC35-0756-4AF7-BB61C279663D}"/>
              </a:ext>
            </a:extLst>
          </p:cNvPr>
          <p:cNvSpPr>
            <a:spLocks noGrp="1"/>
          </p:cNvSpPr>
          <p:nvPr>
            <p:ph type="title"/>
          </p:nvPr>
        </p:nvSpPr>
        <p:spPr>
          <a:xfrm>
            <a:off x="396429" y="466335"/>
            <a:ext cx="11398253" cy="838854"/>
          </a:xfrm>
        </p:spPr>
        <p:txBody>
          <a:bodyPr>
            <a:normAutofit/>
          </a:bodyPr>
          <a:lstStyle/>
          <a:p>
            <a:r>
              <a:rPr lang="en-US" sz="3600"/>
              <a:t>Prompt cont.</a:t>
            </a:r>
          </a:p>
        </p:txBody>
      </p:sp>
      <p:sp>
        <p:nvSpPr>
          <p:cNvPr id="4" name="TextBox 3">
            <a:extLst>
              <a:ext uri="{FF2B5EF4-FFF2-40B4-BE49-F238E27FC236}">
                <a16:creationId xmlns:a16="http://schemas.microsoft.com/office/drawing/2014/main" id="{3279A215-3F5A-DF40-F8A4-12C81A5C9C4C}"/>
              </a:ext>
            </a:extLst>
          </p:cNvPr>
          <p:cNvSpPr txBox="1"/>
          <p:nvPr/>
        </p:nvSpPr>
        <p:spPr>
          <a:xfrm>
            <a:off x="519064" y="1090642"/>
            <a:ext cx="11275618" cy="4801314"/>
          </a:xfrm>
          <a:prstGeom prst="rect">
            <a:avLst/>
          </a:prstGeom>
          <a:solidFill>
            <a:schemeClr val="bg1">
              <a:lumMod val="95000"/>
            </a:schemeClr>
          </a:solidFill>
          <a:ln w="28575">
            <a:solidFill>
              <a:schemeClr val="tx1"/>
            </a:solidFill>
          </a:ln>
        </p:spPr>
        <p:txBody>
          <a:bodyPr wrap="square" rtlCol="0">
            <a:spAutoFit/>
          </a:bodyPr>
          <a:lstStyle/>
          <a:p>
            <a:r>
              <a:rPr lang="en-US"/>
              <a:t>Donor Services: The donor services logic centers upon the desires and intents of donors. Under this logic, the community foundation tailors giving strategies to align individual donor values and charitable goals to help them create lasting personal legacies. Donor-advised funds are a staple of this logic, and grantmaking occurs under the advisement of donors so that impact aligns with their values. Under this logic, the community foundation also highlights the variety of giving vehicles available to suit donor needs.</a:t>
            </a:r>
          </a:p>
          <a:p>
            <a:endParaRPr lang="en-US"/>
          </a:p>
          <a:p>
            <a:r>
              <a:rPr lang="en-US"/>
              <a:t>Public Private Governance: The public-private governance logic emphasizes the role of formal leaders in addressing social problems through cross-sector collaborations, community leadership, economic development, and impact investing to achieve common goals. The community foundation acts as a central connector and convenor, promoting economic opportunities and improving the overall prosperity of the region. Under this logic, the community foundation may focus on making targeted investments in specific projects and initiatives that will yield measurable results. The community foundation may play a role in shaping policy. The public-private governance logic focuses on initiatives that address the root causes of problems through the lens of efficiency, data, and cross-sector collaboration; this is distinct from the social change logic which seeks to challenge the structural barriers that produce inequality by empowering marginalized voices. </a:t>
            </a:r>
            <a:r>
              <a:rPr lang="en-US" u="sng">
                <a:uFill>
                  <a:solidFill>
                    <a:srgbClr val="BA0C2F"/>
                  </a:solidFill>
                </a:uFill>
              </a:rPr>
              <a:t>Excerpts emphasizing cross-sector collaboration, tourism, or economic developments should be classified as public private governance whereas excerpts where the initiative purpose is advancing equity should be classified as the social change logic.</a:t>
            </a:r>
          </a:p>
        </p:txBody>
      </p:sp>
    </p:spTree>
    <p:extLst>
      <p:ext uri="{BB962C8B-B14F-4D97-AF65-F5344CB8AC3E}">
        <p14:creationId xmlns:p14="http://schemas.microsoft.com/office/powerpoint/2010/main" val="8436156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C91D-2F3A-C600-7BAA-FE6C546C0C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A0B3C4-E4DB-E471-05EB-FFCCEC218005}"/>
              </a:ext>
            </a:extLst>
          </p:cNvPr>
          <p:cNvSpPr>
            <a:spLocks noGrp="1"/>
          </p:cNvSpPr>
          <p:nvPr>
            <p:ph type="sldNum" sz="quarter" idx="12"/>
          </p:nvPr>
        </p:nvSpPr>
        <p:spPr/>
        <p:txBody>
          <a:bodyPr/>
          <a:lstStyle/>
          <a:p>
            <a:fld id="{DFA4CD3D-26C8-47FF-8D13-9B32BAAB4735}" type="slidenum">
              <a:rPr lang="en-US" smtClean="0"/>
              <a:t>66</a:t>
            </a:fld>
            <a:endParaRPr lang="en-US"/>
          </a:p>
        </p:txBody>
      </p:sp>
      <p:sp>
        <p:nvSpPr>
          <p:cNvPr id="3" name="Title 2">
            <a:extLst>
              <a:ext uri="{FF2B5EF4-FFF2-40B4-BE49-F238E27FC236}">
                <a16:creationId xmlns:a16="http://schemas.microsoft.com/office/drawing/2014/main" id="{C551AB2A-01B2-5E40-5A3A-1F74E1AA31C2}"/>
              </a:ext>
            </a:extLst>
          </p:cNvPr>
          <p:cNvSpPr>
            <a:spLocks noGrp="1"/>
          </p:cNvSpPr>
          <p:nvPr>
            <p:ph type="title"/>
          </p:nvPr>
        </p:nvSpPr>
        <p:spPr>
          <a:xfrm>
            <a:off x="396429" y="466335"/>
            <a:ext cx="11398253" cy="838854"/>
          </a:xfrm>
        </p:spPr>
        <p:txBody>
          <a:bodyPr>
            <a:normAutofit/>
          </a:bodyPr>
          <a:lstStyle/>
          <a:p>
            <a:r>
              <a:rPr lang="en-US" sz="3600"/>
              <a:t>Prompt cont.</a:t>
            </a:r>
          </a:p>
        </p:txBody>
      </p:sp>
      <p:sp>
        <p:nvSpPr>
          <p:cNvPr id="4" name="TextBox 3">
            <a:extLst>
              <a:ext uri="{FF2B5EF4-FFF2-40B4-BE49-F238E27FC236}">
                <a16:creationId xmlns:a16="http://schemas.microsoft.com/office/drawing/2014/main" id="{6895B237-A383-FC6B-D7C4-B361B790AE3E}"/>
              </a:ext>
            </a:extLst>
          </p:cNvPr>
          <p:cNvSpPr txBox="1"/>
          <p:nvPr/>
        </p:nvSpPr>
        <p:spPr>
          <a:xfrm>
            <a:off x="519064" y="1090642"/>
            <a:ext cx="11275618" cy="4801314"/>
          </a:xfrm>
          <a:prstGeom prst="rect">
            <a:avLst/>
          </a:prstGeom>
          <a:solidFill>
            <a:schemeClr val="bg1">
              <a:lumMod val="95000"/>
            </a:schemeClr>
          </a:solidFill>
          <a:ln w="28575">
            <a:solidFill>
              <a:schemeClr val="tx1"/>
            </a:solidFill>
          </a:ln>
        </p:spPr>
        <p:txBody>
          <a:bodyPr wrap="square" rtlCol="0">
            <a:spAutoFit/>
          </a:bodyPr>
          <a:lstStyle/>
          <a:p>
            <a:r>
              <a:rPr lang="en-US"/>
              <a:t>Social Change: The social change logic focuses on addressing systemic inequities and creating a more just and inclusive society. Under this logic, the community foundation supports grassroots organizations and community-led initiatives, particularly to empower marginalized community members. Some excerpts may describe initiatives such as expanding access to education, training, and employment; if the initiative is framed in terms of addressing inequity, barriers, or improving accessibility, the excerpt should be classified as social change. The social change logic also includes fostering conversations around diversity, equity, and inclusion. Some excerpts may talk about an investment strategy, but it should not be labeled as philanthropic community trust if it refers to investing with environmental, social, and governance principles—in that case, the excerpt should be classified as social change. Social change is about negotiating diverse values (race, ethnicity, class, gender, religion, politics, etc.) and dismantling barriers that perpetuate inequality; thus, the social change logic is more specific than just social impact more generally. When both Public-Private Governance and Social Change are potentially applicable, prioritize Social Change if the framing emphasizes equity, empowerment, or systemic barriers.</a:t>
            </a:r>
          </a:p>
          <a:p>
            <a:endParaRPr lang="en-US"/>
          </a:p>
          <a:p>
            <a:r>
              <a:rPr lang="en-US" u="sng">
                <a:uFill>
                  <a:solidFill>
                    <a:srgbClr val="BA0C2F"/>
                  </a:solidFill>
                </a:uFill>
              </a:rPr>
              <a:t>CLASSIFY EVERY EXCERPT (NO SKIPS!), </a:t>
            </a:r>
            <a:r>
              <a:rPr lang="en-US"/>
              <a:t>even if it is very short, ambiguous, or truncated. Never skip, output “unclear,” or add text outside the required format. If uncertain, make your best guess and assign probabilities that still sum to 100."</a:t>
            </a:r>
          </a:p>
          <a:p>
            <a:endParaRPr lang="en-US"/>
          </a:p>
          <a:p>
            <a:endParaRPr lang="en-US"/>
          </a:p>
        </p:txBody>
      </p:sp>
    </p:spTree>
    <p:extLst>
      <p:ext uri="{BB962C8B-B14F-4D97-AF65-F5344CB8AC3E}">
        <p14:creationId xmlns:p14="http://schemas.microsoft.com/office/powerpoint/2010/main" val="13567748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6CCE-1165-F77B-2285-517D7E5BA6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F9757C-F7B1-914A-0800-16383BB949B0}"/>
              </a:ext>
            </a:extLst>
          </p:cNvPr>
          <p:cNvSpPr>
            <a:spLocks noGrp="1"/>
          </p:cNvSpPr>
          <p:nvPr>
            <p:ph type="sldNum" sz="quarter" idx="12"/>
          </p:nvPr>
        </p:nvSpPr>
        <p:spPr/>
        <p:txBody>
          <a:bodyPr/>
          <a:lstStyle/>
          <a:p>
            <a:fld id="{DFA4CD3D-26C8-47FF-8D13-9B32BAAB4735}" type="slidenum">
              <a:rPr lang="en-US" smtClean="0"/>
              <a:t>67</a:t>
            </a:fld>
            <a:endParaRPr lang="en-US"/>
          </a:p>
        </p:txBody>
      </p:sp>
      <p:sp>
        <p:nvSpPr>
          <p:cNvPr id="3" name="Title 2">
            <a:extLst>
              <a:ext uri="{FF2B5EF4-FFF2-40B4-BE49-F238E27FC236}">
                <a16:creationId xmlns:a16="http://schemas.microsoft.com/office/drawing/2014/main" id="{D095D862-6A31-D5B1-0BDD-5B46662F85C4}"/>
              </a:ext>
            </a:extLst>
          </p:cNvPr>
          <p:cNvSpPr>
            <a:spLocks noGrp="1"/>
          </p:cNvSpPr>
          <p:nvPr>
            <p:ph type="title"/>
          </p:nvPr>
        </p:nvSpPr>
        <p:spPr>
          <a:xfrm>
            <a:off x="396429" y="466335"/>
            <a:ext cx="11398253" cy="838854"/>
          </a:xfrm>
        </p:spPr>
        <p:txBody>
          <a:bodyPr>
            <a:normAutofit/>
          </a:bodyPr>
          <a:lstStyle/>
          <a:p>
            <a:r>
              <a:rPr lang="en-US" sz="3600"/>
              <a:t>Prompt cont.</a:t>
            </a:r>
          </a:p>
        </p:txBody>
      </p:sp>
      <p:sp>
        <p:nvSpPr>
          <p:cNvPr id="4" name="TextBox 3">
            <a:extLst>
              <a:ext uri="{FF2B5EF4-FFF2-40B4-BE49-F238E27FC236}">
                <a16:creationId xmlns:a16="http://schemas.microsoft.com/office/drawing/2014/main" id="{70447B6B-86FE-52B2-D00A-0B1B2B235BCB}"/>
              </a:ext>
            </a:extLst>
          </p:cNvPr>
          <p:cNvSpPr txBox="1"/>
          <p:nvPr/>
        </p:nvSpPr>
        <p:spPr>
          <a:xfrm>
            <a:off x="519064" y="1090642"/>
            <a:ext cx="11275618" cy="4247317"/>
          </a:xfrm>
          <a:prstGeom prst="rect">
            <a:avLst/>
          </a:prstGeom>
          <a:solidFill>
            <a:schemeClr val="bg1">
              <a:lumMod val="95000"/>
            </a:schemeClr>
          </a:solidFill>
          <a:ln w="28575">
            <a:solidFill>
              <a:schemeClr val="tx1"/>
            </a:solidFill>
          </a:ln>
        </p:spPr>
        <p:txBody>
          <a:bodyPr wrap="square" rtlCol="0">
            <a:spAutoFit/>
          </a:bodyPr>
          <a:lstStyle/>
          <a:p>
            <a:r>
              <a:rPr lang="en-US"/>
              <a:t>For each excerpt, assign probabilities for the presence of each logic (summing to 100). </a:t>
            </a:r>
            <a:r>
              <a:rPr lang="en-US" u="sng">
                <a:uFill>
                  <a:solidFill>
                    <a:srgbClr val="BA0C2F"/>
                  </a:solidFill>
                </a:uFill>
              </a:rPr>
              <a:t>Do not rely solely on keywords like 'equity' or 'collaboration'; instead, examine why they are mentioned and in what context. </a:t>
            </a:r>
            <a:r>
              <a:rPr lang="en-US"/>
              <a:t>Explain your reasoning for the weight assigned to each of the four logics. Avoid general explanations—address each logic individually with a specific justification.</a:t>
            </a:r>
          </a:p>
          <a:p>
            <a:endParaRPr lang="en-US"/>
          </a:p>
          <a:p>
            <a:pPr marL="285750" indent="-285750">
              <a:buFontTx/>
              <a:buChar char="-"/>
            </a:pPr>
            <a:r>
              <a:rPr lang="en-US"/>
              <a:t>The Justification field must contain: (a) </a:t>
            </a:r>
            <a:r>
              <a:rPr lang="en-US" u="sng">
                <a:uFill>
                  <a:solidFill>
                    <a:srgbClr val="BA0C2F"/>
                  </a:solidFill>
                </a:uFill>
              </a:rPr>
              <a:t>the raw scores used, in this compact form: </a:t>
            </a:r>
            <a:r>
              <a:rPr lang="en-US" err="1"/>
              <a:t>RawScores</a:t>
            </a:r>
            <a:r>
              <a:rPr lang="en-US"/>
              <a:t>=PCT=</a:t>
            </a:r>
            <a:r>
              <a:rPr lang="en-US" err="1"/>
              <a:t>x;DS</a:t>
            </a:r>
            <a:r>
              <a:rPr lang="en-US"/>
              <a:t>=</a:t>
            </a:r>
            <a:r>
              <a:rPr lang="en-US" err="1"/>
              <a:t>y;PPG</a:t>
            </a:r>
            <a:r>
              <a:rPr lang="en-US"/>
              <a:t>=</a:t>
            </a:r>
            <a:r>
              <a:rPr lang="en-US" err="1"/>
              <a:t>z;SC</a:t>
            </a:r>
            <a:r>
              <a:rPr lang="en-US"/>
              <a:t>=w; (b) then a concise, per-logic explanation corresponding to those raw scores (one sentence per logic). If any logic has &lt;= 10 probability points, explicitly state why that small allocation was given.</a:t>
            </a:r>
          </a:p>
          <a:p>
            <a:endParaRPr lang="en-US"/>
          </a:p>
          <a:p>
            <a:r>
              <a:rPr lang="en-US" u="sng">
                <a:uFill>
                  <a:solidFill>
                    <a:srgbClr val="BA0C2F"/>
                  </a:solidFill>
                </a:uFill>
              </a:rPr>
              <a:t>**If you do not respond in exactly the following format, your task will be considered failed:**</a:t>
            </a:r>
          </a:p>
          <a:p>
            <a:r>
              <a:rPr lang="en-US"/>
              <a:t> ID: &lt;</a:t>
            </a:r>
            <a:r>
              <a:rPr lang="en-US" err="1"/>
              <a:t>Excerpt_ID</a:t>
            </a:r>
            <a:r>
              <a:rPr lang="en-US"/>
              <a:t>&gt; | Philanthropic Community Trust Probability | Donor Services Probability | Public Private Governance Probability | Social Change Probability | Justification</a:t>
            </a:r>
          </a:p>
          <a:p>
            <a:endParaRPr lang="en-US"/>
          </a:p>
          <a:p>
            <a:r>
              <a:rPr lang="en-US"/>
              <a:t>Do not include ID numbers or quotation marks. Only return the probability number, not the associated header. Respond ONLY in this format. Do not include headers, intro statements, or explanations.</a:t>
            </a:r>
          </a:p>
        </p:txBody>
      </p:sp>
    </p:spTree>
    <p:extLst>
      <p:ext uri="{BB962C8B-B14F-4D97-AF65-F5344CB8AC3E}">
        <p14:creationId xmlns:p14="http://schemas.microsoft.com/office/powerpoint/2010/main" val="20599977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87D66-6707-0F3C-D2C4-7CABDF3616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4C2DEB-244A-3AB6-BB22-FF74A92754C8}"/>
              </a:ext>
            </a:extLst>
          </p:cNvPr>
          <p:cNvSpPr>
            <a:spLocks noGrp="1"/>
          </p:cNvSpPr>
          <p:nvPr>
            <p:ph type="sldNum" sz="quarter" idx="12"/>
          </p:nvPr>
        </p:nvSpPr>
        <p:spPr/>
        <p:txBody>
          <a:bodyPr/>
          <a:lstStyle/>
          <a:p>
            <a:fld id="{DFA4CD3D-26C8-47FF-8D13-9B32BAAB4735}" type="slidenum">
              <a:rPr lang="en-US" smtClean="0"/>
              <a:t>68</a:t>
            </a:fld>
            <a:endParaRPr lang="en-US"/>
          </a:p>
        </p:txBody>
      </p:sp>
      <p:sp>
        <p:nvSpPr>
          <p:cNvPr id="3" name="Title 2">
            <a:extLst>
              <a:ext uri="{FF2B5EF4-FFF2-40B4-BE49-F238E27FC236}">
                <a16:creationId xmlns:a16="http://schemas.microsoft.com/office/drawing/2014/main" id="{6E77A3C2-8976-C644-2FDA-D56043D01EE3}"/>
              </a:ext>
            </a:extLst>
          </p:cNvPr>
          <p:cNvSpPr>
            <a:spLocks noGrp="1"/>
          </p:cNvSpPr>
          <p:nvPr>
            <p:ph type="title"/>
          </p:nvPr>
        </p:nvSpPr>
        <p:spPr>
          <a:xfrm>
            <a:off x="396429" y="466335"/>
            <a:ext cx="11398253" cy="838854"/>
          </a:xfrm>
        </p:spPr>
        <p:txBody>
          <a:bodyPr>
            <a:normAutofit/>
          </a:bodyPr>
          <a:lstStyle/>
          <a:p>
            <a:r>
              <a:rPr lang="en-US" sz="3600"/>
              <a:t>Additional Classification Examples</a:t>
            </a:r>
          </a:p>
        </p:txBody>
      </p:sp>
      <p:sp>
        <p:nvSpPr>
          <p:cNvPr id="11" name="Rectangle: Rounded Corners 10">
            <a:extLst>
              <a:ext uri="{FF2B5EF4-FFF2-40B4-BE49-F238E27FC236}">
                <a16:creationId xmlns:a16="http://schemas.microsoft.com/office/drawing/2014/main" id="{5B62C1D7-C3FE-8C77-08D7-9F7B1592815E}"/>
              </a:ext>
            </a:extLst>
          </p:cNvPr>
          <p:cNvSpPr/>
          <p:nvPr/>
        </p:nvSpPr>
        <p:spPr>
          <a:xfrm>
            <a:off x="396429" y="1206230"/>
            <a:ext cx="6399226" cy="1786352"/>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02324"/>
                </a:solidFill>
                <a:effectLst/>
                <a:uLnTx/>
                <a:uFillTx/>
                <a:latin typeface="Buckeye Sans"/>
                <a:ea typeface="+mn-ea"/>
                <a:cs typeface="+mn-cs"/>
              </a:rPr>
              <a:t>“As we emerge from the shadow of the pandemic we continue to fulfill our mission of positively impacting the Long Beach community through charitable giving, stewardship,”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5)</a:t>
            </a:r>
          </a:p>
        </p:txBody>
      </p:sp>
      <p:sp>
        <p:nvSpPr>
          <p:cNvPr id="14" name="Rectangle: Rounded Corners 13">
            <a:extLst>
              <a:ext uri="{FF2B5EF4-FFF2-40B4-BE49-F238E27FC236}">
                <a16:creationId xmlns:a16="http://schemas.microsoft.com/office/drawing/2014/main" id="{72CD8DEB-3CA0-14B4-A970-142A4C3E24C5}"/>
              </a:ext>
            </a:extLst>
          </p:cNvPr>
          <p:cNvSpPr/>
          <p:nvPr/>
        </p:nvSpPr>
        <p:spPr>
          <a:xfrm>
            <a:off x="396428" y="3146719"/>
            <a:ext cx="7932324" cy="3077811"/>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a:solidFill>
                  <a:schemeClr val="tx1"/>
                </a:solidFill>
              </a:rPr>
              <a:t>“Patrice started The Breaking Bread Village in 2020 in response to the anger and divisiveness she saw in the country, particularly on social media. With the pandemic, the election, and George Floyd’s murder, ‘2020 was a crazy year for everyone,’ she said. The Breaking Bread Village aims to unite people and create connections by intentionally listening and exploring differing viewpoints.”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60)</a:t>
            </a:r>
          </a:p>
        </p:txBody>
      </p:sp>
      <p:graphicFrame>
        <p:nvGraphicFramePr>
          <p:cNvPr id="4" name="Table 3">
            <a:extLst>
              <a:ext uri="{FF2B5EF4-FFF2-40B4-BE49-F238E27FC236}">
                <a16:creationId xmlns:a16="http://schemas.microsoft.com/office/drawing/2014/main" id="{3D5F460D-7B8D-672E-3988-492DB74F4A63}"/>
              </a:ext>
            </a:extLst>
          </p:cNvPr>
          <p:cNvGraphicFramePr>
            <a:graphicFrameLocks noGrp="1"/>
          </p:cNvGraphicFramePr>
          <p:nvPr>
            <p:extLst>
              <p:ext uri="{D42A27DB-BD31-4B8C-83A1-F6EECF244321}">
                <p14:modId xmlns:p14="http://schemas.microsoft.com/office/powerpoint/2010/main" val="3942490736"/>
              </p:ext>
            </p:extLst>
          </p:nvPr>
        </p:nvGraphicFramePr>
        <p:xfrm>
          <a:off x="7001410" y="1459326"/>
          <a:ext cx="4793272" cy="1280160"/>
        </p:xfrm>
        <a:graphic>
          <a:graphicData uri="http://schemas.openxmlformats.org/drawingml/2006/table">
            <a:tbl>
              <a:tblPr firstRow="1" bandRow="1">
                <a:tableStyleId>{5C22544A-7EE6-4342-B048-85BDC9FD1C3A}</a:tableStyleId>
              </a:tblPr>
              <a:tblGrid>
                <a:gridCol w="1585204">
                  <a:extLst>
                    <a:ext uri="{9D8B030D-6E8A-4147-A177-3AD203B41FA5}">
                      <a16:colId xmlns:a16="http://schemas.microsoft.com/office/drawing/2014/main" val="347811408"/>
                    </a:ext>
                  </a:extLst>
                </a:gridCol>
                <a:gridCol w="802017">
                  <a:extLst>
                    <a:ext uri="{9D8B030D-6E8A-4147-A177-3AD203B41FA5}">
                      <a16:colId xmlns:a16="http://schemas.microsoft.com/office/drawing/2014/main" val="3210498263"/>
                    </a:ext>
                  </a:extLst>
                </a:gridCol>
                <a:gridCol w="802017">
                  <a:extLst>
                    <a:ext uri="{9D8B030D-6E8A-4147-A177-3AD203B41FA5}">
                      <a16:colId xmlns:a16="http://schemas.microsoft.com/office/drawing/2014/main" val="403994841"/>
                    </a:ext>
                  </a:extLst>
                </a:gridCol>
                <a:gridCol w="802017">
                  <a:extLst>
                    <a:ext uri="{9D8B030D-6E8A-4147-A177-3AD203B41FA5}">
                      <a16:colId xmlns:a16="http://schemas.microsoft.com/office/drawing/2014/main" val="3730530381"/>
                    </a:ext>
                  </a:extLst>
                </a:gridCol>
                <a:gridCol w="802017">
                  <a:extLst>
                    <a:ext uri="{9D8B030D-6E8A-4147-A177-3AD203B41FA5}">
                      <a16:colId xmlns:a16="http://schemas.microsoft.com/office/drawing/2014/main" val="865941096"/>
                    </a:ext>
                  </a:extLst>
                </a:gridCol>
              </a:tblGrid>
              <a:tr h="640080">
                <a:tc>
                  <a:txBody>
                    <a:bodyPr/>
                    <a:lstStyle/>
                    <a:p>
                      <a:pPr algn="l"/>
                      <a:r>
                        <a:rPr lang="en-US" sz="2400">
                          <a:solidFill>
                            <a:schemeClr val="tx1"/>
                          </a:solidFill>
                        </a:rPr>
                        <a:t>Logic</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430239187"/>
                  </a:ext>
                </a:extLst>
              </a:tr>
              <a:tr h="640080">
                <a:tc>
                  <a:txBody>
                    <a:bodyPr/>
                    <a:lstStyle/>
                    <a:p>
                      <a:pPr algn="l"/>
                      <a:r>
                        <a:rPr lang="en-US" sz="2400"/>
                        <a:t>Weight</a:t>
                      </a:r>
                    </a:p>
                  </a:txBody>
                  <a:tcPr anchor="ctr">
                    <a:solidFill>
                      <a:schemeClr val="tx1">
                        <a:lumMod val="10000"/>
                        <a:lumOff val="90000"/>
                      </a:schemeClr>
                    </a:solidFill>
                  </a:tcPr>
                </a:tc>
                <a:tc>
                  <a:txBody>
                    <a:bodyPr/>
                    <a:lstStyle/>
                    <a:p>
                      <a:pPr algn="ctr"/>
                      <a:r>
                        <a:rPr lang="en-US" sz="2400"/>
                        <a:t>40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0</a:t>
                      </a:r>
                    </a:p>
                  </a:txBody>
                  <a:tcPr anchor="ctr">
                    <a:solidFill>
                      <a:srgbClr val="CA0020"/>
                    </a:solidFill>
                  </a:tcPr>
                </a:tc>
                <a:tc>
                  <a:txBody>
                    <a:bodyPr/>
                    <a:lstStyle/>
                    <a:p>
                      <a:pPr algn="ctr"/>
                      <a:r>
                        <a:rPr lang="en-US" sz="2400"/>
                        <a:t>20</a:t>
                      </a:r>
                    </a:p>
                  </a:txBody>
                  <a:tcPr anchor="ctr">
                    <a:solidFill>
                      <a:srgbClr val="F4A582"/>
                    </a:solidFill>
                  </a:tcPr>
                </a:tc>
                <a:tc>
                  <a:txBody>
                    <a:bodyPr/>
                    <a:lstStyle/>
                    <a:p>
                      <a:pPr algn="ctr"/>
                      <a:r>
                        <a:rPr lang="en-US" sz="2400"/>
                        <a:t>40</a:t>
                      </a:r>
                    </a:p>
                  </a:txBody>
                  <a:tcPr anchor="ctr">
                    <a:solidFill>
                      <a:srgbClr val="92C5DE"/>
                    </a:solidFill>
                  </a:tcPr>
                </a:tc>
                <a:extLst>
                  <a:ext uri="{0D108BD9-81ED-4DB2-BD59-A6C34878D82A}">
                    <a16:rowId xmlns:a16="http://schemas.microsoft.com/office/drawing/2014/main" val="1007952667"/>
                  </a:ext>
                </a:extLst>
              </a:tr>
            </a:tbl>
          </a:graphicData>
        </a:graphic>
      </p:graphicFrame>
      <p:graphicFrame>
        <p:nvGraphicFramePr>
          <p:cNvPr id="5" name="Table 4">
            <a:extLst>
              <a:ext uri="{FF2B5EF4-FFF2-40B4-BE49-F238E27FC236}">
                <a16:creationId xmlns:a16="http://schemas.microsoft.com/office/drawing/2014/main" id="{E0CF80EF-0CBB-617E-46C1-98DBBEC698CB}"/>
              </a:ext>
            </a:extLst>
          </p:cNvPr>
          <p:cNvGraphicFramePr>
            <a:graphicFrameLocks noGrp="1"/>
          </p:cNvGraphicFramePr>
          <p:nvPr>
            <p:extLst>
              <p:ext uri="{D42A27DB-BD31-4B8C-83A1-F6EECF244321}">
                <p14:modId xmlns:p14="http://schemas.microsoft.com/office/powerpoint/2010/main" val="1461770583"/>
              </p:ext>
            </p:extLst>
          </p:nvPr>
        </p:nvGraphicFramePr>
        <p:xfrm>
          <a:off x="8053329" y="4179135"/>
          <a:ext cx="4010138" cy="1280160"/>
        </p:xfrm>
        <a:graphic>
          <a:graphicData uri="http://schemas.openxmlformats.org/drawingml/2006/table">
            <a:tbl>
              <a:tblPr firstRow="1" bandRow="1">
                <a:tableStyleId>{5C22544A-7EE6-4342-B048-85BDC9FD1C3A}</a:tableStyleId>
              </a:tblPr>
              <a:tblGrid>
                <a:gridCol w="1173422">
                  <a:extLst>
                    <a:ext uri="{9D8B030D-6E8A-4147-A177-3AD203B41FA5}">
                      <a16:colId xmlns:a16="http://schemas.microsoft.com/office/drawing/2014/main" val="347811408"/>
                    </a:ext>
                  </a:extLst>
                </a:gridCol>
                <a:gridCol w="709179">
                  <a:extLst>
                    <a:ext uri="{9D8B030D-6E8A-4147-A177-3AD203B41FA5}">
                      <a16:colId xmlns:a16="http://schemas.microsoft.com/office/drawing/2014/main" val="3210498263"/>
                    </a:ext>
                  </a:extLst>
                </a:gridCol>
                <a:gridCol w="709179">
                  <a:extLst>
                    <a:ext uri="{9D8B030D-6E8A-4147-A177-3AD203B41FA5}">
                      <a16:colId xmlns:a16="http://schemas.microsoft.com/office/drawing/2014/main" val="403994841"/>
                    </a:ext>
                  </a:extLst>
                </a:gridCol>
                <a:gridCol w="709179">
                  <a:extLst>
                    <a:ext uri="{9D8B030D-6E8A-4147-A177-3AD203B41FA5}">
                      <a16:colId xmlns:a16="http://schemas.microsoft.com/office/drawing/2014/main" val="3730530381"/>
                    </a:ext>
                  </a:extLst>
                </a:gridCol>
                <a:gridCol w="709179">
                  <a:extLst>
                    <a:ext uri="{9D8B030D-6E8A-4147-A177-3AD203B41FA5}">
                      <a16:colId xmlns:a16="http://schemas.microsoft.com/office/drawing/2014/main" val="865941096"/>
                    </a:ext>
                  </a:extLst>
                </a:gridCol>
              </a:tblGrid>
              <a:tr h="640080">
                <a:tc>
                  <a:txBody>
                    <a:bodyPr/>
                    <a:lstStyle/>
                    <a:p>
                      <a:pPr algn="l"/>
                      <a:r>
                        <a:rPr lang="en-US" sz="2400">
                          <a:solidFill>
                            <a:schemeClr val="tx1"/>
                          </a:solidFill>
                        </a:rPr>
                        <a:t>Logic</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430239187"/>
                  </a:ext>
                </a:extLst>
              </a:tr>
              <a:tr h="640080">
                <a:tc>
                  <a:txBody>
                    <a:bodyPr/>
                    <a:lstStyle/>
                    <a:p>
                      <a:pPr algn="l"/>
                      <a:r>
                        <a:rPr lang="en-US" sz="2400"/>
                        <a:t>Weight</a:t>
                      </a:r>
                    </a:p>
                  </a:txBody>
                  <a:tcPr anchor="ctr">
                    <a:solidFill>
                      <a:schemeClr val="tx1">
                        <a:lumMod val="10000"/>
                        <a:lumOff val="90000"/>
                      </a:schemeClr>
                    </a:solidFill>
                  </a:tcPr>
                </a:tc>
                <a:tc>
                  <a:txBody>
                    <a:bodyPr/>
                    <a:lstStyle/>
                    <a:p>
                      <a:pPr algn="ctr"/>
                      <a:r>
                        <a:rPr lang="en-US" sz="2400"/>
                        <a:t>10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10</a:t>
                      </a:r>
                    </a:p>
                  </a:txBody>
                  <a:tcPr anchor="ctr">
                    <a:solidFill>
                      <a:srgbClr val="CA0020"/>
                    </a:solidFill>
                  </a:tcPr>
                </a:tc>
                <a:tc>
                  <a:txBody>
                    <a:bodyPr/>
                    <a:lstStyle/>
                    <a:p>
                      <a:pPr algn="ctr"/>
                      <a:r>
                        <a:rPr lang="en-US" sz="2400"/>
                        <a:t>30</a:t>
                      </a:r>
                    </a:p>
                  </a:txBody>
                  <a:tcPr anchor="ctr">
                    <a:solidFill>
                      <a:srgbClr val="F4A582"/>
                    </a:solidFill>
                  </a:tcPr>
                </a:tc>
                <a:tc>
                  <a:txBody>
                    <a:bodyPr/>
                    <a:lstStyle/>
                    <a:p>
                      <a:pPr algn="ctr"/>
                      <a:r>
                        <a:rPr lang="en-US" sz="2400"/>
                        <a:t>50</a:t>
                      </a:r>
                    </a:p>
                  </a:txBody>
                  <a:tcPr anchor="ctr">
                    <a:solidFill>
                      <a:srgbClr val="92C5DE"/>
                    </a:solidFill>
                  </a:tcPr>
                </a:tc>
                <a:extLst>
                  <a:ext uri="{0D108BD9-81ED-4DB2-BD59-A6C34878D82A}">
                    <a16:rowId xmlns:a16="http://schemas.microsoft.com/office/drawing/2014/main" val="1007952667"/>
                  </a:ext>
                </a:extLst>
              </a:tr>
            </a:tbl>
          </a:graphicData>
        </a:graphic>
      </p:graphicFrame>
    </p:spTree>
    <p:extLst>
      <p:ext uri="{BB962C8B-B14F-4D97-AF65-F5344CB8AC3E}">
        <p14:creationId xmlns:p14="http://schemas.microsoft.com/office/powerpoint/2010/main" val="23086182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FE6F1-7F70-5337-E639-779805A886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18610F-B293-039D-7AD8-D02FAF1EECCE}"/>
              </a:ext>
            </a:extLst>
          </p:cNvPr>
          <p:cNvSpPr>
            <a:spLocks noGrp="1"/>
          </p:cNvSpPr>
          <p:nvPr>
            <p:ph type="sldNum" sz="quarter" idx="12"/>
          </p:nvPr>
        </p:nvSpPr>
        <p:spPr/>
        <p:txBody>
          <a:bodyPr/>
          <a:lstStyle/>
          <a:p>
            <a:fld id="{DFA4CD3D-26C8-47FF-8D13-9B32BAAB4735}" type="slidenum">
              <a:rPr lang="en-US" smtClean="0"/>
              <a:t>69</a:t>
            </a:fld>
            <a:endParaRPr lang="en-US"/>
          </a:p>
        </p:txBody>
      </p:sp>
      <p:sp>
        <p:nvSpPr>
          <p:cNvPr id="3" name="Title 2">
            <a:extLst>
              <a:ext uri="{FF2B5EF4-FFF2-40B4-BE49-F238E27FC236}">
                <a16:creationId xmlns:a16="http://schemas.microsoft.com/office/drawing/2014/main" id="{389D4338-04A8-0C7F-1158-5C6D2A43C67D}"/>
              </a:ext>
            </a:extLst>
          </p:cNvPr>
          <p:cNvSpPr>
            <a:spLocks noGrp="1"/>
          </p:cNvSpPr>
          <p:nvPr>
            <p:ph type="title"/>
          </p:nvPr>
        </p:nvSpPr>
        <p:spPr>
          <a:xfrm>
            <a:off x="396429" y="466335"/>
            <a:ext cx="11398253" cy="838854"/>
          </a:xfrm>
        </p:spPr>
        <p:txBody>
          <a:bodyPr>
            <a:normAutofit/>
          </a:bodyPr>
          <a:lstStyle/>
          <a:p>
            <a:r>
              <a:rPr lang="en-US" sz="3600"/>
              <a:t>Additional Classification Examples Cont.</a:t>
            </a:r>
          </a:p>
        </p:txBody>
      </p:sp>
      <p:sp>
        <p:nvSpPr>
          <p:cNvPr id="11" name="Rectangle: Rounded Corners 10">
            <a:extLst>
              <a:ext uri="{FF2B5EF4-FFF2-40B4-BE49-F238E27FC236}">
                <a16:creationId xmlns:a16="http://schemas.microsoft.com/office/drawing/2014/main" id="{E8BB8D5C-6AB8-2D41-47A5-C95C48B921C2}"/>
              </a:ext>
            </a:extLst>
          </p:cNvPr>
          <p:cNvSpPr/>
          <p:nvPr/>
        </p:nvSpPr>
        <p:spPr>
          <a:xfrm>
            <a:off x="396429" y="1206230"/>
            <a:ext cx="6399226" cy="1786352"/>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02324"/>
                </a:solidFill>
                <a:effectLst/>
                <a:uLnTx/>
                <a:uFillTx/>
                <a:latin typeface="Buckeye Sans"/>
                <a:ea typeface="+mn-ea"/>
                <a:cs typeface="+mn-cs"/>
              </a:rPr>
              <a:t>“The types of funds can be set up in a way to memorialize a loved one or honor a family/individual.”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02324"/>
                </a:solidFill>
                <a:effectLst/>
                <a:uLnTx/>
                <a:uFillTx/>
                <a:latin typeface="Buckeye Sans"/>
                <a:ea typeface="+mn-ea"/>
                <a:cs typeface="+mn-cs"/>
              </a:rPr>
              <a:t>(excerpt 77)</a:t>
            </a:r>
          </a:p>
        </p:txBody>
      </p:sp>
      <p:sp>
        <p:nvSpPr>
          <p:cNvPr id="14" name="Rectangle: Rounded Corners 13">
            <a:extLst>
              <a:ext uri="{FF2B5EF4-FFF2-40B4-BE49-F238E27FC236}">
                <a16:creationId xmlns:a16="http://schemas.microsoft.com/office/drawing/2014/main" id="{092A5C89-8925-CE3D-CF6D-E69D85BC732D}"/>
              </a:ext>
            </a:extLst>
          </p:cNvPr>
          <p:cNvSpPr/>
          <p:nvPr/>
        </p:nvSpPr>
        <p:spPr>
          <a:xfrm>
            <a:off x="396428" y="3572744"/>
            <a:ext cx="6399226" cy="1155117"/>
          </a:xfrm>
          <a:prstGeom prst="roundRect">
            <a:avLst/>
          </a:prstGeom>
          <a:solidFill>
            <a:schemeClr val="bg2">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a:solidFill>
                  <a:schemeClr val="tx1"/>
                </a:solidFill>
              </a:rPr>
              <a:t>“Serving as a resource, catalyst and coordinator for charitable activities”</a:t>
            </a:r>
          </a:p>
          <a:p>
            <a:r>
              <a:rPr kumimoji="0" lang="en-US" sz="1050" b="0" i="0" u="none" strike="noStrike" kern="1200" cap="none" spc="0" normalizeH="0" baseline="0" noProof="0">
                <a:ln>
                  <a:noFill/>
                </a:ln>
                <a:solidFill>
                  <a:srgbClr val="202324"/>
                </a:solidFill>
                <a:effectLst/>
                <a:uLnTx/>
                <a:uFillTx/>
                <a:latin typeface="Buckeye Sans"/>
                <a:ea typeface="+mn-ea"/>
                <a:cs typeface="+mn-cs"/>
              </a:rPr>
              <a:t>(excerpt </a:t>
            </a:r>
            <a:r>
              <a:rPr lang="en-US" sz="1050">
                <a:solidFill>
                  <a:srgbClr val="202324"/>
                </a:solidFill>
                <a:latin typeface="Buckeye Sans"/>
              </a:rPr>
              <a:t>103</a:t>
            </a:r>
            <a:r>
              <a:rPr kumimoji="0" lang="en-US" sz="1050" b="0" i="0" u="none" strike="noStrike" kern="1200" cap="none" spc="0" normalizeH="0" baseline="0" noProof="0">
                <a:ln>
                  <a:noFill/>
                </a:ln>
                <a:solidFill>
                  <a:srgbClr val="202324"/>
                </a:solidFill>
                <a:effectLst/>
                <a:uLnTx/>
                <a:uFillTx/>
                <a:latin typeface="Buckeye Sans"/>
                <a:ea typeface="+mn-ea"/>
                <a:cs typeface="+mn-cs"/>
              </a:rPr>
              <a:t>)</a:t>
            </a:r>
          </a:p>
        </p:txBody>
      </p:sp>
      <p:graphicFrame>
        <p:nvGraphicFramePr>
          <p:cNvPr id="4" name="Table 3">
            <a:extLst>
              <a:ext uri="{FF2B5EF4-FFF2-40B4-BE49-F238E27FC236}">
                <a16:creationId xmlns:a16="http://schemas.microsoft.com/office/drawing/2014/main" id="{8B37FB79-81E1-ABE6-15C4-57B9A7CDF4A9}"/>
              </a:ext>
            </a:extLst>
          </p:cNvPr>
          <p:cNvGraphicFramePr>
            <a:graphicFrameLocks noGrp="1"/>
          </p:cNvGraphicFramePr>
          <p:nvPr>
            <p:extLst>
              <p:ext uri="{D42A27DB-BD31-4B8C-83A1-F6EECF244321}">
                <p14:modId xmlns:p14="http://schemas.microsoft.com/office/powerpoint/2010/main" val="2247873807"/>
              </p:ext>
            </p:extLst>
          </p:nvPr>
        </p:nvGraphicFramePr>
        <p:xfrm>
          <a:off x="7001410" y="1459326"/>
          <a:ext cx="4793272" cy="1280160"/>
        </p:xfrm>
        <a:graphic>
          <a:graphicData uri="http://schemas.openxmlformats.org/drawingml/2006/table">
            <a:tbl>
              <a:tblPr firstRow="1" bandRow="1">
                <a:tableStyleId>{5C22544A-7EE6-4342-B048-85BDC9FD1C3A}</a:tableStyleId>
              </a:tblPr>
              <a:tblGrid>
                <a:gridCol w="1585204">
                  <a:extLst>
                    <a:ext uri="{9D8B030D-6E8A-4147-A177-3AD203B41FA5}">
                      <a16:colId xmlns:a16="http://schemas.microsoft.com/office/drawing/2014/main" val="347811408"/>
                    </a:ext>
                  </a:extLst>
                </a:gridCol>
                <a:gridCol w="802017">
                  <a:extLst>
                    <a:ext uri="{9D8B030D-6E8A-4147-A177-3AD203B41FA5}">
                      <a16:colId xmlns:a16="http://schemas.microsoft.com/office/drawing/2014/main" val="3210498263"/>
                    </a:ext>
                  </a:extLst>
                </a:gridCol>
                <a:gridCol w="802017">
                  <a:extLst>
                    <a:ext uri="{9D8B030D-6E8A-4147-A177-3AD203B41FA5}">
                      <a16:colId xmlns:a16="http://schemas.microsoft.com/office/drawing/2014/main" val="403994841"/>
                    </a:ext>
                  </a:extLst>
                </a:gridCol>
                <a:gridCol w="802017">
                  <a:extLst>
                    <a:ext uri="{9D8B030D-6E8A-4147-A177-3AD203B41FA5}">
                      <a16:colId xmlns:a16="http://schemas.microsoft.com/office/drawing/2014/main" val="3730530381"/>
                    </a:ext>
                  </a:extLst>
                </a:gridCol>
                <a:gridCol w="802017">
                  <a:extLst>
                    <a:ext uri="{9D8B030D-6E8A-4147-A177-3AD203B41FA5}">
                      <a16:colId xmlns:a16="http://schemas.microsoft.com/office/drawing/2014/main" val="865941096"/>
                    </a:ext>
                  </a:extLst>
                </a:gridCol>
              </a:tblGrid>
              <a:tr h="640080">
                <a:tc>
                  <a:txBody>
                    <a:bodyPr/>
                    <a:lstStyle/>
                    <a:p>
                      <a:pPr algn="l"/>
                      <a:r>
                        <a:rPr lang="en-US" sz="2400">
                          <a:solidFill>
                            <a:schemeClr val="tx1"/>
                          </a:solidFill>
                        </a:rPr>
                        <a:t>Logic</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430239187"/>
                  </a:ext>
                </a:extLst>
              </a:tr>
              <a:tr h="640080">
                <a:tc>
                  <a:txBody>
                    <a:bodyPr/>
                    <a:lstStyle/>
                    <a:p>
                      <a:pPr algn="l"/>
                      <a:r>
                        <a:rPr lang="en-US" sz="2400"/>
                        <a:t>Weight</a:t>
                      </a:r>
                    </a:p>
                  </a:txBody>
                  <a:tcPr anchor="ctr">
                    <a:solidFill>
                      <a:schemeClr val="tx1">
                        <a:lumMod val="10000"/>
                        <a:lumOff val="90000"/>
                      </a:schemeClr>
                    </a:solidFill>
                  </a:tcPr>
                </a:tc>
                <a:tc>
                  <a:txBody>
                    <a:bodyPr/>
                    <a:lstStyle/>
                    <a:p>
                      <a:pPr algn="ctr"/>
                      <a:r>
                        <a:rPr lang="en-US" sz="2400"/>
                        <a:t>0</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90</a:t>
                      </a:r>
                    </a:p>
                  </a:txBody>
                  <a:tcPr anchor="ctr">
                    <a:solidFill>
                      <a:srgbClr val="CA0020"/>
                    </a:solidFill>
                  </a:tcPr>
                </a:tc>
                <a:tc>
                  <a:txBody>
                    <a:bodyPr/>
                    <a:lstStyle/>
                    <a:p>
                      <a:pPr algn="ctr"/>
                      <a:r>
                        <a:rPr lang="en-US" sz="2400"/>
                        <a:t>0</a:t>
                      </a:r>
                    </a:p>
                  </a:txBody>
                  <a:tcPr anchor="ctr">
                    <a:solidFill>
                      <a:srgbClr val="F4A582"/>
                    </a:solidFill>
                  </a:tcPr>
                </a:tc>
                <a:tc>
                  <a:txBody>
                    <a:bodyPr/>
                    <a:lstStyle/>
                    <a:p>
                      <a:pPr algn="ctr"/>
                      <a:r>
                        <a:rPr lang="en-US" sz="2400"/>
                        <a:t>10</a:t>
                      </a:r>
                    </a:p>
                  </a:txBody>
                  <a:tcPr anchor="ctr">
                    <a:solidFill>
                      <a:srgbClr val="92C5DE"/>
                    </a:solidFill>
                  </a:tcPr>
                </a:tc>
                <a:extLst>
                  <a:ext uri="{0D108BD9-81ED-4DB2-BD59-A6C34878D82A}">
                    <a16:rowId xmlns:a16="http://schemas.microsoft.com/office/drawing/2014/main" val="1007952667"/>
                  </a:ext>
                </a:extLst>
              </a:tr>
            </a:tbl>
          </a:graphicData>
        </a:graphic>
      </p:graphicFrame>
      <p:graphicFrame>
        <p:nvGraphicFramePr>
          <p:cNvPr id="6" name="Table 5">
            <a:extLst>
              <a:ext uri="{FF2B5EF4-FFF2-40B4-BE49-F238E27FC236}">
                <a16:creationId xmlns:a16="http://schemas.microsoft.com/office/drawing/2014/main" id="{7DB7320D-B485-4DB8-8F60-4527F8147656}"/>
              </a:ext>
            </a:extLst>
          </p:cNvPr>
          <p:cNvGraphicFramePr>
            <a:graphicFrameLocks noGrp="1"/>
          </p:cNvGraphicFramePr>
          <p:nvPr>
            <p:extLst>
              <p:ext uri="{D42A27DB-BD31-4B8C-83A1-F6EECF244321}">
                <p14:modId xmlns:p14="http://schemas.microsoft.com/office/powerpoint/2010/main" val="2010167242"/>
              </p:ext>
            </p:extLst>
          </p:nvPr>
        </p:nvGraphicFramePr>
        <p:xfrm>
          <a:off x="7001410" y="3510222"/>
          <a:ext cx="4793272" cy="1280160"/>
        </p:xfrm>
        <a:graphic>
          <a:graphicData uri="http://schemas.openxmlformats.org/drawingml/2006/table">
            <a:tbl>
              <a:tblPr firstRow="1" bandRow="1">
                <a:tableStyleId>{5C22544A-7EE6-4342-B048-85BDC9FD1C3A}</a:tableStyleId>
              </a:tblPr>
              <a:tblGrid>
                <a:gridCol w="1585204">
                  <a:extLst>
                    <a:ext uri="{9D8B030D-6E8A-4147-A177-3AD203B41FA5}">
                      <a16:colId xmlns:a16="http://schemas.microsoft.com/office/drawing/2014/main" val="347811408"/>
                    </a:ext>
                  </a:extLst>
                </a:gridCol>
                <a:gridCol w="802017">
                  <a:extLst>
                    <a:ext uri="{9D8B030D-6E8A-4147-A177-3AD203B41FA5}">
                      <a16:colId xmlns:a16="http://schemas.microsoft.com/office/drawing/2014/main" val="3210498263"/>
                    </a:ext>
                  </a:extLst>
                </a:gridCol>
                <a:gridCol w="802017">
                  <a:extLst>
                    <a:ext uri="{9D8B030D-6E8A-4147-A177-3AD203B41FA5}">
                      <a16:colId xmlns:a16="http://schemas.microsoft.com/office/drawing/2014/main" val="403994841"/>
                    </a:ext>
                  </a:extLst>
                </a:gridCol>
                <a:gridCol w="802017">
                  <a:extLst>
                    <a:ext uri="{9D8B030D-6E8A-4147-A177-3AD203B41FA5}">
                      <a16:colId xmlns:a16="http://schemas.microsoft.com/office/drawing/2014/main" val="3730530381"/>
                    </a:ext>
                  </a:extLst>
                </a:gridCol>
                <a:gridCol w="802017">
                  <a:extLst>
                    <a:ext uri="{9D8B030D-6E8A-4147-A177-3AD203B41FA5}">
                      <a16:colId xmlns:a16="http://schemas.microsoft.com/office/drawing/2014/main" val="865941096"/>
                    </a:ext>
                  </a:extLst>
                </a:gridCol>
              </a:tblGrid>
              <a:tr h="640080">
                <a:tc>
                  <a:txBody>
                    <a:bodyPr/>
                    <a:lstStyle/>
                    <a:p>
                      <a:pPr algn="l"/>
                      <a:r>
                        <a:rPr lang="en-US" sz="2400">
                          <a:solidFill>
                            <a:schemeClr val="tx1"/>
                          </a:solidFill>
                        </a:rPr>
                        <a:t>Logic</a:t>
                      </a:r>
                    </a:p>
                  </a:txBody>
                  <a:tcPr anchor="ctr">
                    <a:solidFill>
                      <a:schemeClr val="tx1">
                        <a:lumMod val="25000"/>
                        <a:lumOff val="75000"/>
                      </a:schemeClr>
                    </a:solidFill>
                  </a:tcPr>
                </a:tc>
                <a:tc>
                  <a:txBody>
                    <a:bodyPr/>
                    <a:lstStyle/>
                    <a:p>
                      <a:pPr algn="ctr"/>
                      <a:r>
                        <a:rPr lang="en-US" sz="2400">
                          <a:solidFill>
                            <a:schemeClr val="tx1"/>
                          </a:solidFill>
                        </a:rPr>
                        <a:t>PCT</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rPr>
                        <a:t>DS</a:t>
                      </a:r>
                    </a:p>
                  </a:txBody>
                  <a:tcPr anchor="ctr">
                    <a:solidFill>
                      <a:srgbClr val="CA0020"/>
                    </a:solidFill>
                  </a:tcPr>
                </a:tc>
                <a:tc>
                  <a:txBody>
                    <a:bodyPr/>
                    <a:lstStyle/>
                    <a:p>
                      <a:pPr algn="ctr"/>
                      <a:r>
                        <a:rPr lang="en-US" sz="2400">
                          <a:solidFill>
                            <a:schemeClr val="tx1"/>
                          </a:solidFill>
                        </a:rPr>
                        <a:t>PPG</a:t>
                      </a:r>
                    </a:p>
                  </a:txBody>
                  <a:tcPr anchor="ctr">
                    <a:solidFill>
                      <a:srgbClr val="F4A582"/>
                    </a:solidFill>
                  </a:tcPr>
                </a:tc>
                <a:tc>
                  <a:txBody>
                    <a:bodyPr/>
                    <a:lstStyle/>
                    <a:p>
                      <a:pPr algn="ctr"/>
                      <a:r>
                        <a:rPr lang="en-US" sz="2400">
                          <a:solidFill>
                            <a:schemeClr val="tx1"/>
                          </a:solidFill>
                        </a:rPr>
                        <a:t>SC</a:t>
                      </a:r>
                    </a:p>
                  </a:txBody>
                  <a:tcPr anchor="ctr">
                    <a:solidFill>
                      <a:srgbClr val="92C5DE"/>
                    </a:solidFill>
                  </a:tcPr>
                </a:tc>
                <a:extLst>
                  <a:ext uri="{0D108BD9-81ED-4DB2-BD59-A6C34878D82A}">
                    <a16:rowId xmlns:a16="http://schemas.microsoft.com/office/drawing/2014/main" val="430239187"/>
                  </a:ext>
                </a:extLst>
              </a:tr>
              <a:tr h="640080">
                <a:tc>
                  <a:txBody>
                    <a:bodyPr/>
                    <a:lstStyle/>
                    <a:p>
                      <a:pPr algn="l"/>
                      <a:r>
                        <a:rPr lang="en-US" sz="2400"/>
                        <a:t>Weight</a:t>
                      </a:r>
                    </a:p>
                  </a:txBody>
                  <a:tcPr anchor="ctr">
                    <a:solidFill>
                      <a:schemeClr val="tx1">
                        <a:lumMod val="10000"/>
                        <a:lumOff val="90000"/>
                      </a:schemeClr>
                    </a:solidFill>
                  </a:tcPr>
                </a:tc>
                <a:tc>
                  <a:txBody>
                    <a:bodyPr/>
                    <a:lstStyle/>
                    <a:p>
                      <a:pPr algn="ctr"/>
                      <a:r>
                        <a:rPr lang="en-US" sz="2400"/>
                        <a:t>25</a:t>
                      </a:r>
                    </a:p>
                  </a:txBody>
                  <a:tcPr anchor="ctr">
                    <a:solidFill>
                      <a:srgbClr val="0571B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25</a:t>
                      </a:r>
                    </a:p>
                  </a:txBody>
                  <a:tcPr anchor="ctr">
                    <a:solidFill>
                      <a:srgbClr val="CA0020"/>
                    </a:solidFill>
                  </a:tcPr>
                </a:tc>
                <a:tc>
                  <a:txBody>
                    <a:bodyPr/>
                    <a:lstStyle/>
                    <a:p>
                      <a:pPr algn="ctr"/>
                      <a:r>
                        <a:rPr lang="en-US" sz="2400"/>
                        <a:t>25</a:t>
                      </a:r>
                    </a:p>
                  </a:txBody>
                  <a:tcPr anchor="ctr">
                    <a:solidFill>
                      <a:srgbClr val="F4A582"/>
                    </a:solidFill>
                  </a:tcPr>
                </a:tc>
                <a:tc>
                  <a:txBody>
                    <a:bodyPr/>
                    <a:lstStyle/>
                    <a:p>
                      <a:pPr algn="ctr"/>
                      <a:r>
                        <a:rPr lang="en-US" sz="2400"/>
                        <a:t>25</a:t>
                      </a:r>
                    </a:p>
                  </a:txBody>
                  <a:tcPr anchor="ctr">
                    <a:solidFill>
                      <a:srgbClr val="92C5DE"/>
                    </a:solidFill>
                  </a:tcPr>
                </a:tc>
                <a:extLst>
                  <a:ext uri="{0D108BD9-81ED-4DB2-BD59-A6C34878D82A}">
                    <a16:rowId xmlns:a16="http://schemas.microsoft.com/office/drawing/2014/main" val="1007952667"/>
                  </a:ext>
                </a:extLst>
              </a:tr>
            </a:tbl>
          </a:graphicData>
        </a:graphic>
      </p:graphicFrame>
    </p:spTree>
    <p:extLst>
      <p:ext uri="{BB962C8B-B14F-4D97-AF65-F5344CB8AC3E}">
        <p14:creationId xmlns:p14="http://schemas.microsoft.com/office/powerpoint/2010/main" val="2265515662"/>
      </p:ext>
    </p:extLst>
  </p:cSld>
  <p:clrMapOvr>
    <a:masterClrMapping/>
  </p:clrMapOvr>
</p:sld>
</file>

<file path=ppt/theme/theme1.xml><?xml version="1.0" encoding="utf-8"?>
<a:theme xmlns:a="http://schemas.openxmlformats.org/drawingml/2006/main" name="Office Theme">
  <a:themeElements>
    <a:clrScheme name="OSU Branded">
      <a:dk1>
        <a:srgbClr val="202324"/>
      </a:dk1>
      <a:lt1>
        <a:srgbClr val="FFFFFF"/>
      </a:lt1>
      <a:dk2>
        <a:srgbClr val="202324"/>
      </a:dk2>
      <a:lt2>
        <a:srgbClr val="FFFFFF"/>
      </a:lt2>
      <a:accent1>
        <a:srgbClr val="BA0C2F"/>
      </a:accent1>
      <a:accent2>
        <a:srgbClr val="737B7E"/>
      </a:accent2>
      <a:accent3>
        <a:srgbClr val="830065"/>
      </a:accent3>
      <a:accent4>
        <a:srgbClr val="6EBBAB"/>
      </a:accent4>
      <a:accent5>
        <a:srgbClr val="E65F33"/>
      </a:accent5>
      <a:accent6>
        <a:srgbClr val="80C75B"/>
      </a:accent6>
      <a:hlink>
        <a:srgbClr val="BA0C2F"/>
      </a:hlink>
      <a:folHlink>
        <a:srgbClr val="BA0C2F"/>
      </a:folHlink>
    </a:clrScheme>
    <a:fontScheme name="Ohio State - Buckeye Fonts">
      <a:majorFont>
        <a:latin typeface="Buckeye Serif Black"/>
        <a:ea typeface=""/>
        <a:cs typeface=""/>
      </a:majorFont>
      <a:minorFont>
        <a:latin typeface="Buckey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DE8FF7B1B1D3747A56B7EC5FBA5B9DF" ma:contentTypeVersion="19" ma:contentTypeDescription="Create a new document." ma:contentTypeScope="" ma:versionID="edb163e7a93b8a69703ec0e1da8fae15">
  <xsd:schema xmlns:xsd="http://www.w3.org/2001/XMLSchema" xmlns:xs="http://www.w3.org/2001/XMLSchema" xmlns:p="http://schemas.microsoft.com/office/2006/metadata/properties" xmlns:ns2="8b1e7f3e-bb12-474b-b482-4fa739e63894" xmlns:ns3="3ce6d955-4258-458b-ac6b-518e3d6206e9" targetNamespace="http://schemas.microsoft.com/office/2006/metadata/properties" ma:root="true" ma:fieldsID="b346819a607a7900e34d8320c2b15188" ns2:_="" ns3:_="">
    <xsd:import namespace="8b1e7f3e-bb12-474b-b482-4fa739e63894"/>
    <xsd:import namespace="3ce6d955-4258-458b-ac6b-518e3d6206e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3:TaxCatchAll" minOccurs="0"/>
                <xsd:element ref="ns2:lcf76f155ced4ddcb4097134ff3c332f"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1e7f3e-bb12-474b-b482-4fa739e638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7b434354-605c-4a24-9fd5-b21458dd13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e6d955-4258-458b-ac6b-518e3d6206e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64ea684d-1910-4ad9-a292-ff73b776d231}" ma:internalName="TaxCatchAll" ma:showField="CatchAllData" ma:web="3ce6d955-4258-458b-ac6b-518e3d6206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b1e7f3e-bb12-474b-b482-4fa739e63894">
      <Terms xmlns="http://schemas.microsoft.com/office/infopath/2007/PartnerControls"/>
    </lcf76f155ced4ddcb4097134ff3c332f>
    <TaxCatchAll xmlns="3ce6d955-4258-458b-ac6b-518e3d6206e9" xsi:nil="true"/>
  </documentManagement>
</p:properties>
</file>

<file path=customXml/itemProps1.xml><?xml version="1.0" encoding="utf-8"?>
<ds:datastoreItem xmlns:ds="http://schemas.openxmlformats.org/officeDocument/2006/customXml" ds:itemID="{610A50B5-7B62-4872-873C-21BCDE7817DE}">
  <ds:schemaRefs>
    <ds:schemaRef ds:uri="3ce6d955-4258-458b-ac6b-518e3d6206e9"/>
    <ds:schemaRef ds:uri="8b1e7f3e-bb12-474b-b482-4fa739e638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8BEB66-0C0B-4B90-9CB4-1562F81D5409}">
  <ds:schemaRefs>
    <ds:schemaRef ds:uri="http://schemas.microsoft.com/sharepoint/v3/contenttype/forms"/>
  </ds:schemaRefs>
</ds:datastoreItem>
</file>

<file path=customXml/itemProps3.xml><?xml version="1.0" encoding="utf-8"?>
<ds:datastoreItem xmlns:ds="http://schemas.openxmlformats.org/officeDocument/2006/customXml" ds:itemID="{11A5B590-EC41-47D6-9826-DB3928C76193}">
  <ds:schemaRefs>
    <ds:schemaRef ds:uri="3ce6d955-4258-458b-ac6b-518e3d6206e9"/>
    <ds:schemaRef ds:uri="8b1e7f3e-bb12-474b-b482-4fa739e6389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69</Slides>
  <Notes>59</Notes>
  <HiddenSlides>1</HiddenSlide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Office Theme</vt:lpstr>
      <vt:lpstr>Qualitative Coding with Hybrid AI  and Human-in-the-Loop </vt:lpstr>
      <vt:lpstr>What animal does this eye belong to?</vt:lpstr>
      <vt:lpstr>What animal does this eye belong to?</vt:lpstr>
      <vt:lpstr>Focus &amp; Contributions</vt:lpstr>
      <vt:lpstr>Focus &amp; Contributions</vt:lpstr>
      <vt:lpstr>Focus &amp; Contributions</vt:lpstr>
      <vt:lpstr>Focus &amp; Contributions</vt:lpstr>
      <vt:lpstr>Focus &amp; Contributions</vt:lpstr>
      <vt:lpstr>Focus &amp; Contributions</vt:lpstr>
      <vt:lpstr>Focus &amp; Contributions</vt:lpstr>
      <vt:lpstr>Focus &amp; Contributions</vt:lpstr>
      <vt:lpstr>Case: ILs of Community Foundations (CFs)</vt:lpstr>
      <vt:lpstr>PowerPoint Presentation</vt:lpstr>
      <vt:lpstr>Community Foundation Logics</vt:lpstr>
      <vt:lpstr>What do you find most interesting our helpful about our process?</vt:lpstr>
      <vt:lpstr>AI Approaches</vt:lpstr>
      <vt:lpstr>AI Approaches</vt:lpstr>
      <vt:lpstr>AI Approaches</vt:lpstr>
      <vt:lpstr>AI Approaches</vt:lpstr>
      <vt:lpstr>AI Approaches</vt:lpstr>
      <vt:lpstr>AI Approaches</vt:lpstr>
      <vt:lpstr>AI Approaches</vt:lpstr>
      <vt:lpstr>AI Approaches</vt:lpstr>
      <vt:lpstr>Text Embeddings</vt:lpstr>
      <vt:lpstr>Text Embeddings</vt:lpstr>
      <vt:lpstr>Text Embeddings</vt:lpstr>
      <vt:lpstr>TF-IDF Narratives</vt:lpstr>
      <vt:lpstr>TF-IDF Narratives cont.</vt:lpstr>
      <vt:lpstr>“Misclassified” Points from UMAP</vt:lpstr>
      <vt:lpstr>“Misclassified” Points from PCA/UMAP</vt:lpstr>
      <vt:lpstr>Prompt Schema</vt:lpstr>
      <vt:lpstr>Prompt Accuracy Stats</vt:lpstr>
      <vt:lpstr>Prompt Accuracy Stats</vt:lpstr>
      <vt:lpstr>Prompt Accuracy Stats</vt:lpstr>
      <vt:lpstr>Public-Private Governance Failed Match Examples</vt:lpstr>
      <vt:lpstr>Contributions &amp; Takeaways</vt:lpstr>
      <vt:lpstr>Contributions &amp; Takeaways</vt:lpstr>
      <vt:lpstr>Contributions &amp; Takeaways</vt:lpstr>
      <vt:lpstr>Contributions &amp; Takeaways</vt:lpstr>
      <vt:lpstr>Contributions &amp; Takeaways</vt:lpstr>
      <vt:lpstr>Contributions &amp; Takeaways</vt:lpstr>
      <vt:lpstr>Next Steps…</vt:lpstr>
      <vt:lpstr>Thank you — I welcome your questions and feedback.</vt:lpstr>
      <vt:lpstr>References</vt:lpstr>
      <vt:lpstr>Defining Institutional Logics (ILs)</vt:lpstr>
      <vt:lpstr>PowerPoint Presentation</vt:lpstr>
      <vt:lpstr>PowerPoint Presentation</vt:lpstr>
      <vt:lpstr>PowerPoint Presentation</vt:lpstr>
      <vt:lpstr>What Can ILs Help Us Learn?</vt:lpstr>
      <vt:lpstr>Evidence of Institutional Bricolage</vt:lpstr>
      <vt:lpstr>Data</vt:lpstr>
      <vt:lpstr>Tools</vt:lpstr>
      <vt:lpstr>Computational Approaches</vt:lpstr>
      <vt:lpstr>Phase 1: Qualitative Approach</vt:lpstr>
      <vt:lpstr>Case: ILs of Community Foundations (CFs)</vt:lpstr>
      <vt:lpstr>Qualitative Approach</vt:lpstr>
      <vt:lpstr>Qualitative Findings</vt:lpstr>
      <vt:lpstr>An Overview: AI &amp; Human-in-the-loop</vt:lpstr>
      <vt:lpstr>PowerPoint Presentation</vt:lpstr>
      <vt:lpstr>PowerPoint Presentation</vt:lpstr>
      <vt:lpstr>PowerPoint Presentation</vt:lpstr>
      <vt:lpstr>Public-Private Governance Failed Match Examples</vt:lpstr>
      <vt:lpstr>GenAI Challenges for Qualitative Coding</vt:lpstr>
      <vt:lpstr>Prompt</vt:lpstr>
      <vt:lpstr>Prompt cont.</vt:lpstr>
      <vt:lpstr>Prompt cont.</vt:lpstr>
      <vt:lpstr>Prompt cont.</vt:lpstr>
      <vt:lpstr>Additional Classification Examples</vt:lpstr>
      <vt:lpstr>Additional Classification Examples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Hoy, Mary</dc:creator>
  <cp:revision>2</cp:revision>
  <dcterms:created xsi:type="dcterms:W3CDTF">2021-09-24T16:29:17Z</dcterms:created>
  <dcterms:modified xsi:type="dcterms:W3CDTF">2025-12-17T14:25:06Z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0x010100EDE8FF7B1B1D3747A56B7EC5FBA5B9DF</vt:lpwstr>
  </property>
  <property fmtid="{D5CDD505-2E9C-101B-9397-08002B2CF9AE}" pid="3" name="MediaServiceImageTags">
    <vt:lpwstr/>
  </property>
</Properties>
</file>